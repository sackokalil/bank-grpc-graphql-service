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9" r:id="rId1"/>
  </p:sldMasterIdLst>
  <p:notesMasterIdLst>
    <p:notesMasterId r:id="rId30"/>
  </p:notesMasterIdLst>
  <p:sldIdLst>
    <p:sldId id="261" r:id="rId2"/>
    <p:sldId id="274" r:id="rId3"/>
    <p:sldId id="335" r:id="rId4"/>
    <p:sldId id="325" r:id="rId5"/>
    <p:sldId id="312" r:id="rId6"/>
    <p:sldId id="330" r:id="rId7"/>
    <p:sldId id="329" r:id="rId8"/>
    <p:sldId id="331" r:id="rId9"/>
    <p:sldId id="332" r:id="rId10"/>
    <p:sldId id="336" r:id="rId11"/>
    <p:sldId id="308" r:id="rId12"/>
    <p:sldId id="333" r:id="rId13"/>
    <p:sldId id="337" r:id="rId14"/>
    <p:sldId id="326" r:id="rId15"/>
    <p:sldId id="305" r:id="rId16"/>
    <p:sldId id="327" r:id="rId17"/>
    <p:sldId id="328" r:id="rId18"/>
    <p:sldId id="334" r:id="rId19"/>
    <p:sldId id="338" r:id="rId20"/>
    <p:sldId id="339" r:id="rId21"/>
    <p:sldId id="314" r:id="rId22"/>
    <p:sldId id="340" r:id="rId23"/>
    <p:sldId id="341" r:id="rId24"/>
    <p:sldId id="342" r:id="rId25"/>
    <p:sldId id="321" r:id="rId26"/>
    <p:sldId id="322" r:id="rId27"/>
    <p:sldId id="344" r:id="rId28"/>
    <p:sldId id="324" r:id="rId29"/>
  </p:sldIdLst>
  <p:sldSz cx="9144000" cy="5143500" type="screen16x9"/>
  <p:notesSz cx="6858000" cy="9144000"/>
  <p:embeddedFontLst>
    <p:embeddedFont>
      <p:font typeface="Albert Sans" panose="020B0604020202020204" charset="0"/>
      <p:regular r:id="rId31"/>
      <p:bold r:id="rId32"/>
      <p:italic r:id="rId33"/>
      <p:boldItalic r:id="rId34"/>
    </p:embeddedFont>
    <p:embeddedFont>
      <p:font typeface="Poppins" panose="00000500000000000000" pitchFamily="2" charset="0"/>
      <p:regular r:id="rId35"/>
      <p:bold r:id="rId36"/>
      <p:italic r:id="rId37"/>
      <p:boldItalic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30000"/>
    <a:srgbClr val="F4F454"/>
    <a:srgbClr val="D7D20D"/>
    <a:srgbClr val="A369D8"/>
    <a:srgbClr val="BF7F00"/>
    <a:srgbClr val="65E3AA"/>
    <a:srgbClr val="FFE76E"/>
    <a:srgbClr val="EABA32"/>
    <a:srgbClr val="0074B2"/>
    <a:srgbClr val="5B7EE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AA2E80A-91F7-4516-9950-864799E8D45D}">
  <a:tblStyle styleId="{7AA2E80A-91F7-4516-9950-864799E8D45D}"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28" d="100"/>
          <a:sy n="128" d="100"/>
        </p:scale>
        <p:origin x="154" y="8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font" Target="fonts/font4.fntdata"/><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font" Target="fonts/font5.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openxmlformats.org/officeDocument/2006/relationships/font" Target="fonts/font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ged9256fe6f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9" name="Google Shape;319;ged9256fe6f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8"/>
        <p:cNvGrpSpPr/>
        <p:nvPr/>
      </p:nvGrpSpPr>
      <p:grpSpPr>
        <a:xfrm>
          <a:off x="0" y="0"/>
          <a:ext cx="0" cy="0"/>
          <a:chOff x="0" y="0"/>
          <a:chExt cx="0" cy="0"/>
        </a:xfrm>
      </p:grpSpPr>
      <p:sp>
        <p:nvSpPr>
          <p:cNvPr id="489" name="Google Shape;489;g54dda1946d_4_26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0" name="Google Shape;490;g54dda1946d_4_26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9">
          <a:extLst>
            <a:ext uri="{FF2B5EF4-FFF2-40B4-BE49-F238E27FC236}">
              <a16:creationId xmlns:a16="http://schemas.microsoft.com/office/drawing/2014/main" id="{8FE5974A-C17F-DDA9-2D29-23A4D2E3FA54}"/>
            </a:ext>
          </a:extLst>
        </p:cNvPr>
        <p:cNvGrpSpPr/>
        <p:nvPr/>
      </p:nvGrpSpPr>
      <p:grpSpPr>
        <a:xfrm>
          <a:off x="0" y="0"/>
          <a:ext cx="0" cy="0"/>
          <a:chOff x="0" y="0"/>
          <a:chExt cx="0" cy="0"/>
        </a:xfrm>
      </p:grpSpPr>
      <p:sp>
        <p:nvSpPr>
          <p:cNvPr id="520" name="Google Shape;520;g113dfeee943_0_23:notes">
            <a:extLst>
              <a:ext uri="{FF2B5EF4-FFF2-40B4-BE49-F238E27FC236}">
                <a16:creationId xmlns:a16="http://schemas.microsoft.com/office/drawing/2014/main" id="{869FE0F6-8177-EDEC-0A3C-4F44E2D61B4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1" name="Google Shape;521;g113dfeee943_0_23:notes">
            <a:extLst>
              <a:ext uri="{FF2B5EF4-FFF2-40B4-BE49-F238E27FC236}">
                <a16:creationId xmlns:a16="http://schemas.microsoft.com/office/drawing/2014/main" id="{9A371C14-5853-F967-67ED-D5D20A7AF3C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705299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notes 2"/>
          <p:cNvSpPr>
            <a:spLocks noGrp="1"/>
          </p:cNvSpPr>
          <p:nvPr>
            <p:ph type="body" idx="1"/>
          </p:nvPr>
        </p:nvSpPr>
        <p:spPr/>
        <p:txBody>
          <a:bodyPr/>
          <a:lstStyle/>
          <a:p>
            <a:pPr marL="158750" indent="0">
              <a:buNone/>
            </a:pPr>
            <a:endParaRPr lang="fr-FR" dirty="0"/>
          </a:p>
        </p:txBody>
      </p:sp>
    </p:spTree>
    <p:extLst>
      <p:ext uri="{BB962C8B-B14F-4D97-AF65-F5344CB8AC3E}">
        <p14:creationId xmlns:p14="http://schemas.microsoft.com/office/powerpoint/2010/main" val="8479323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9">
          <a:extLst>
            <a:ext uri="{FF2B5EF4-FFF2-40B4-BE49-F238E27FC236}">
              <a16:creationId xmlns:a16="http://schemas.microsoft.com/office/drawing/2014/main" id="{FF903DEE-C8FC-2858-2AA9-1C971461F2C8}"/>
            </a:ext>
          </a:extLst>
        </p:cNvPr>
        <p:cNvGrpSpPr/>
        <p:nvPr/>
      </p:nvGrpSpPr>
      <p:grpSpPr>
        <a:xfrm>
          <a:off x="0" y="0"/>
          <a:ext cx="0" cy="0"/>
          <a:chOff x="0" y="0"/>
          <a:chExt cx="0" cy="0"/>
        </a:xfrm>
      </p:grpSpPr>
      <p:sp>
        <p:nvSpPr>
          <p:cNvPr id="520" name="Google Shape;520;g113dfeee943_0_23:notes">
            <a:extLst>
              <a:ext uri="{FF2B5EF4-FFF2-40B4-BE49-F238E27FC236}">
                <a16:creationId xmlns:a16="http://schemas.microsoft.com/office/drawing/2014/main" id="{BD3C60D1-69BE-042A-751C-311B720BD8C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1" name="Google Shape;521;g113dfeee943_0_23:notes">
            <a:extLst>
              <a:ext uri="{FF2B5EF4-FFF2-40B4-BE49-F238E27FC236}">
                <a16:creationId xmlns:a16="http://schemas.microsoft.com/office/drawing/2014/main" id="{4D2CA16F-025D-DC57-11F2-E4F61C9FFD2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184191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notes 2"/>
          <p:cNvSpPr>
            <a:spLocks noGrp="1"/>
          </p:cNvSpPr>
          <p:nvPr>
            <p:ph type="body" idx="1"/>
          </p:nvPr>
        </p:nvSpPr>
        <p:spPr/>
        <p:txBody>
          <a:bodyPr/>
          <a:lstStyle/>
          <a:p>
            <a:endParaRPr lang="fr-FR" dirty="0"/>
          </a:p>
        </p:txBody>
      </p:sp>
    </p:spTree>
    <p:extLst>
      <p:ext uri="{BB962C8B-B14F-4D97-AF65-F5344CB8AC3E}">
        <p14:creationId xmlns:p14="http://schemas.microsoft.com/office/powerpoint/2010/main" val="42398497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9">
          <a:extLst>
            <a:ext uri="{FF2B5EF4-FFF2-40B4-BE49-F238E27FC236}">
              <a16:creationId xmlns:a16="http://schemas.microsoft.com/office/drawing/2014/main" id="{C505663E-67D0-251B-CD20-39084AD72DEC}"/>
            </a:ext>
          </a:extLst>
        </p:cNvPr>
        <p:cNvGrpSpPr/>
        <p:nvPr/>
      </p:nvGrpSpPr>
      <p:grpSpPr>
        <a:xfrm>
          <a:off x="0" y="0"/>
          <a:ext cx="0" cy="0"/>
          <a:chOff x="0" y="0"/>
          <a:chExt cx="0" cy="0"/>
        </a:xfrm>
      </p:grpSpPr>
      <p:sp>
        <p:nvSpPr>
          <p:cNvPr id="520" name="Google Shape;520;g113dfeee943_0_23:notes">
            <a:extLst>
              <a:ext uri="{FF2B5EF4-FFF2-40B4-BE49-F238E27FC236}">
                <a16:creationId xmlns:a16="http://schemas.microsoft.com/office/drawing/2014/main" id="{3FF969DE-B972-3B37-DCA1-1E40A87A34F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1" name="Google Shape;521;g113dfeee943_0_23:notes">
            <a:extLst>
              <a:ext uri="{FF2B5EF4-FFF2-40B4-BE49-F238E27FC236}">
                <a16:creationId xmlns:a16="http://schemas.microsoft.com/office/drawing/2014/main" id="{DE68BFED-78BC-214E-50DC-F6030FE4A89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950057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9">
          <a:extLst>
            <a:ext uri="{FF2B5EF4-FFF2-40B4-BE49-F238E27FC236}">
              <a16:creationId xmlns:a16="http://schemas.microsoft.com/office/drawing/2014/main" id="{A2C17B2B-A88F-F68B-D66D-935962EC931A}"/>
            </a:ext>
          </a:extLst>
        </p:cNvPr>
        <p:cNvGrpSpPr/>
        <p:nvPr/>
      </p:nvGrpSpPr>
      <p:grpSpPr>
        <a:xfrm>
          <a:off x="0" y="0"/>
          <a:ext cx="0" cy="0"/>
          <a:chOff x="0" y="0"/>
          <a:chExt cx="0" cy="0"/>
        </a:xfrm>
      </p:grpSpPr>
      <p:sp>
        <p:nvSpPr>
          <p:cNvPr id="520" name="Google Shape;520;g113dfeee943_0_23:notes">
            <a:extLst>
              <a:ext uri="{FF2B5EF4-FFF2-40B4-BE49-F238E27FC236}">
                <a16:creationId xmlns:a16="http://schemas.microsoft.com/office/drawing/2014/main" id="{A7DCFBDB-0C22-AFCA-4F71-E887A6ACFF5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1" name="Google Shape;521;g113dfeee943_0_23:notes">
            <a:extLst>
              <a:ext uri="{FF2B5EF4-FFF2-40B4-BE49-F238E27FC236}">
                <a16:creationId xmlns:a16="http://schemas.microsoft.com/office/drawing/2014/main" id="{350F25DE-8315-D6AF-F698-10132D20A0E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038140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9">
          <a:extLst>
            <a:ext uri="{FF2B5EF4-FFF2-40B4-BE49-F238E27FC236}">
              <a16:creationId xmlns:a16="http://schemas.microsoft.com/office/drawing/2014/main" id="{2A5814E3-D247-2307-8A72-FC2190330D88}"/>
            </a:ext>
          </a:extLst>
        </p:cNvPr>
        <p:cNvGrpSpPr/>
        <p:nvPr/>
      </p:nvGrpSpPr>
      <p:grpSpPr>
        <a:xfrm>
          <a:off x="0" y="0"/>
          <a:ext cx="0" cy="0"/>
          <a:chOff x="0" y="0"/>
          <a:chExt cx="0" cy="0"/>
        </a:xfrm>
      </p:grpSpPr>
      <p:sp>
        <p:nvSpPr>
          <p:cNvPr id="520" name="Google Shape;520;g113dfeee943_0_23:notes">
            <a:extLst>
              <a:ext uri="{FF2B5EF4-FFF2-40B4-BE49-F238E27FC236}">
                <a16:creationId xmlns:a16="http://schemas.microsoft.com/office/drawing/2014/main" id="{A44EBDEA-A8EC-41B6-D80C-71D98884FC4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1" name="Google Shape;521;g113dfeee943_0_23:notes">
            <a:extLst>
              <a:ext uri="{FF2B5EF4-FFF2-40B4-BE49-F238E27FC236}">
                <a16:creationId xmlns:a16="http://schemas.microsoft.com/office/drawing/2014/main" id="{6BCF0D3E-4433-5208-6095-FC1DDF98F2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84605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9">
          <a:extLst>
            <a:ext uri="{FF2B5EF4-FFF2-40B4-BE49-F238E27FC236}">
              <a16:creationId xmlns:a16="http://schemas.microsoft.com/office/drawing/2014/main" id="{2945CE06-944F-4625-1C52-39D929A08BEA}"/>
            </a:ext>
          </a:extLst>
        </p:cNvPr>
        <p:cNvGrpSpPr/>
        <p:nvPr/>
      </p:nvGrpSpPr>
      <p:grpSpPr>
        <a:xfrm>
          <a:off x="0" y="0"/>
          <a:ext cx="0" cy="0"/>
          <a:chOff x="0" y="0"/>
          <a:chExt cx="0" cy="0"/>
        </a:xfrm>
      </p:grpSpPr>
      <p:sp>
        <p:nvSpPr>
          <p:cNvPr id="520" name="Google Shape;520;g113dfeee943_0_23:notes">
            <a:extLst>
              <a:ext uri="{FF2B5EF4-FFF2-40B4-BE49-F238E27FC236}">
                <a16:creationId xmlns:a16="http://schemas.microsoft.com/office/drawing/2014/main" id="{18D632C9-F221-5A6D-0BDB-0E2C2A84BFF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1" name="Google Shape;521;g113dfeee943_0_23:notes">
            <a:extLst>
              <a:ext uri="{FF2B5EF4-FFF2-40B4-BE49-F238E27FC236}">
                <a16:creationId xmlns:a16="http://schemas.microsoft.com/office/drawing/2014/main" id="{3122DBC9-E976-1A31-9CF6-561FB4A1645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465736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notes 2"/>
          <p:cNvSpPr>
            <a:spLocks noGrp="1"/>
          </p:cNvSpPr>
          <p:nvPr>
            <p:ph type="body" idx="1"/>
          </p:nvPr>
        </p:nvSpPr>
        <p:spPr/>
        <p:txBody>
          <a:bodyPr/>
          <a:lstStyle/>
          <a:p>
            <a:endParaRPr lang="fr-FR" dirty="0"/>
          </a:p>
        </p:txBody>
      </p:sp>
    </p:spTree>
    <p:extLst>
      <p:ext uri="{BB962C8B-B14F-4D97-AF65-F5344CB8AC3E}">
        <p14:creationId xmlns:p14="http://schemas.microsoft.com/office/powerpoint/2010/main" val="35668454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9">
          <a:extLst>
            <a:ext uri="{FF2B5EF4-FFF2-40B4-BE49-F238E27FC236}">
              <a16:creationId xmlns:a16="http://schemas.microsoft.com/office/drawing/2014/main" id="{288896CE-66C5-306A-FAAE-CA34E9F8672F}"/>
            </a:ext>
          </a:extLst>
        </p:cNvPr>
        <p:cNvGrpSpPr/>
        <p:nvPr/>
      </p:nvGrpSpPr>
      <p:grpSpPr>
        <a:xfrm>
          <a:off x="0" y="0"/>
          <a:ext cx="0" cy="0"/>
          <a:chOff x="0" y="0"/>
          <a:chExt cx="0" cy="0"/>
        </a:xfrm>
      </p:grpSpPr>
      <p:sp>
        <p:nvSpPr>
          <p:cNvPr id="520" name="Google Shape;520;g113dfeee943_0_23:notes">
            <a:extLst>
              <a:ext uri="{FF2B5EF4-FFF2-40B4-BE49-F238E27FC236}">
                <a16:creationId xmlns:a16="http://schemas.microsoft.com/office/drawing/2014/main" id="{87ED1B26-16FF-28B6-9C6F-3EB18878BCD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1" name="Google Shape;521;g113dfeee943_0_23:notes">
            <a:extLst>
              <a:ext uri="{FF2B5EF4-FFF2-40B4-BE49-F238E27FC236}">
                <a16:creationId xmlns:a16="http://schemas.microsoft.com/office/drawing/2014/main" id="{CEB1F8FF-C820-D1CA-FC7A-109653C91CF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066462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9">
          <a:extLst>
            <a:ext uri="{FF2B5EF4-FFF2-40B4-BE49-F238E27FC236}">
              <a16:creationId xmlns:a16="http://schemas.microsoft.com/office/drawing/2014/main" id="{AA254E8F-CA4D-1F89-140B-63BC31F3F08B}"/>
            </a:ext>
          </a:extLst>
        </p:cNvPr>
        <p:cNvGrpSpPr/>
        <p:nvPr/>
      </p:nvGrpSpPr>
      <p:grpSpPr>
        <a:xfrm>
          <a:off x="0" y="0"/>
          <a:ext cx="0" cy="0"/>
          <a:chOff x="0" y="0"/>
          <a:chExt cx="0" cy="0"/>
        </a:xfrm>
      </p:grpSpPr>
      <p:sp>
        <p:nvSpPr>
          <p:cNvPr id="520" name="Google Shape;520;g113dfeee943_0_23:notes">
            <a:extLst>
              <a:ext uri="{FF2B5EF4-FFF2-40B4-BE49-F238E27FC236}">
                <a16:creationId xmlns:a16="http://schemas.microsoft.com/office/drawing/2014/main" id="{779BE7DF-287B-BA3F-91B1-2972234595F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1" name="Google Shape;521;g113dfeee943_0_23:notes">
            <a:extLst>
              <a:ext uri="{FF2B5EF4-FFF2-40B4-BE49-F238E27FC236}">
                <a16:creationId xmlns:a16="http://schemas.microsoft.com/office/drawing/2014/main" id="{ABC164EA-B822-DD40-5A2E-08806C380F2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02266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9">
          <a:extLst>
            <a:ext uri="{FF2B5EF4-FFF2-40B4-BE49-F238E27FC236}">
              <a16:creationId xmlns:a16="http://schemas.microsoft.com/office/drawing/2014/main" id="{676F715E-A792-AEEC-E840-1284E5D95A0E}"/>
            </a:ext>
          </a:extLst>
        </p:cNvPr>
        <p:cNvGrpSpPr/>
        <p:nvPr/>
      </p:nvGrpSpPr>
      <p:grpSpPr>
        <a:xfrm>
          <a:off x="0" y="0"/>
          <a:ext cx="0" cy="0"/>
          <a:chOff x="0" y="0"/>
          <a:chExt cx="0" cy="0"/>
        </a:xfrm>
      </p:grpSpPr>
      <p:sp>
        <p:nvSpPr>
          <p:cNvPr id="520" name="Google Shape;520;g113dfeee943_0_23:notes">
            <a:extLst>
              <a:ext uri="{FF2B5EF4-FFF2-40B4-BE49-F238E27FC236}">
                <a16:creationId xmlns:a16="http://schemas.microsoft.com/office/drawing/2014/main" id="{91300388-7528-B3F8-AA19-418A81BD599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1" name="Google Shape;521;g113dfeee943_0_23:notes">
            <a:extLst>
              <a:ext uri="{FF2B5EF4-FFF2-40B4-BE49-F238E27FC236}">
                <a16:creationId xmlns:a16="http://schemas.microsoft.com/office/drawing/2014/main" id="{587DA458-68BE-1F1B-A2E1-E912D600486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275913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9">
          <a:extLst>
            <a:ext uri="{FF2B5EF4-FFF2-40B4-BE49-F238E27FC236}">
              <a16:creationId xmlns:a16="http://schemas.microsoft.com/office/drawing/2014/main" id="{20557FBF-08C4-01D2-ED33-DB5A7D83DE8F}"/>
            </a:ext>
          </a:extLst>
        </p:cNvPr>
        <p:cNvGrpSpPr/>
        <p:nvPr/>
      </p:nvGrpSpPr>
      <p:grpSpPr>
        <a:xfrm>
          <a:off x="0" y="0"/>
          <a:ext cx="0" cy="0"/>
          <a:chOff x="0" y="0"/>
          <a:chExt cx="0" cy="0"/>
        </a:xfrm>
      </p:grpSpPr>
      <p:sp>
        <p:nvSpPr>
          <p:cNvPr id="520" name="Google Shape;520;g113dfeee943_0_23:notes">
            <a:extLst>
              <a:ext uri="{FF2B5EF4-FFF2-40B4-BE49-F238E27FC236}">
                <a16:creationId xmlns:a16="http://schemas.microsoft.com/office/drawing/2014/main" id="{E343A98B-DD1E-9BEF-5B05-0FBC616A568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1" name="Google Shape;521;g113dfeee943_0_23:notes">
            <a:extLst>
              <a:ext uri="{FF2B5EF4-FFF2-40B4-BE49-F238E27FC236}">
                <a16:creationId xmlns:a16="http://schemas.microsoft.com/office/drawing/2014/main" id="{AB958967-BEFF-7936-7A6D-A61F87B8125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860603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9">
          <a:extLst>
            <a:ext uri="{FF2B5EF4-FFF2-40B4-BE49-F238E27FC236}">
              <a16:creationId xmlns:a16="http://schemas.microsoft.com/office/drawing/2014/main" id="{4E821F8A-1BF3-155A-0282-280763A04626}"/>
            </a:ext>
          </a:extLst>
        </p:cNvPr>
        <p:cNvGrpSpPr/>
        <p:nvPr/>
      </p:nvGrpSpPr>
      <p:grpSpPr>
        <a:xfrm>
          <a:off x="0" y="0"/>
          <a:ext cx="0" cy="0"/>
          <a:chOff x="0" y="0"/>
          <a:chExt cx="0" cy="0"/>
        </a:xfrm>
      </p:grpSpPr>
      <p:sp>
        <p:nvSpPr>
          <p:cNvPr id="520" name="Google Shape;520;g113dfeee943_0_23:notes">
            <a:extLst>
              <a:ext uri="{FF2B5EF4-FFF2-40B4-BE49-F238E27FC236}">
                <a16:creationId xmlns:a16="http://schemas.microsoft.com/office/drawing/2014/main" id="{4D05AAB4-842F-D08C-C90D-56596C37F7E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1" name="Google Shape;521;g113dfeee943_0_23:notes">
            <a:extLst>
              <a:ext uri="{FF2B5EF4-FFF2-40B4-BE49-F238E27FC236}">
                <a16:creationId xmlns:a16="http://schemas.microsoft.com/office/drawing/2014/main" id="{C1D3121D-7180-73D6-E6AC-A1062FFF9C9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383831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8">
          <a:extLst>
            <a:ext uri="{FF2B5EF4-FFF2-40B4-BE49-F238E27FC236}">
              <a16:creationId xmlns:a16="http://schemas.microsoft.com/office/drawing/2014/main" id="{47625DF0-CF67-3065-4500-100C30E4EE9A}"/>
            </a:ext>
          </a:extLst>
        </p:cNvPr>
        <p:cNvGrpSpPr/>
        <p:nvPr/>
      </p:nvGrpSpPr>
      <p:grpSpPr>
        <a:xfrm>
          <a:off x="0" y="0"/>
          <a:ext cx="0" cy="0"/>
          <a:chOff x="0" y="0"/>
          <a:chExt cx="0" cy="0"/>
        </a:xfrm>
      </p:grpSpPr>
      <p:sp>
        <p:nvSpPr>
          <p:cNvPr id="489" name="Google Shape;489;g54dda1946d_4_2679:notes">
            <a:extLst>
              <a:ext uri="{FF2B5EF4-FFF2-40B4-BE49-F238E27FC236}">
                <a16:creationId xmlns:a16="http://schemas.microsoft.com/office/drawing/2014/main" id="{F71025B5-26E9-EE10-F644-8DA0EA50C93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0" name="Google Shape;490;g54dda1946d_4_2679:notes">
            <a:extLst>
              <a:ext uri="{FF2B5EF4-FFF2-40B4-BE49-F238E27FC236}">
                <a16:creationId xmlns:a16="http://schemas.microsoft.com/office/drawing/2014/main" id="{C1069CDD-F2DA-1F61-8E71-75BBF16CEAA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0204657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8">
          <a:extLst>
            <a:ext uri="{FF2B5EF4-FFF2-40B4-BE49-F238E27FC236}">
              <a16:creationId xmlns:a16="http://schemas.microsoft.com/office/drawing/2014/main" id="{833D83F1-0B58-8757-29AD-DEA87E25157F}"/>
            </a:ext>
          </a:extLst>
        </p:cNvPr>
        <p:cNvGrpSpPr/>
        <p:nvPr/>
      </p:nvGrpSpPr>
      <p:grpSpPr>
        <a:xfrm>
          <a:off x="0" y="0"/>
          <a:ext cx="0" cy="0"/>
          <a:chOff x="0" y="0"/>
          <a:chExt cx="0" cy="0"/>
        </a:xfrm>
      </p:grpSpPr>
      <p:sp>
        <p:nvSpPr>
          <p:cNvPr id="489" name="Google Shape;489;g54dda1946d_4_2679:notes">
            <a:extLst>
              <a:ext uri="{FF2B5EF4-FFF2-40B4-BE49-F238E27FC236}">
                <a16:creationId xmlns:a16="http://schemas.microsoft.com/office/drawing/2014/main" id="{9DEE7879-5041-1C38-2CD9-FF0817522A1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0" name="Google Shape;490;g54dda1946d_4_2679:notes">
            <a:extLst>
              <a:ext uri="{FF2B5EF4-FFF2-40B4-BE49-F238E27FC236}">
                <a16:creationId xmlns:a16="http://schemas.microsoft.com/office/drawing/2014/main" id="{E0B9D58D-6BFB-3017-A2DE-8473DFC7DB7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755507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9">
          <a:extLst>
            <a:ext uri="{FF2B5EF4-FFF2-40B4-BE49-F238E27FC236}">
              <a16:creationId xmlns:a16="http://schemas.microsoft.com/office/drawing/2014/main" id="{355CBD97-1257-CBB6-3C0F-5C809A210EFB}"/>
            </a:ext>
          </a:extLst>
        </p:cNvPr>
        <p:cNvGrpSpPr/>
        <p:nvPr/>
      </p:nvGrpSpPr>
      <p:grpSpPr>
        <a:xfrm>
          <a:off x="0" y="0"/>
          <a:ext cx="0" cy="0"/>
          <a:chOff x="0" y="0"/>
          <a:chExt cx="0" cy="0"/>
        </a:xfrm>
      </p:grpSpPr>
      <p:sp>
        <p:nvSpPr>
          <p:cNvPr id="520" name="Google Shape;520;g113dfeee943_0_23:notes">
            <a:extLst>
              <a:ext uri="{FF2B5EF4-FFF2-40B4-BE49-F238E27FC236}">
                <a16:creationId xmlns:a16="http://schemas.microsoft.com/office/drawing/2014/main" id="{4363C0D9-BF2B-4B34-C95B-49D992F10E9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1" name="Google Shape;521;g113dfeee943_0_23:notes">
            <a:extLst>
              <a:ext uri="{FF2B5EF4-FFF2-40B4-BE49-F238E27FC236}">
                <a16:creationId xmlns:a16="http://schemas.microsoft.com/office/drawing/2014/main" id="{60BC5519-9588-C246-6E21-9A7E07D6055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5228537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8">
          <a:extLst>
            <a:ext uri="{FF2B5EF4-FFF2-40B4-BE49-F238E27FC236}">
              <a16:creationId xmlns:a16="http://schemas.microsoft.com/office/drawing/2014/main" id="{2E3E74DD-D23B-8B8E-0E79-370119866758}"/>
            </a:ext>
          </a:extLst>
        </p:cNvPr>
        <p:cNvGrpSpPr/>
        <p:nvPr/>
      </p:nvGrpSpPr>
      <p:grpSpPr>
        <a:xfrm>
          <a:off x="0" y="0"/>
          <a:ext cx="0" cy="0"/>
          <a:chOff x="0" y="0"/>
          <a:chExt cx="0" cy="0"/>
        </a:xfrm>
      </p:grpSpPr>
      <p:sp>
        <p:nvSpPr>
          <p:cNvPr id="489" name="Google Shape;489;g54dda1946d_4_2679:notes">
            <a:extLst>
              <a:ext uri="{FF2B5EF4-FFF2-40B4-BE49-F238E27FC236}">
                <a16:creationId xmlns:a16="http://schemas.microsoft.com/office/drawing/2014/main" id="{BCB8D8B2-311E-4C2C-61D1-CC4A3545928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0" name="Google Shape;490;g54dda1946d_4_2679:notes">
            <a:extLst>
              <a:ext uri="{FF2B5EF4-FFF2-40B4-BE49-F238E27FC236}">
                <a16:creationId xmlns:a16="http://schemas.microsoft.com/office/drawing/2014/main" id="{138E4A22-C3E9-E8B7-E02A-436534E082D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026887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720000" y="1413525"/>
            <a:ext cx="4294800" cy="20952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sz="4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60" name="Google Shape;60;p9"/>
          <p:cNvSpPr txBox="1">
            <a:spLocks noGrp="1"/>
          </p:cNvSpPr>
          <p:nvPr>
            <p:ph type="subTitle" idx="1"/>
          </p:nvPr>
        </p:nvSpPr>
        <p:spPr>
          <a:xfrm>
            <a:off x="720000" y="3508800"/>
            <a:ext cx="4294800" cy="1004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70"/>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Quote">
  <p:cSld name="BLANK_1_1">
    <p:bg>
      <p:bgPr>
        <a:solidFill>
          <a:schemeClr val="dk1"/>
        </a:solidFill>
        <a:effectLst/>
      </p:bgPr>
    </p:bg>
    <p:spTree>
      <p:nvGrpSpPr>
        <p:cNvPr id="1" name="Shape 96"/>
        <p:cNvGrpSpPr/>
        <p:nvPr/>
      </p:nvGrpSpPr>
      <p:grpSpPr>
        <a:xfrm>
          <a:off x="0" y="0"/>
          <a:ext cx="0" cy="0"/>
          <a:chOff x="0" y="0"/>
          <a:chExt cx="0" cy="0"/>
        </a:xfrm>
      </p:grpSpPr>
      <p:sp>
        <p:nvSpPr>
          <p:cNvPr id="97" name="Google Shape;97;p14"/>
          <p:cNvSpPr txBox="1">
            <a:spLocks noGrp="1"/>
          </p:cNvSpPr>
          <p:nvPr>
            <p:ph type="title"/>
          </p:nvPr>
        </p:nvSpPr>
        <p:spPr>
          <a:xfrm>
            <a:off x="2312325" y="3532875"/>
            <a:ext cx="5853600" cy="531900"/>
          </a:xfrm>
          <a:prstGeom prst="rect">
            <a:avLst/>
          </a:prstGeom>
        </p:spPr>
        <p:txBody>
          <a:bodyPr spcFirstLastPara="1" wrap="square" lIns="91425" tIns="91425" rIns="91425" bIns="91425" anchor="t" anchorCtr="0">
            <a:noAutofit/>
          </a:bodyPr>
          <a:lstStyle>
            <a:lvl1pPr lvl="0" algn="r" rtl="0">
              <a:lnSpc>
                <a:spcPct val="115000"/>
              </a:lnSpc>
              <a:spcBef>
                <a:spcPts val="0"/>
              </a:spcBef>
              <a:spcAft>
                <a:spcPts val="0"/>
              </a:spcAft>
              <a:buSzPts val="3000"/>
              <a:buNone/>
              <a:defRPr sz="2000">
                <a:solidFill>
                  <a:schemeClr val="lt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98" name="Google Shape;98;p14"/>
          <p:cNvSpPr txBox="1">
            <a:spLocks noGrp="1"/>
          </p:cNvSpPr>
          <p:nvPr>
            <p:ph type="subTitle" idx="1"/>
          </p:nvPr>
        </p:nvSpPr>
        <p:spPr>
          <a:xfrm>
            <a:off x="2312275" y="1078725"/>
            <a:ext cx="5853600" cy="2343600"/>
          </a:xfrm>
          <a:prstGeom prst="rect">
            <a:avLst/>
          </a:prstGeom>
        </p:spPr>
        <p:txBody>
          <a:bodyPr spcFirstLastPara="1" wrap="square" lIns="91425" tIns="91425" rIns="91425" bIns="91425" anchor="b" anchorCtr="0">
            <a:noAutofit/>
          </a:bodyPr>
          <a:lstStyle>
            <a:lvl1pPr lvl="0" algn="r" rtl="0">
              <a:spcBef>
                <a:spcPts val="0"/>
              </a:spcBef>
              <a:spcAft>
                <a:spcPts val="0"/>
              </a:spcAft>
              <a:buSzPts val="3000"/>
              <a:buNone/>
              <a:defRPr sz="3000">
                <a:solidFill>
                  <a:schemeClr val="lt1"/>
                </a:solidFill>
              </a:defRPr>
            </a:lvl1pPr>
            <a:lvl2pPr lvl="1" algn="ctr" rtl="0">
              <a:lnSpc>
                <a:spcPct val="100000"/>
              </a:lnSpc>
              <a:spcBef>
                <a:spcPts val="0"/>
              </a:spcBef>
              <a:spcAft>
                <a:spcPts val="0"/>
              </a:spcAft>
              <a:buSzPts val="3000"/>
              <a:buNone/>
              <a:defRPr sz="3000"/>
            </a:lvl2pPr>
            <a:lvl3pPr lvl="2" algn="ctr" rtl="0">
              <a:lnSpc>
                <a:spcPct val="100000"/>
              </a:lnSpc>
              <a:spcBef>
                <a:spcPts val="0"/>
              </a:spcBef>
              <a:spcAft>
                <a:spcPts val="0"/>
              </a:spcAft>
              <a:buSzPts val="3000"/>
              <a:buNone/>
              <a:defRPr sz="3000"/>
            </a:lvl3pPr>
            <a:lvl4pPr lvl="3" algn="ctr" rtl="0">
              <a:lnSpc>
                <a:spcPct val="100000"/>
              </a:lnSpc>
              <a:spcBef>
                <a:spcPts val="0"/>
              </a:spcBef>
              <a:spcAft>
                <a:spcPts val="0"/>
              </a:spcAft>
              <a:buSzPts val="3000"/>
              <a:buNone/>
              <a:defRPr sz="3000"/>
            </a:lvl4pPr>
            <a:lvl5pPr lvl="4" algn="ctr" rtl="0">
              <a:lnSpc>
                <a:spcPct val="100000"/>
              </a:lnSpc>
              <a:spcBef>
                <a:spcPts val="0"/>
              </a:spcBef>
              <a:spcAft>
                <a:spcPts val="0"/>
              </a:spcAft>
              <a:buSzPts val="3000"/>
              <a:buNone/>
              <a:defRPr sz="3000"/>
            </a:lvl5pPr>
            <a:lvl6pPr lvl="5" algn="ctr" rtl="0">
              <a:lnSpc>
                <a:spcPct val="100000"/>
              </a:lnSpc>
              <a:spcBef>
                <a:spcPts val="0"/>
              </a:spcBef>
              <a:spcAft>
                <a:spcPts val="0"/>
              </a:spcAft>
              <a:buSzPts val="3000"/>
              <a:buNone/>
              <a:defRPr sz="3000"/>
            </a:lvl6pPr>
            <a:lvl7pPr lvl="6" algn="ctr" rtl="0">
              <a:lnSpc>
                <a:spcPct val="100000"/>
              </a:lnSpc>
              <a:spcBef>
                <a:spcPts val="0"/>
              </a:spcBef>
              <a:spcAft>
                <a:spcPts val="0"/>
              </a:spcAft>
              <a:buSzPts val="3000"/>
              <a:buNone/>
              <a:defRPr sz="3000"/>
            </a:lvl7pPr>
            <a:lvl8pPr lvl="7" algn="ctr" rtl="0">
              <a:lnSpc>
                <a:spcPct val="100000"/>
              </a:lnSpc>
              <a:spcBef>
                <a:spcPts val="0"/>
              </a:spcBef>
              <a:spcAft>
                <a:spcPts val="0"/>
              </a:spcAft>
              <a:buSzPts val="3000"/>
              <a:buNone/>
              <a:defRPr sz="3000"/>
            </a:lvl8pPr>
            <a:lvl9pPr lvl="8" algn="ctr" rtl="0">
              <a:lnSpc>
                <a:spcPct val="100000"/>
              </a:lnSpc>
              <a:spcBef>
                <a:spcPts val="0"/>
              </a:spcBef>
              <a:spcAft>
                <a:spcPts val="0"/>
              </a:spcAft>
              <a:buSzPts val="3000"/>
              <a:buNone/>
              <a:defRPr sz="3000"/>
            </a:lvl9pPr>
          </a:lstStyle>
          <a:p>
            <a:endParaRPr/>
          </a:p>
        </p:txBody>
      </p:sp>
      <p:grpSp>
        <p:nvGrpSpPr>
          <p:cNvPr id="99" name="Google Shape;99;p14"/>
          <p:cNvGrpSpPr/>
          <p:nvPr/>
        </p:nvGrpSpPr>
        <p:grpSpPr>
          <a:xfrm>
            <a:off x="-3284446" y="334071"/>
            <a:ext cx="5348400" cy="2153758"/>
            <a:chOff x="-3284446" y="334071"/>
            <a:chExt cx="5348400" cy="2153758"/>
          </a:xfrm>
        </p:grpSpPr>
        <p:sp>
          <p:nvSpPr>
            <p:cNvPr id="100" name="Google Shape;100;p14"/>
            <p:cNvSpPr/>
            <p:nvPr/>
          </p:nvSpPr>
          <p:spPr>
            <a:xfrm rot="5400000" flipH="1">
              <a:off x="1474729" y="1719229"/>
              <a:ext cx="277200" cy="2772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lbert Sans"/>
                <a:ea typeface="Albert Sans"/>
                <a:cs typeface="Albert Sans"/>
                <a:sym typeface="Albert Sans"/>
              </a:endParaRPr>
            </a:p>
          </p:txBody>
        </p:sp>
        <p:sp>
          <p:nvSpPr>
            <p:cNvPr id="101" name="Google Shape;101;p14"/>
            <p:cNvSpPr/>
            <p:nvPr/>
          </p:nvSpPr>
          <p:spPr>
            <a:xfrm rot="5400000" flipH="1">
              <a:off x="-1240246" y="-1710129"/>
              <a:ext cx="1260000" cy="5348400"/>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lbert Sans"/>
                <a:ea typeface="Albert Sans"/>
                <a:cs typeface="Albert Sans"/>
                <a:sym typeface="Albert Sans"/>
              </a:endParaRPr>
            </a:p>
          </p:txBody>
        </p:sp>
        <p:sp>
          <p:nvSpPr>
            <p:cNvPr id="102" name="Google Shape;102;p14"/>
            <p:cNvSpPr/>
            <p:nvPr/>
          </p:nvSpPr>
          <p:spPr>
            <a:xfrm rot="5400000" flipH="1">
              <a:off x="-1240233" y="4129"/>
              <a:ext cx="1260000" cy="3707400"/>
            </a:xfrm>
            <a:prstGeom prst="roundRect">
              <a:avLst>
                <a:gd name="adj" fmla="val 50000"/>
              </a:avLst>
            </a:prstGeom>
            <a:solidFill>
              <a:srgbClr val="F6F6F6">
                <a:alpha val="2063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lbert Sans"/>
                <a:ea typeface="Albert Sans"/>
                <a:cs typeface="Albert Sans"/>
                <a:sym typeface="Albert Sa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2">
  <p:cSld name="CUSTOM_10_1">
    <p:spTree>
      <p:nvGrpSpPr>
        <p:cNvPr id="1" name="Shape 135"/>
        <p:cNvGrpSpPr/>
        <p:nvPr/>
      </p:nvGrpSpPr>
      <p:grpSpPr>
        <a:xfrm>
          <a:off x="0" y="0"/>
          <a:ext cx="0" cy="0"/>
          <a:chOff x="0" y="0"/>
          <a:chExt cx="0" cy="0"/>
        </a:xfrm>
      </p:grpSpPr>
      <p:sp>
        <p:nvSpPr>
          <p:cNvPr id="136" name="Google Shape;136;p2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grpSp>
        <p:nvGrpSpPr>
          <p:cNvPr id="137" name="Google Shape;137;p20"/>
          <p:cNvGrpSpPr/>
          <p:nvPr/>
        </p:nvGrpSpPr>
        <p:grpSpPr>
          <a:xfrm flipH="1">
            <a:off x="-822466" y="-3825506"/>
            <a:ext cx="9983475" cy="8969006"/>
            <a:chOff x="-22300" y="-3825506"/>
            <a:chExt cx="9983475" cy="8969006"/>
          </a:xfrm>
        </p:grpSpPr>
        <p:sp>
          <p:nvSpPr>
            <p:cNvPr id="138" name="Google Shape;138;p20"/>
            <p:cNvSpPr/>
            <p:nvPr/>
          </p:nvSpPr>
          <p:spPr>
            <a:xfrm flipH="1">
              <a:off x="8312375" y="-678400"/>
              <a:ext cx="1648800" cy="16488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lbert Sans"/>
                <a:ea typeface="Albert Sans"/>
                <a:cs typeface="Albert Sans"/>
                <a:sym typeface="Albert Sans"/>
              </a:endParaRPr>
            </a:p>
          </p:txBody>
        </p:sp>
        <p:sp>
          <p:nvSpPr>
            <p:cNvPr id="139" name="Google Shape;139;p20"/>
            <p:cNvSpPr/>
            <p:nvPr/>
          </p:nvSpPr>
          <p:spPr>
            <a:xfrm rot="5400000" flipH="1">
              <a:off x="-27100" y="4612200"/>
              <a:ext cx="536100" cy="526500"/>
            </a:xfrm>
            <a:prstGeom prst="round1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lbert Sans"/>
                <a:ea typeface="Albert Sans"/>
                <a:cs typeface="Albert Sans"/>
                <a:sym typeface="Albert Sans"/>
              </a:endParaRPr>
            </a:p>
          </p:txBody>
        </p:sp>
        <p:sp>
          <p:nvSpPr>
            <p:cNvPr id="140" name="Google Shape;140;p20"/>
            <p:cNvSpPr/>
            <p:nvPr/>
          </p:nvSpPr>
          <p:spPr>
            <a:xfrm flipH="1">
              <a:off x="171200" y="4469010"/>
              <a:ext cx="526500" cy="526500"/>
            </a:xfrm>
            <a:prstGeom prst="ellipse">
              <a:avLst/>
            </a:prstGeom>
            <a:solidFill>
              <a:srgbClr val="0584A4">
                <a:alpha val="4063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lbert Sans"/>
                <a:ea typeface="Albert Sans"/>
                <a:cs typeface="Albert Sans"/>
                <a:sym typeface="Albert Sans"/>
              </a:endParaRPr>
            </a:p>
          </p:txBody>
        </p:sp>
        <p:sp>
          <p:nvSpPr>
            <p:cNvPr id="141" name="Google Shape;141;p20"/>
            <p:cNvSpPr/>
            <p:nvPr/>
          </p:nvSpPr>
          <p:spPr>
            <a:xfrm>
              <a:off x="7819550" y="-3825506"/>
              <a:ext cx="1483500" cy="4365000"/>
            </a:xfrm>
            <a:prstGeom prst="roundRect">
              <a:avLst>
                <a:gd name="adj" fmla="val 50000"/>
              </a:avLst>
            </a:prstGeom>
            <a:solidFill>
              <a:srgbClr val="F6F6F6">
                <a:alpha val="600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lbert Sans"/>
                <a:ea typeface="Albert Sans"/>
                <a:cs typeface="Albert Sans"/>
                <a:sym typeface="Albert Sa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3">
  <p:cSld name="CUSTOM_10_1_1">
    <p:spTree>
      <p:nvGrpSpPr>
        <p:cNvPr id="1" name="Shape 142"/>
        <p:cNvGrpSpPr/>
        <p:nvPr/>
      </p:nvGrpSpPr>
      <p:grpSpPr>
        <a:xfrm>
          <a:off x="0" y="0"/>
          <a:ext cx="0" cy="0"/>
          <a:chOff x="0" y="0"/>
          <a:chExt cx="0" cy="0"/>
        </a:xfrm>
      </p:grpSpPr>
      <p:sp>
        <p:nvSpPr>
          <p:cNvPr id="143" name="Google Shape;143;p2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grpSp>
        <p:nvGrpSpPr>
          <p:cNvPr id="144" name="Google Shape;144;p21"/>
          <p:cNvGrpSpPr/>
          <p:nvPr/>
        </p:nvGrpSpPr>
        <p:grpSpPr>
          <a:xfrm>
            <a:off x="-107146" y="-909126"/>
            <a:ext cx="9417818" cy="8992626"/>
            <a:chOff x="-107146" y="-909126"/>
            <a:chExt cx="9417818" cy="8992626"/>
          </a:xfrm>
        </p:grpSpPr>
        <p:sp>
          <p:nvSpPr>
            <p:cNvPr id="145" name="Google Shape;145;p21"/>
            <p:cNvSpPr/>
            <p:nvPr/>
          </p:nvSpPr>
          <p:spPr>
            <a:xfrm rot="10800000" flipH="1">
              <a:off x="8519272" y="3954900"/>
              <a:ext cx="791400" cy="4128600"/>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lbert Sans"/>
                <a:ea typeface="Albert Sans"/>
                <a:cs typeface="Albert Sans"/>
                <a:sym typeface="Albert Sans"/>
              </a:endParaRPr>
            </a:p>
          </p:txBody>
        </p:sp>
        <p:sp>
          <p:nvSpPr>
            <p:cNvPr id="146" name="Google Shape;146;p21"/>
            <p:cNvSpPr/>
            <p:nvPr/>
          </p:nvSpPr>
          <p:spPr>
            <a:xfrm rot="10800000" flipH="1">
              <a:off x="7958000" y="4588140"/>
              <a:ext cx="791400" cy="2862000"/>
            </a:xfrm>
            <a:prstGeom prst="roundRect">
              <a:avLst>
                <a:gd name="adj" fmla="val 50000"/>
              </a:avLst>
            </a:prstGeom>
            <a:solidFill>
              <a:srgbClr val="0584A4">
                <a:alpha val="4063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lbert Sans"/>
                <a:ea typeface="Albert Sans"/>
                <a:cs typeface="Albert Sans"/>
                <a:sym typeface="Albert Sans"/>
              </a:endParaRPr>
            </a:p>
          </p:txBody>
        </p:sp>
        <p:grpSp>
          <p:nvGrpSpPr>
            <p:cNvPr id="147" name="Google Shape;147;p21"/>
            <p:cNvGrpSpPr/>
            <p:nvPr/>
          </p:nvGrpSpPr>
          <p:grpSpPr>
            <a:xfrm rot="5400000">
              <a:off x="-544100" y="-472171"/>
              <a:ext cx="1828500" cy="954591"/>
              <a:chOff x="-1253563" y="3992679"/>
              <a:chExt cx="1828500" cy="954591"/>
            </a:xfrm>
          </p:grpSpPr>
          <p:sp>
            <p:nvSpPr>
              <p:cNvPr id="148" name="Google Shape;148;p21"/>
              <p:cNvSpPr/>
              <p:nvPr/>
            </p:nvSpPr>
            <p:spPr>
              <a:xfrm rot="5400000" flipH="1">
                <a:off x="-119071" y="3992679"/>
                <a:ext cx="277200" cy="2772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lbert Sans"/>
                  <a:ea typeface="Albert Sans"/>
                  <a:cs typeface="Albert Sans"/>
                  <a:sym typeface="Albert Sans"/>
                </a:endParaRPr>
              </a:p>
            </p:txBody>
          </p:sp>
          <p:sp>
            <p:nvSpPr>
              <p:cNvPr id="149" name="Google Shape;149;p21"/>
              <p:cNvSpPr/>
              <p:nvPr/>
            </p:nvSpPr>
            <p:spPr>
              <a:xfrm rot="5400000">
                <a:off x="-678013" y="3694320"/>
                <a:ext cx="677400" cy="1828500"/>
              </a:xfrm>
              <a:prstGeom prst="roundRect">
                <a:avLst>
                  <a:gd name="adj" fmla="val 50000"/>
                </a:avLst>
              </a:prstGeom>
              <a:solidFill>
                <a:srgbClr val="F2557A">
                  <a:alpha val="6563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lbert Sans"/>
                  <a:ea typeface="Albert Sans"/>
                  <a:cs typeface="Albert Sans"/>
                  <a:sym typeface="Albert Sans"/>
                </a:endParaRPr>
              </a:p>
            </p:txBody>
          </p: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ckground">
  <p:cSld name="CUSTOM_7">
    <p:spTree>
      <p:nvGrpSpPr>
        <p:cNvPr id="1" name="Shape 240"/>
        <p:cNvGrpSpPr/>
        <p:nvPr/>
      </p:nvGrpSpPr>
      <p:grpSpPr>
        <a:xfrm>
          <a:off x="0" y="0"/>
          <a:ext cx="0" cy="0"/>
          <a:chOff x="0" y="0"/>
          <a:chExt cx="0" cy="0"/>
        </a:xfrm>
      </p:grpSpPr>
      <p:sp>
        <p:nvSpPr>
          <p:cNvPr id="241" name="Google Shape;241;p29"/>
          <p:cNvSpPr/>
          <p:nvPr/>
        </p:nvSpPr>
        <p:spPr>
          <a:xfrm flipH="1">
            <a:off x="8312375" y="-678400"/>
            <a:ext cx="1648800" cy="16488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lbert Sans"/>
              <a:ea typeface="Albert Sans"/>
              <a:cs typeface="Albert Sans"/>
              <a:sym typeface="Albert Sans"/>
            </a:endParaRPr>
          </a:p>
        </p:txBody>
      </p:sp>
      <p:sp>
        <p:nvSpPr>
          <p:cNvPr id="242" name="Google Shape;242;p29"/>
          <p:cNvSpPr/>
          <p:nvPr/>
        </p:nvSpPr>
        <p:spPr>
          <a:xfrm rot="5400000" flipH="1">
            <a:off x="-27100" y="4612200"/>
            <a:ext cx="536100" cy="526500"/>
          </a:xfrm>
          <a:prstGeom prst="round1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lbert Sans"/>
              <a:ea typeface="Albert Sans"/>
              <a:cs typeface="Albert Sans"/>
              <a:sym typeface="Albert Sans"/>
            </a:endParaRPr>
          </a:p>
        </p:txBody>
      </p:sp>
      <p:sp>
        <p:nvSpPr>
          <p:cNvPr id="243" name="Google Shape;243;p29"/>
          <p:cNvSpPr/>
          <p:nvPr/>
        </p:nvSpPr>
        <p:spPr>
          <a:xfrm flipH="1">
            <a:off x="171200" y="4469010"/>
            <a:ext cx="526500" cy="526500"/>
          </a:xfrm>
          <a:prstGeom prst="ellipse">
            <a:avLst/>
          </a:prstGeom>
          <a:solidFill>
            <a:srgbClr val="0584A4">
              <a:alpha val="3188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lbert Sans"/>
              <a:ea typeface="Albert Sans"/>
              <a:cs typeface="Albert Sans"/>
              <a:sym typeface="Albert Sans"/>
            </a:endParaRPr>
          </a:p>
        </p:txBody>
      </p:sp>
      <p:sp>
        <p:nvSpPr>
          <p:cNvPr id="244" name="Google Shape;244;p29"/>
          <p:cNvSpPr/>
          <p:nvPr/>
        </p:nvSpPr>
        <p:spPr>
          <a:xfrm>
            <a:off x="7819550" y="-3825506"/>
            <a:ext cx="1483500" cy="4365000"/>
          </a:xfrm>
          <a:prstGeom prst="roundRect">
            <a:avLst>
              <a:gd name="adj" fmla="val 50000"/>
            </a:avLst>
          </a:prstGeom>
          <a:solidFill>
            <a:srgbClr val="FFFFFF">
              <a:alpha val="4125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lbert Sans"/>
              <a:ea typeface="Albert Sans"/>
              <a:cs typeface="Albert Sans"/>
              <a:sym typeface="Albert San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ackground 1">
  <p:cSld name="CUSTOM_8">
    <p:spTree>
      <p:nvGrpSpPr>
        <p:cNvPr id="1" name="Shape 245"/>
        <p:cNvGrpSpPr/>
        <p:nvPr/>
      </p:nvGrpSpPr>
      <p:grpSpPr>
        <a:xfrm>
          <a:off x="0" y="0"/>
          <a:ext cx="0" cy="0"/>
          <a:chOff x="0" y="0"/>
          <a:chExt cx="0" cy="0"/>
        </a:xfrm>
      </p:grpSpPr>
      <p:grpSp>
        <p:nvGrpSpPr>
          <p:cNvPr id="246" name="Google Shape;246;p30"/>
          <p:cNvGrpSpPr/>
          <p:nvPr/>
        </p:nvGrpSpPr>
        <p:grpSpPr>
          <a:xfrm>
            <a:off x="-363114" y="-686855"/>
            <a:ext cx="9835298" cy="6115780"/>
            <a:chOff x="-363114" y="-686855"/>
            <a:chExt cx="9835298" cy="6115780"/>
          </a:xfrm>
        </p:grpSpPr>
        <p:sp>
          <p:nvSpPr>
            <p:cNvPr id="247" name="Google Shape;247;p30"/>
            <p:cNvSpPr/>
            <p:nvPr/>
          </p:nvSpPr>
          <p:spPr>
            <a:xfrm flipH="1">
              <a:off x="8812484" y="4331375"/>
              <a:ext cx="277200" cy="2772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lbert Sans"/>
                <a:ea typeface="Albert Sans"/>
                <a:cs typeface="Albert Sans"/>
                <a:sym typeface="Albert Sans"/>
              </a:endParaRPr>
            </a:p>
          </p:txBody>
        </p:sp>
        <p:sp>
          <p:nvSpPr>
            <p:cNvPr id="248" name="Google Shape;248;p30"/>
            <p:cNvSpPr/>
            <p:nvPr/>
          </p:nvSpPr>
          <p:spPr>
            <a:xfrm rot="10800000" flipH="1">
              <a:off x="-173878" y="-686855"/>
              <a:ext cx="677400" cy="1828500"/>
            </a:xfrm>
            <a:prstGeom prst="roundRect">
              <a:avLst>
                <a:gd name="adj" fmla="val 50000"/>
              </a:avLst>
            </a:prstGeom>
            <a:solidFill>
              <a:srgbClr val="74CEC4">
                <a:alpha val="600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lbert Sans"/>
                <a:ea typeface="Albert Sans"/>
                <a:cs typeface="Albert Sans"/>
                <a:sym typeface="Albert Sans"/>
              </a:endParaRPr>
            </a:p>
          </p:txBody>
        </p:sp>
        <p:sp>
          <p:nvSpPr>
            <p:cNvPr id="249" name="Google Shape;249;p30"/>
            <p:cNvSpPr/>
            <p:nvPr/>
          </p:nvSpPr>
          <p:spPr>
            <a:xfrm flipH="1">
              <a:off x="-363114" y="781582"/>
              <a:ext cx="698700" cy="698700"/>
            </a:xfrm>
            <a:prstGeom prst="chord">
              <a:avLst>
                <a:gd name="adj1" fmla="val 5399387"/>
                <a:gd name="adj2" fmla="val 1620000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lbert Sans"/>
                <a:ea typeface="Albert Sans"/>
                <a:cs typeface="Albert Sans"/>
                <a:sym typeface="Albert Sans"/>
              </a:endParaRPr>
            </a:p>
          </p:txBody>
        </p:sp>
        <p:sp>
          <p:nvSpPr>
            <p:cNvPr id="250" name="Google Shape;250;p30"/>
            <p:cNvSpPr/>
            <p:nvPr/>
          </p:nvSpPr>
          <p:spPr>
            <a:xfrm flipH="1">
              <a:off x="8812484" y="4769225"/>
              <a:ext cx="659700" cy="659700"/>
            </a:xfrm>
            <a:prstGeom prst="ellipse">
              <a:avLst/>
            </a:prstGeom>
            <a:solidFill>
              <a:srgbClr val="EE325F">
                <a:alpha val="7188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lbert Sans"/>
                <a:ea typeface="Albert Sans"/>
                <a:cs typeface="Albert Sans"/>
                <a:sym typeface="Albert Sans"/>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Poppins"/>
              <a:buNone/>
              <a:defRPr sz="3000" b="1">
                <a:solidFill>
                  <a:schemeClr val="dk1"/>
                </a:solidFill>
                <a:latin typeface="Poppins"/>
                <a:ea typeface="Poppins"/>
                <a:cs typeface="Poppins"/>
                <a:sym typeface="Poppins"/>
              </a:defRPr>
            </a:lvl1pPr>
            <a:lvl2pPr lvl="1" rtl="0">
              <a:spcBef>
                <a:spcPts val="0"/>
              </a:spcBef>
              <a:spcAft>
                <a:spcPts val="0"/>
              </a:spcAft>
              <a:buClr>
                <a:schemeClr val="dk1"/>
              </a:buClr>
              <a:buSzPts val="3000"/>
              <a:buFont typeface="Poppins"/>
              <a:buNone/>
              <a:defRPr sz="3000" b="1">
                <a:solidFill>
                  <a:schemeClr val="dk1"/>
                </a:solidFill>
                <a:latin typeface="Poppins"/>
                <a:ea typeface="Poppins"/>
                <a:cs typeface="Poppins"/>
                <a:sym typeface="Poppins"/>
              </a:defRPr>
            </a:lvl2pPr>
            <a:lvl3pPr lvl="2" rtl="0">
              <a:spcBef>
                <a:spcPts val="0"/>
              </a:spcBef>
              <a:spcAft>
                <a:spcPts val="0"/>
              </a:spcAft>
              <a:buClr>
                <a:schemeClr val="dk1"/>
              </a:buClr>
              <a:buSzPts val="3000"/>
              <a:buFont typeface="Poppins"/>
              <a:buNone/>
              <a:defRPr sz="3000" b="1">
                <a:solidFill>
                  <a:schemeClr val="dk1"/>
                </a:solidFill>
                <a:latin typeface="Poppins"/>
                <a:ea typeface="Poppins"/>
                <a:cs typeface="Poppins"/>
                <a:sym typeface="Poppins"/>
              </a:defRPr>
            </a:lvl3pPr>
            <a:lvl4pPr lvl="3" rtl="0">
              <a:spcBef>
                <a:spcPts val="0"/>
              </a:spcBef>
              <a:spcAft>
                <a:spcPts val="0"/>
              </a:spcAft>
              <a:buClr>
                <a:schemeClr val="dk1"/>
              </a:buClr>
              <a:buSzPts val="3000"/>
              <a:buFont typeface="Poppins"/>
              <a:buNone/>
              <a:defRPr sz="3000" b="1">
                <a:solidFill>
                  <a:schemeClr val="dk1"/>
                </a:solidFill>
                <a:latin typeface="Poppins"/>
                <a:ea typeface="Poppins"/>
                <a:cs typeface="Poppins"/>
                <a:sym typeface="Poppins"/>
              </a:defRPr>
            </a:lvl4pPr>
            <a:lvl5pPr lvl="4" rtl="0">
              <a:spcBef>
                <a:spcPts val="0"/>
              </a:spcBef>
              <a:spcAft>
                <a:spcPts val="0"/>
              </a:spcAft>
              <a:buClr>
                <a:schemeClr val="dk1"/>
              </a:buClr>
              <a:buSzPts val="3000"/>
              <a:buFont typeface="Poppins"/>
              <a:buNone/>
              <a:defRPr sz="3000" b="1">
                <a:solidFill>
                  <a:schemeClr val="dk1"/>
                </a:solidFill>
                <a:latin typeface="Poppins"/>
                <a:ea typeface="Poppins"/>
                <a:cs typeface="Poppins"/>
                <a:sym typeface="Poppins"/>
              </a:defRPr>
            </a:lvl5pPr>
            <a:lvl6pPr lvl="5" rtl="0">
              <a:spcBef>
                <a:spcPts val="0"/>
              </a:spcBef>
              <a:spcAft>
                <a:spcPts val="0"/>
              </a:spcAft>
              <a:buClr>
                <a:schemeClr val="dk1"/>
              </a:buClr>
              <a:buSzPts val="3000"/>
              <a:buFont typeface="Poppins"/>
              <a:buNone/>
              <a:defRPr sz="3000" b="1">
                <a:solidFill>
                  <a:schemeClr val="dk1"/>
                </a:solidFill>
                <a:latin typeface="Poppins"/>
                <a:ea typeface="Poppins"/>
                <a:cs typeface="Poppins"/>
                <a:sym typeface="Poppins"/>
              </a:defRPr>
            </a:lvl6pPr>
            <a:lvl7pPr lvl="6" rtl="0">
              <a:spcBef>
                <a:spcPts val="0"/>
              </a:spcBef>
              <a:spcAft>
                <a:spcPts val="0"/>
              </a:spcAft>
              <a:buClr>
                <a:schemeClr val="dk1"/>
              </a:buClr>
              <a:buSzPts val="3000"/>
              <a:buFont typeface="Poppins"/>
              <a:buNone/>
              <a:defRPr sz="3000" b="1">
                <a:solidFill>
                  <a:schemeClr val="dk1"/>
                </a:solidFill>
                <a:latin typeface="Poppins"/>
                <a:ea typeface="Poppins"/>
                <a:cs typeface="Poppins"/>
                <a:sym typeface="Poppins"/>
              </a:defRPr>
            </a:lvl7pPr>
            <a:lvl8pPr lvl="7" rtl="0">
              <a:spcBef>
                <a:spcPts val="0"/>
              </a:spcBef>
              <a:spcAft>
                <a:spcPts val="0"/>
              </a:spcAft>
              <a:buClr>
                <a:schemeClr val="dk1"/>
              </a:buClr>
              <a:buSzPts val="3000"/>
              <a:buFont typeface="Poppins"/>
              <a:buNone/>
              <a:defRPr sz="3000" b="1">
                <a:solidFill>
                  <a:schemeClr val="dk1"/>
                </a:solidFill>
                <a:latin typeface="Poppins"/>
                <a:ea typeface="Poppins"/>
                <a:cs typeface="Poppins"/>
                <a:sym typeface="Poppins"/>
              </a:defRPr>
            </a:lvl8pPr>
            <a:lvl9pPr lvl="8" rtl="0">
              <a:spcBef>
                <a:spcPts val="0"/>
              </a:spcBef>
              <a:spcAft>
                <a:spcPts val="0"/>
              </a:spcAft>
              <a:buClr>
                <a:schemeClr val="dk1"/>
              </a:buClr>
              <a:buSzPts val="3000"/>
              <a:buFont typeface="Poppins"/>
              <a:buNone/>
              <a:defRPr sz="3000" b="1">
                <a:solidFill>
                  <a:schemeClr val="dk1"/>
                </a:solidFill>
                <a:latin typeface="Poppins"/>
                <a:ea typeface="Poppins"/>
                <a:cs typeface="Poppins"/>
                <a:sym typeface="Poppins"/>
              </a:defRPr>
            </a:lvl9pPr>
          </a:lstStyle>
          <a:p>
            <a:endParaRPr/>
          </a:p>
        </p:txBody>
      </p:sp>
      <p:sp>
        <p:nvSpPr>
          <p:cNvPr id="7" name="Google Shape;7;p1"/>
          <p:cNvSpPr txBox="1">
            <a:spLocks noGrp="1"/>
          </p:cNvSpPr>
          <p:nvPr>
            <p:ph type="body" idx="1"/>
          </p:nvPr>
        </p:nvSpPr>
        <p:spPr>
          <a:xfrm>
            <a:off x="713400"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1pPr>
            <a:lvl2pPr marL="914400" lvl="1" indent="-31750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2pPr>
            <a:lvl3pPr marL="1371600" lvl="2" indent="-31750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3pPr>
            <a:lvl4pPr marL="1828800" lvl="3" indent="-31750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4pPr>
            <a:lvl5pPr marL="2286000" lvl="4" indent="-31750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5pPr>
            <a:lvl6pPr marL="2743200" lvl="5" indent="-31750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6pPr>
            <a:lvl7pPr marL="3200400" lvl="6" indent="-31750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7pPr>
            <a:lvl8pPr marL="3657600" lvl="7" indent="-31750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8pPr>
            <a:lvl9pPr marL="4114800" lvl="8" indent="-31750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9pPr>
          </a:lstStyle>
          <a:p>
            <a:endParaRPr/>
          </a:p>
        </p:txBody>
      </p:sp>
    </p:spTree>
  </p:cSld>
  <p:clrMap bg1="lt1" tx1="dk1" bg2="dk2" tx2="lt2" accent1="accent1" accent2="accent2" accent3="accent3" accent4="accent4" accent5="accent5" accent6="accent6" hlink="hlink" folHlink="folHlink"/>
  <p:sldLayoutIdLst>
    <p:sldLayoutId id="2147483655" r:id="rId1"/>
    <p:sldLayoutId id="2147483658" r:id="rId2"/>
    <p:sldLayoutId id="2147483660" r:id="rId3"/>
    <p:sldLayoutId id="2147483666" r:id="rId4"/>
    <p:sldLayoutId id="2147483667" r:id="rId5"/>
    <p:sldLayoutId id="2147483675" r:id="rId6"/>
    <p:sldLayoutId id="2147483676" r:id="rId7"/>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30.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hyperlink" Target="https://datascientest.com/apis-graphql-tout-savoir" TargetMode="External"/><Relationship Id="rId2" Type="http://schemas.openxmlformats.org/officeDocument/2006/relationships/notesSlide" Target="../notesSlides/notesSlide19.xml"/><Relationship Id="rId1" Type="http://schemas.openxmlformats.org/officeDocument/2006/relationships/slideLayout" Target="../slideLayouts/slideLayout4.xml"/><Relationship Id="rId5" Type="http://schemas.openxmlformats.org/officeDocument/2006/relationships/hyperlink" Target="https://en.wikipedia.org/wiki/Web_service" TargetMode="External"/><Relationship Id="rId4" Type="http://schemas.openxmlformats.org/officeDocument/2006/relationships/hyperlink" Target="https://en.wikipedia.org/wiki/GRPC" TargetMode="Externa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320"/>
        <p:cNvGrpSpPr/>
        <p:nvPr/>
      </p:nvGrpSpPr>
      <p:grpSpPr>
        <a:xfrm>
          <a:off x="0" y="0"/>
          <a:ext cx="0" cy="0"/>
          <a:chOff x="0" y="0"/>
          <a:chExt cx="0" cy="0"/>
        </a:xfrm>
      </p:grpSpPr>
      <p:sp>
        <p:nvSpPr>
          <p:cNvPr id="323" name="Google Shape;323;p39"/>
          <p:cNvSpPr/>
          <p:nvPr/>
        </p:nvSpPr>
        <p:spPr>
          <a:xfrm rot="5400000">
            <a:off x="8989862" y="2884570"/>
            <a:ext cx="677400" cy="18285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lbert Sans"/>
              <a:ea typeface="Albert Sans"/>
              <a:cs typeface="Albert Sans"/>
              <a:sym typeface="Albert Sans"/>
            </a:endParaRPr>
          </a:p>
        </p:txBody>
      </p:sp>
      <p:sp>
        <p:nvSpPr>
          <p:cNvPr id="2" name="Rectangle 1">
            <a:extLst>
              <a:ext uri="{FF2B5EF4-FFF2-40B4-BE49-F238E27FC236}">
                <a16:creationId xmlns:a16="http://schemas.microsoft.com/office/drawing/2014/main" id="{2F169596-22AF-8A66-6EE6-7DA8FC98ED42}"/>
              </a:ext>
            </a:extLst>
          </p:cNvPr>
          <p:cNvSpPr/>
          <p:nvPr/>
        </p:nvSpPr>
        <p:spPr>
          <a:xfrm>
            <a:off x="1249081" y="1851555"/>
            <a:ext cx="5781503" cy="1569660"/>
          </a:xfrm>
          <a:prstGeom prst="rect">
            <a:avLst/>
          </a:prstGeom>
          <a:noFill/>
        </p:spPr>
        <p:txBody>
          <a:bodyPr wrap="square" lIns="91440" tIns="45720" rIns="91440" bIns="45720">
            <a:spAutoFit/>
          </a:bodyPr>
          <a:lstStyle/>
          <a:p>
            <a:pPr algn="ctr"/>
            <a:r>
              <a:rPr lang="fr-FR" sz="32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Software Qualität</a:t>
            </a:r>
          </a:p>
          <a:p>
            <a:pPr algn="ctr"/>
            <a:r>
              <a:rPr lang="fr-FR" sz="32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Schnittstellentechnologien:</a:t>
            </a:r>
          </a:p>
          <a:p>
            <a:pPr algn="ctr"/>
            <a:r>
              <a:rPr lang="fr-FR" sz="32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gRPC- GraphQL</a:t>
            </a:r>
            <a:endParaRPr lang="fr-FR" sz="32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sp>
        <p:nvSpPr>
          <p:cNvPr id="5" name="Rectangle 4">
            <a:extLst>
              <a:ext uri="{FF2B5EF4-FFF2-40B4-BE49-F238E27FC236}">
                <a16:creationId xmlns:a16="http://schemas.microsoft.com/office/drawing/2014/main" id="{41628870-955A-0114-DD58-764A8359B2A4}"/>
              </a:ext>
            </a:extLst>
          </p:cNvPr>
          <p:cNvSpPr/>
          <p:nvPr/>
        </p:nvSpPr>
        <p:spPr>
          <a:xfrm>
            <a:off x="1510136" y="4070367"/>
            <a:ext cx="1569660" cy="369332"/>
          </a:xfrm>
          <a:prstGeom prst="rect">
            <a:avLst/>
          </a:prstGeom>
          <a:noFill/>
        </p:spPr>
        <p:txBody>
          <a:bodyPr wrap="none" lIns="91440" tIns="45720" rIns="91440" bIns="45720">
            <a:spAutoFit/>
          </a:bodyPr>
          <a:lstStyle/>
          <a:p>
            <a:pPr algn="ctr"/>
            <a:r>
              <a:rPr lang="fr-FR" sz="18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Kalil SACKO</a:t>
            </a:r>
            <a:endParaRPr lang="fr-FR" sz="18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91"/>
        <p:cNvGrpSpPr/>
        <p:nvPr/>
      </p:nvGrpSpPr>
      <p:grpSpPr>
        <a:xfrm>
          <a:off x="0" y="0"/>
          <a:ext cx="0" cy="0"/>
          <a:chOff x="0" y="0"/>
          <a:chExt cx="0" cy="0"/>
        </a:xfrm>
      </p:grpSpPr>
      <p:sp>
        <p:nvSpPr>
          <p:cNvPr id="492" name="Google Shape;492;p52"/>
          <p:cNvSpPr txBox="1">
            <a:spLocks noGrp="1"/>
          </p:cNvSpPr>
          <p:nvPr>
            <p:ph type="title"/>
          </p:nvPr>
        </p:nvSpPr>
        <p:spPr>
          <a:xfrm>
            <a:off x="588518" y="100730"/>
            <a:ext cx="7704000" cy="572700"/>
          </a:xfrm>
          <a:prstGeom prst="rect">
            <a:avLst/>
          </a:prstGeom>
          <a:ln>
            <a:noFill/>
          </a:ln>
        </p:spPr>
        <p:txBody>
          <a:bodyPr spcFirstLastPara="1" wrap="square" lIns="91425" tIns="91425" rIns="91425" bIns="91425" anchor="t" anchorCtr="0">
            <a:noAutofit/>
          </a:bodyPr>
          <a:lstStyle/>
          <a:p>
            <a:pPr marL="0" lvl="0" indent="0" rtl="0">
              <a:spcBef>
                <a:spcPts val="0"/>
              </a:spcBef>
              <a:spcAft>
                <a:spcPts val="0"/>
              </a:spcAft>
              <a:buNone/>
            </a:pPr>
            <a:r>
              <a:rPr lang="en" dirty="0"/>
              <a:t>Agenda</a:t>
            </a:r>
            <a:endParaRPr dirty="0"/>
          </a:p>
        </p:txBody>
      </p:sp>
      <p:sp>
        <p:nvSpPr>
          <p:cNvPr id="496" name="Google Shape;496;p52"/>
          <p:cNvSpPr/>
          <p:nvPr/>
        </p:nvSpPr>
        <p:spPr>
          <a:xfrm>
            <a:off x="2937222" y="933557"/>
            <a:ext cx="2835600" cy="4227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2000" b="1" dirty="0">
                <a:solidFill>
                  <a:schemeClr val="lt1"/>
                </a:solidFill>
                <a:latin typeface="Poppins"/>
                <a:ea typeface="Poppins"/>
                <a:cs typeface="Poppins"/>
                <a:sym typeface="Poppins"/>
              </a:rPr>
              <a:t>Motivation</a:t>
            </a:r>
            <a:endParaRPr sz="2000" b="1" dirty="0">
              <a:solidFill>
                <a:schemeClr val="lt1"/>
              </a:solidFill>
              <a:latin typeface="Poppins"/>
              <a:ea typeface="Poppins"/>
              <a:cs typeface="Poppins"/>
              <a:sym typeface="Poppins"/>
            </a:endParaRPr>
          </a:p>
        </p:txBody>
      </p:sp>
      <p:sp>
        <p:nvSpPr>
          <p:cNvPr id="500" name="Google Shape;500;p52"/>
          <p:cNvSpPr/>
          <p:nvPr/>
        </p:nvSpPr>
        <p:spPr>
          <a:xfrm>
            <a:off x="2918474" y="1599631"/>
            <a:ext cx="2835600" cy="4227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2000" b="1" dirty="0">
                <a:solidFill>
                  <a:schemeClr val="lt1"/>
                </a:solidFill>
                <a:latin typeface="Poppins"/>
                <a:ea typeface="Poppins"/>
                <a:cs typeface="Poppins"/>
                <a:sym typeface="Poppins"/>
              </a:rPr>
              <a:t>GraphQL in detail</a:t>
            </a:r>
            <a:endParaRPr sz="2000" b="1" dirty="0">
              <a:solidFill>
                <a:schemeClr val="lt1"/>
              </a:solidFill>
              <a:latin typeface="Poppins"/>
              <a:ea typeface="Poppins"/>
              <a:cs typeface="Poppins"/>
              <a:sym typeface="Poppins"/>
            </a:endParaRPr>
          </a:p>
        </p:txBody>
      </p:sp>
      <p:sp>
        <p:nvSpPr>
          <p:cNvPr id="502" name="Google Shape;502;p52"/>
          <p:cNvSpPr/>
          <p:nvPr/>
        </p:nvSpPr>
        <p:spPr>
          <a:xfrm>
            <a:off x="2918474" y="2948532"/>
            <a:ext cx="2835600" cy="4227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2000" b="1" dirty="0">
                <a:solidFill>
                  <a:schemeClr val="lt1"/>
                </a:solidFill>
                <a:latin typeface="Poppins"/>
                <a:ea typeface="Poppins"/>
                <a:cs typeface="Poppins"/>
                <a:sym typeface="Poppins"/>
              </a:rPr>
              <a:t>Live -Demo</a:t>
            </a:r>
            <a:endParaRPr sz="2000" b="1" dirty="0">
              <a:solidFill>
                <a:schemeClr val="lt1"/>
              </a:solidFill>
              <a:latin typeface="Poppins"/>
              <a:ea typeface="Poppins"/>
              <a:cs typeface="Poppins"/>
              <a:sym typeface="Poppins"/>
            </a:endParaRPr>
          </a:p>
        </p:txBody>
      </p:sp>
      <p:sp>
        <p:nvSpPr>
          <p:cNvPr id="498" name="Google Shape;498;p52"/>
          <p:cNvSpPr/>
          <p:nvPr/>
        </p:nvSpPr>
        <p:spPr>
          <a:xfrm>
            <a:off x="2918474" y="3690550"/>
            <a:ext cx="2835600" cy="4227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2000" b="1" dirty="0">
                <a:solidFill>
                  <a:schemeClr val="lt1"/>
                </a:solidFill>
                <a:latin typeface="Poppins"/>
                <a:ea typeface="Poppins"/>
                <a:cs typeface="Poppins"/>
                <a:sym typeface="Poppins"/>
              </a:rPr>
              <a:t>Fazit</a:t>
            </a:r>
            <a:endParaRPr sz="2000" b="1" dirty="0">
              <a:solidFill>
                <a:schemeClr val="lt1"/>
              </a:solidFill>
              <a:latin typeface="Poppins"/>
              <a:ea typeface="Poppins"/>
              <a:cs typeface="Poppins"/>
              <a:sym typeface="Poppins"/>
            </a:endParaRPr>
          </a:p>
        </p:txBody>
      </p:sp>
      <p:sp>
        <p:nvSpPr>
          <p:cNvPr id="2" name="Google Shape;500;p52">
            <a:extLst>
              <a:ext uri="{FF2B5EF4-FFF2-40B4-BE49-F238E27FC236}">
                <a16:creationId xmlns:a16="http://schemas.microsoft.com/office/drawing/2014/main" id="{3B1DA91D-B114-80FE-A252-D59085133E75}"/>
              </a:ext>
            </a:extLst>
          </p:cNvPr>
          <p:cNvSpPr/>
          <p:nvPr/>
        </p:nvSpPr>
        <p:spPr>
          <a:xfrm>
            <a:off x="2918474" y="2320743"/>
            <a:ext cx="2835600" cy="4227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2000" b="1" dirty="0">
                <a:solidFill>
                  <a:schemeClr val="lt1"/>
                </a:solidFill>
                <a:latin typeface="Poppins"/>
                <a:ea typeface="Poppins"/>
                <a:cs typeface="Poppins"/>
                <a:sym typeface="Poppins"/>
              </a:rPr>
              <a:t>gRPC in detail</a:t>
            </a:r>
            <a:endParaRPr sz="2000" b="1" dirty="0">
              <a:solidFill>
                <a:schemeClr val="lt1"/>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22">
          <a:extLst>
            <a:ext uri="{FF2B5EF4-FFF2-40B4-BE49-F238E27FC236}">
              <a16:creationId xmlns:a16="http://schemas.microsoft.com/office/drawing/2014/main" id="{CE90BC32-7B89-644F-C6E1-1E5C01F5DBB4}"/>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ADC8EB3F-5FA7-AB07-E0FB-3D7A1B0CBA94}"/>
              </a:ext>
            </a:extLst>
          </p:cNvPr>
          <p:cNvSpPr>
            <a:spLocks noGrp="1"/>
          </p:cNvSpPr>
          <p:nvPr>
            <p:ph type="title"/>
          </p:nvPr>
        </p:nvSpPr>
        <p:spPr>
          <a:xfrm>
            <a:off x="880282" y="137950"/>
            <a:ext cx="7308376" cy="572700"/>
          </a:xfrm>
        </p:spPr>
        <p:txBody>
          <a:bodyPr/>
          <a:lstStyle/>
          <a:p>
            <a:r>
              <a:rPr lang="fr-FR" sz="2000" dirty="0" err="1"/>
              <a:t>Motiv</a:t>
            </a:r>
            <a:r>
              <a:rPr lang="fr-FR" sz="2000" dirty="0"/>
              <a:t>: </a:t>
            </a:r>
            <a:r>
              <a:rPr lang="fr-FR" sz="2000" dirty="0" err="1"/>
              <a:t>warum</a:t>
            </a:r>
            <a:r>
              <a:rPr lang="fr-FR" sz="2000" dirty="0"/>
              <a:t> </a:t>
            </a:r>
            <a:r>
              <a:rPr lang="fr-FR" sz="2000" dirty="0" err="1"/>
              <a:t>wurden</a:t>
            </a:r>
            <a:r>
              <a:rPr lang="fr-FR" sz="2000" dirty="0"/>
              <a:t> GraphQL </a:t>
            </a:r>
            <a:r>
              <a:rPr lang="fr-FR" sz="2000" dirty="0" err="1"/>
              <a:t>und</a:t>
            </a:r>
            <a:r>
              <a:rPr lang="fr-FR" sz="2000" dirty="0"/>
              <a:t> </a:t>
            </a:r>
            <a:r>
              <a:rPr lang="fr-FR" sz="2000" dirty="0" err="1"/>
              <a:t>gRPC</a:t>
            </a:r>
            <a:r>
              <a:rPr lang="fr-FR" sz="2000" dirty="0"/>
              <a:t> </a:t>
            </a:r>
            <a:r>
              <a:rPr lang="fr-FR" sz="2000" dirty="0" err="1"/>
              <a:t>entwickelt</a:t>
            </a:r>
            <a:endParaRPr lang="fr-FR" sz="2000" dirty="0"/>
          </a:p>
        </p:txBody>
      </p:sp>
      <p:sp>
        <p:nvSpPr>
          <p:cNvPr id="14" name="ZoneTexte 13">
            <a:extLst>
              <a:ext uri="{FF2B5EF4-FFF2-40B4-BE49-F238E27FC236}">
                <a16:creationId xmlns:a16="http://schemas.microsoft.com/office/drawing/2014/main" id="{5010892F-A3BC-B1CF-BE80-8C3DDE75F068}"/>
              </a:ext>
            </a:extLst>
          </p:cNvPr>
          <p:cNvSpPr txBox="1"/>
          <p:nvPr/>
        </p:nvSpPr>
        <p:spPr>
          <a:xfrm>
            <a:off x="532263" y="710650"/>
            <a:ext cx="3343702" cy="4555093"/>
          </a:xfrm>
          <a:prstGeom prst="rect">
            <a:avLst/>
          </a:prstGeom>
          <a:noFill/>
        </p:spPr>
        <p:txBody>
          <a:bodyPr wrap="square" rtlCol="0">
            <a:spAutoFit/>
          </a:bodyPr>
          <a:lstStyle/>
          <a:p>
            <a:r>
              <a:rPr lang="de-DE" sz="1200" b="1" dirty="0">
                <a:latin typeface="Calibri Light" panose="020F0302020204030204" pitchFamily="34" charset="0"/>
                <a:ea typeface="Calibri Light" panose="020F0302020204030204" pitchFamily="34" charset="0"/>
                <a:cs typeface="Calibri Light" panose="020F0302020204030204" pitchFamily="34" charset="0"/>
              </a:rPr>
              <a:t>Warum wurde </a:t>
            </a:r>
            <a:r>
              <a:rPr lang="de-DE" sz="1200" b="1" dirty="0" err="1">
                <a:latin typeface="Calibri Light" panose="020F0302020204030204" pitchFamily="34" charset="0"/>
                <a:ea typeface="Calibri Light" panose="020F0302020204030204" pitchFamily="34" charset="0"/>
                <a:cs typeface="Calibri Light" panose="020F0302020204030204" pitchFamily="34" charset="0"/>
              </a:rPr>
              <a:t>GraphQL</a:t>
            </a:r>
            <a:r>
              <a:rPr lang="de-DE" sz="1200" b="1" dirty="0">
                <a:latin typeface="Calibri Light" panose="020F0302020204030204" pitchFamily="34" charset="0"/>
                <a:ea typeface="Calibri Light" panose="020F0302020204030204" pitchFamily="34" charset="0"/>
                <a:cs typeface="Calibri Light" panose="020F0302020204030204" pitchFamily="34" charset="0"/>
              </a:rPr>
              <a:t> entwickelt (von Facebook im Jahr 2012)?</a:t>
            </a:r>
            <a:br>
              <a:rPr lang="de-DE" sz="1200" b="1" dirty="0">
                <a:latin typeface="Calibri Light" panose="020F0302020204030204" pitchFamily="34" charset="0"/>
                <a:ea typeface="Calibri Light" panose="020F0302020204030204" pitchFamily="34" charset="0"/>
                <a:cs typeface="Calibri Light" panose="020F0302020204030204" pitchFamily="34" charset="0"/>
              </a:rPr>
            </a:br>
            <a:endParaRPr lang="de-DE" sz="1200" b="1" dirty="0">
              <a:latin typeface="Calibri Light" panose="020F0302020204030204" pitchFamily="34" charset="0"/>
              <a:ea typeface="Calibri Light" panose="020F0302020204030204" pitchFamily="34" charset="0"/>
              <a:cs typeface="Calibri Light" panose="020F0302020204030204" pitchFamily="34" charset="0"/>
            </a:endParaRPr>
          </a:p>
          <a:p>
            <a:r>
              <a:rPr lang="de-DE" sz="1200" b="1" dirty="0">
                <a:latin typeface="Calibri Light" panose="020F0302020204030204" pitchFamily="34" charset="0"/>
                <a:ea typeface="Calibri Light" panose="020F0302020204030204" pitchFamily="34" charset="0"/>
                <a:cs typeface="Calibri Light" panose="020F0302020204030204" pitchFamily="34" charset="0"/>
              </a:rPr>
              <a:t>Problem:</a:t>
            </a:r>
            <a:br>
              <a:rPr lang="de-DE" sz="1200" dirty="0">
                <a:latin typeface="Calibri Light" panose="020F0302020204030204" pitchFamily="34" charset="0"/>
                <a:ea typeface="Calibri Light" panose="020F0302020204030204" pitchFamily="34" charset="0"/>
                <a:cs typeface="Calibri Light" panose="020F0302020204030204" pitchFamily="34" charset="0"/>
              </a:rPr>
            </a:br>
            <a:r>
              <a:rPr lang="de-DE" sz="1200" dirty="0">
                <a:latin typeface="Calibri Light" panose="020F0302020204030204" pitchFamily="34" charset="0"/>
                <a:ea typeface="Calibri Light" panose="020F0302020204030204" pitchFamily="34" charset="0"/>
                <a:cs typeface="Calibri Light" panose="020F0302020204030204" pitchFamily="34" charset="0"/>
              </a:rPr>
              <a:t>Die REST-APIs waren zu starr.</a:t>
            </a:r>
            <a:br>
              <a:rPr lang="de-DE" sz="1200" dirty="0">
                <a:latin typeface="Calibri Light" panose="020F0302020204030204" pitchFamily="34" charset="0"/>
                <a:ea typeface="Calibri Light" panose="020F0302020204030204" pitchFamily="34" charset="0"/>
                <a:cs typeface="Calibri Light" panose="020F0302020204030204" pitchFamily="34" charset="0"/>
              </a:rPr>
            </a:br>
            <a:r>
              <a:rPr lang="de-DE" sz="1200" dirty="0">
                <a:latin typeface="Calibri Light" panose="020F0302020204030204" pitchFamily="34" charset="0"/>
                <a:ea typeface="Calibri Light" panose="020F0302020204030204" pitchFamily="34" charset="0"/>
                <a:cs typeface="Calibri Light" panose="020F0302020204030204" pitchFamily="34" charset="0"/>
              </a:rPr>
              <a:t>Auf Mobilgeräten lieferte REST entweder zu viele unnötige Daten oder nicht genug – dadurch waren mehrere Anfragen nötig.</a:t>
            </a:r>
            <a:br>
              <a:rPr lang="de-DE" sz="1200" dirty="0">
                <a:latin typeface="Calibri Light" panose="020F0302020204030204" pitchFamily="34" charset="0"/>
                <a:ea typeface="Calibri Light" panose="020F0302020204030204" pitchFamily="34" charset="0"/>
                <a:cs typeface="Calibri Light" panose="020F0302020204030204" pitchFamily="34" charset="0"/>
              </a:rPr>
            </a:br>
            <a:r>
              <a:rPr lang="de-DE" sz="1200" dirty="0">
                <a:latin typeface="Calibri Light" panose="020F0302020204030204" pitchFamily="34" charset="0"/>
                <a:ea typeface="Calibri Light" panose="020F0302020204030204" pitchFamily="34" charset="0"/>
                <a:cs typeface="Calibri Light" panose="020F0302020204030204" pitchFamily="34" charset="0"/>
              </a:rPr>
              <a:t>Das führte zu </a:t>
            </a:r>
            <a:r>
              <a:rPr lang="de-DE" sz="1200" b="1" dirty="0">
                <a:latin typeface="Calibri Light" panose="020F0302020204030204" pitchFamily="34" charset="0"/>
                <a:ea typeface="Calibri Light" panose="020F0302020204030204" pitchFamily="34" charset="0"/>
                <a:cs typeface="Calibri Light" panose="020F0302020204030204" pitchFamily="34" charset="0"/>
              </a:rPr>
              <a:t>Over-</a:t>
            </a:r>
            <a:r>
              <a:rPr lang="de-DE" sz="1200" b="1" dirty="0" err="1">
                <a:latin typeface="Calibri Light" panose="020F0302020204030204" pitchFamily="34" charset="0"/>
                <a:ea typeface="Calibri Light" panose="020F0302020204030204" pitchFamily="34" charset="0"/>
                <a:cs typeface="Calibri Light" panose="020F0302020204030204" pitchFamily="34" charset="0"/>
              </a:rPr>
              <a:t>Fetching</a:t>
            </a:r>
            <a:r>
              <a:rPr lang="de-DE" sz="1200" dirty="0">
                <a:latin typeface="Calibri Light" panose="020F0302020204030204" pitchFamily="34" charset="0"/>
                <a:ea typeface="Calibri Light" panose="020F0302020204030204" pitchFamily="34" charset="0"/>
                <a:cs typeface="Calibri Light" panose="020F0302020204030204" pitchFamily="34" charset="0"/>
              </a:rPr>
              <a:t>, </a:t>
            </a:r>
            <a:r>
              <a:rPr lang="de-DE" sz="1200" b="1" dirty="0">
                <a:latin typeface="Calibri Light" panose="020F0302020204030204" pitchFamily="34" charset="0"/>
                <a:ea typeface="Calibri Light" panose="020F0302020204030204" pitchFamily="34" charset="0"/>
                <a:cs typeface="Calibri Light" panose="020F0302020204030204" pitchFamily="34" charset="0"/>
              </a:rPr>
              <a:t>Under-</a:t>
            </a:r>
            <a:r>
              <a:rPr lang="de-DE" sz="1200" b="1" dirty="0" err="1">
                <a:latin typeface="Calibri Light" panose="020F0302020204030204" pitchFamily="34" charset="0"/>
                <a:ea typeface="Calibri Light" panose="020F0302020204030204" pitchFamily="34" charset="0"/>
                <a:cs typeface="Calibri Light" panose="020F0302020204030204" pitchFamily="34" charset="0"/>
              </a:rPr>
              <a:t>Fetching</a:t>
            </a:r>
            <a:r>
              <a:rPr lang="de-DE" sz="1200" dirty="0">
                <a:latin typeface="Calibri Light" panose="020F0302020204030204" pitchFamily="34" charset="0"/>
                <a:ea typeface="Calibri Light" panose="020F0302020204030204" pitchFamily="34" charset="0"/>
                <a:cs typeface="Calibri Light" panose="020F0302020204030204" pitchFamily="34" charset="0"/>
              </a:rPr>
              <a:t> und Performance-Problemen.</a:t>
            </a:r>
            <a:br>
              <a:rPr lang="de-DE" sz="1200" dirty="0">
                <a:latin typeface="Calibri Light" panose="020F0302020204030204" pitchFamily="34" charset="0"/>
                <a:ea typeface="Calibri Light" panose="020F0302020204030204" pitchFamily="34" charset="0"/>
                <a:cs typeface="Calibri Light" panose="020F0302020204030204" pitchFamily="34" charset="0"/>
              </a:rPr>
            </a:br>
            <a:endParaRPr lang="de-DE" sz="1200" dirty="0">
              <a:latin typeface="Calibri Light" panose="020F0302020204030204" pitchFamily="34" charset="0"/>
              <a:ea typeface="Calibri Light" panose="020F0302020204030204" pitchFamily="34" charset="0"/>
              <a:cs typeface="Calibri Light" panose="020F0302020204030204" pitchFamily="34" charset="0"/>
            </a:endParaRPr>
          </a:p>
          <a:p>
            <a:r>
              <a:rPr lang="de-DE" sz="1200" b="1" dirty="0">
                <a:latin typeface="Calibri Light" panose="020F0302020204030204" pitchFamily="34" charset="0"/>
                <a:ea typeface="Calibri Light" panose="020F0302020204030204" pitchFamily="34" charset="0"/>
                <a:cs typeface="Calibri Light" panose="020F0302020204030204" pitchFamily="34" charset="0"/>
              </a:rPr>
              <a:t>Lösung (</a:t>
            </a:r>
            <a:r>
              <a:rPr lang="de-DE" sz="1200" b="1" dirty="0" err="1">
                <a:latin typeface="Calibri Light" panose="020F0302020204030204" pitchFamily="34" charset="0"/>
                <a:ea typeface="Calibri Light" panose="020F0302020204030204" pitchFamily="34" charset="0"/>
                <a:cs typeface="Calibri Light" panose="020F0302020204030204" pitchFamily="34" charset="0"/>
              </a:rPr>
              <a:t>GraphQL</a:t>
            </a:r>
            <a:r>
              <a:rPr lang="de-DE" sz="1200" b="1" dirty="0">
                <a:latin typeface="Calibri Light" panose="020F0302020204030204" pitchFamily="34" charset="0"/>
                <a:ea typeface="Calibri Light" panose="020F0302020204030204" pitchFamily="34" charset="0"/>
                <a:cs typeface="Calibri Light" panose="020F0302020204030204" pitchFamily="34" charset="0"/>
              </a:rPr>
              <a:t>):</a:t>
            </a:r>
            <a:br>
              <a:rPr lang="de-DE" sz="1200" dirty="0">
                <a:latin typeface="Calibri Light" panose="020F0302020204030204" pitchFamily="34" charset="0"/>
                <a:ea typeface="Calibri Light" panose="020F0302020204030204" pitchFamily="34" charset="0"/>
                <a:cs typeface="Calibri Light" panose="020F0302020204030204" pitchFamily="34" charset="0"/>
              </a:rPr>
            </a:br>
            <a:r>
              <a:rPr lang="de-DE" sz="1200" dirty="0">
                <a:latin typeface="Calibri Light" panose="020F0302020204030204" pitchFamily="34" charset="0"/>
                <a:ea typeface="Calibri Light" panose="020F0302020204030204" pitchFamily="34" charset="0"/>
                <a:cs typeface="Calibri Light" panose="020F0302020204030204" pitchFamily="34" charset="0"/>
              </a:rPr>
              <a:t>Ermöglicht dem Client, </a:t>
            </a:r>
            <a:r>
              <a:rPr lang="de-DE" sz="1200" b="1" dirty="0">
                <a:latin typeface="Calibri Light" panose="020F0302020204030204" pitchFamily="34" charset="0"/>
                <a:ea typeface="Calibri Light" panose="020F0302020204030204" pitchFamily="34" charset="0"/>
                <a:cs typeface="Calibri Light" panose="020F0302020204030204" pitchFamily="34" charset="0"/>
              </a:rPr>
              <a:t>genau die Daten abzufragen</a:t>
            </a:r>
            <a:r>
              <a:rPr lang="de-DE" sz="1200" dirty="0">
                <a:latin typeface="Calibri Light" panose="020F0302020204030204" pitchFamily="34" charset="0"/>
                <a:ea typeface="Calibri Light" panose="020F0302020204030204" pitchFamily="34" charset="0"/>
                <a:cs typeface="Calibri Light" panose="020F0302020204030204" pitchFamily="34" charset="0"/>
              </a:rPr>
              <a:t>, die er benötigt – </a:t>
            </a:r>
            <a:r>
              <a:rPr lang="de-DE" sz="1200" b="1" dirty="0">
                <a:latin typeface="Calibri Light" panose="020F0302020204030204" pitchFamily="34" charset="0"/>
                <a:ea typeface="Calibri Light" panose="020F0302020204030204" pitchFamily="34" charset="0"/>
                <a:cs typeface="Calibri Light" panose="020F0302020204030204" pitchFamily="34" charset="0"/>
              </a:rPr>
              <a:t>nicht mehr und nicht weniger</a:t>
            </a:r>
            <a:r>
              <a:rPr lang="de-DE" sz="1200" dirty="0">
                <a:latin typeface="Calibri Light" panose="020F0302020204030204" pitchFamily="34" charset="0"/>
                <a:ea typeface="Calibri Light" panose="020F0302020204030204" pitchFamily="34" charset="0"/>
                <a:cs typeface="Calibri Light" panose="020F0302020204030204" pitchFamily="34" charset="0"/>
              </a:rPr>
              <a:t>.</a:t>
            </a:r>
            <a:br>
              <a:rPr lang="de-DE" sz="1200" dirty="0">
                <a:latin typeface="Calibri Light" panose="020F0302020204030204" pitchFamily="34" charset="0"/>
                <a:ea typeface="Calibri Light" panose="020F0302020204030204" pitchFamily="34" charset="0"/>
                <a:cs typeface="Calibri Light" panose="020F0302020204030204" pitchFamily="34" charset="0"/>
              </a:rPr>
            </a:br>
            <a:r>
              <a:rPr lang="de-DE" sz="1200" b="1" dirty="0">
                <a:latin typeface="Calibri Light" panose="020F0302020204030204" pitchFamily="34" charset="0"/>
                <a:ea typeface="Calibri Light" panose="020F0302020204030204" pitchFamily="34" charset="0"/>
                <a:cs typeface="Calibri Light" panose="020F0302020204030204" pitchFamily="34" charset="0"/>
              </a:rPr>
              <a:t>Eine einzige Anfrage</a:t>
            </a:r>
            <a:r>
              <a:rPr lang="de-DE" sz="1200" dirty="0">
                <a:latin typeface="Calibri Light" panose="020F0302020204030204" pitchFamily="34" charset="0"/>
                <a:ea typeface="Calibri Light" panose="020F0302020204030204" pitchFamily="34" charset="0"/>
                <a:cs typeface="Calibri Light" panose="020F0302020204030204" pitchFamily="34" charset="0"/>
              </a:rPr>
              <a:t> kann Daten aus mehreren Ressourcen aggregieren.</a:t>
            </a:r>
            <a:br>
              <a:rPr lang="de-DE" sz="1200" dirty="0">
                <a:latin typeface="Calibri Light" panose="020F0302020204030204" pitchFamily="34" charset="0"/>
                <a:ea typeface="Calibri Light" panose="020F0302020204030204" pitchFamily="34" charset="0"/>
                <a:cs typeface="Calibri Light" panose="020F0302020204030204" pitchFamily="34" charset="0"/>
              </a:rPr>
            </a:br>
            <a:r>
              <a:rPr lang="de-DE" sz="1200" dirty="0">
                <a:latin typeface="Calibri Light" panose="020F0302020204030204" pitchFamily="34" charset="0"/>
                <a:ea typeface="Calibri Light" panose="020F0302020204030204" pitchFamily="34" charset="0"/>
                <a:cs typeface="Calibri Light" panose="020F0302020204030204" pitchFamily="34" charset="0"/>
              </a:rPr>
              <a:t>Reduzierung der Anzahl von HTTP-Anfragen.</a:t>
            </a:r>
            <a:br>
              <a:rPr lang="de-DE" sz="1200" dirty="0">
                <a:latin typeface="Calibri Light" panose="020F0302020204030204" pitchFamily="34" charset="0"/>
                <a:ea typeface="Calibri Light" panose="020F0302020204030204" pitchFamily="34" charset="0"/>
                <a:cs typeface="Calibri Light" panose="020F0302020204030204" pitchFamily="34" charset="0"/>
              </a:rPr>
            </a:br>
            <a:r>
              <a:rPr lang="de-DE" sz="1200" b="1" dirty="0">
                <a:latin typeface="Calibri Light" panose="020F0302020204030204" pitchFamily="34" charset="0"/>
                <a:ea typeface="Calibri Light" panose="020F0302020204030204" pitchFamily="34" charset="0"/>
                <a:cs typeface="Calibri Light" panose="020F0302020204030204" pitchFamily="34" charset="0"/>
              </a:rPr>
              <a:t>Maximale Flexibilität</a:t>
            </a:r>
            <a:r>
              <a:rPr lang="de-DE" sz="1200" dirty="0">
                <a:latin typeface="Calibri Light" panose="020F0302020204030204" pitchFamily="34" charset="0"/>
                <a:ea typeface="Calibri Light" panose="020F0302020204030204" pitchFamily="34" charset="0"/>
                <a:cs typeface="Calibri Light" panose="020F0302020204030204" pitchFamily="34" charset="0"/>
              </a:rPr>
              <a:t> für komplexe Benutzeroberflächen (Web &amp; Mobile).</a:t>
            </a:r>
            <a:br>
              <a:rPr lang="de-DE" sz="1200" dirty="0">
                <a:latin typeface="Calibri Light" panose="020F0302020204030204" pitchFamily="34" charset="0"/>
                <a:ea typeface="Calibri Light" panose="020F0302020204030204" pitchFamily="34" charset="0"/>
                <a:cs typeface="Calibri Light" panose="020F0302020204030204" pitchFamily="34" charset="0"/>
              </a:rPr>
            </a:br>
            <a:endParaRPr lang="de-DE" sz="1200" dirty="0">
              <a:latin typeface="Calibri Light" panose="020F0302020204030204" pitchFamily="34" charset="0"/>
              <a:ea typeface="Calibri Light" panose="020F0302020204030204" pitchFamily="34" charset="0"/>
              <a:cs typeface="Calibri Light" panose="020F0302020204030204" pitchFamily="34" charset="0"/>
            </a:endParaRPr>
          </a:p>
          <a:p>
            <a:r>
              <a:rPr lang="de-DE" sz="1200" i="1" dirty="0">
                <a:latin typeface="Calibri Light" panose="020F0302020204030204" pitchFamily="34" charset="0"/>
                <a:ea typeface="Calibri Light" panose="020F0302020204030204" pitchFamily="34" charset="0"/>
                <a:cs typeface="Calibri Light" panose="020F0302020204030204" pitchFamily="34" charset="0"/>
              </a:rPr>
              <a:t>„</a:t>
            </a:r>
            <a:r>
              <a:rPr lang="de-DE" sz="1200" i="1" dirty="0" err="1">
                <a:latin typeface="Calibri Light" panose="020F0302020204030204" pitchFamily="34" charset="0"/>
                <a:ea typeface="Calibri Light" panose="020F0302020204030204" pitchFamily="34" charset="0"/>
                <a:cs typeface="Calibri Light" panose="020F0302020204030204" pitchFamily="34" charset="0"/>
              </a:rPr>
              <a:t>GraphQL</a:t>
            </a:r>
            <a:r>
              <a:rPr lang="de-DE" sz="1200" i="1" dirty="0">
                <a:latin typeface="Calibri Light" panose="020F0302020204030204" pitchFamily="34" charset="0"/>
                <a:ea typeface="Calibri Light" panose="020F0302020204030204" pitchFamily="34" charset="0"/>
                <a:cs typeface="Calibri Light" panose="020F0302020204030204" pitchFamily="34" charset="0"/>
              </a:rPr>
              <a:t> wurde entwickelt, um eine schnellere, flexiblere und präzisere Client-Erfahrung zu ermöglichen als REST.“</a:t>
            </a:r>
            <a:endParaRPr lang="de-DE" sz="1200" dirty="0">
              <a:latin typeface="Calibri Light" panose="020F0302020204030204" pitchFamily="34" charset="0"/>
              <a:ea typeface="Calibri Light" panose="020F0302020204030204" pitchFamily="34" charset="0"/>
              <a:cs typeface="Calibri Light" panose="020F0302020204030204" pitchFamily="34" charset="0"/>
            </a:endParaRPr>
          </a:p>
          <a:p>
            <a:endParaRPr lang="fr-FR" dirty="0"/>
          </a:p>
        </p:txBody>
      </p:sp>
      <p:sp>
        <p:nvSpPr>
          <p:cNvPr id="15" name="ZoneTexte 14">
            <a:extLst>
              <a:ext uri="{FF2B5EF4-FFF2-40B4-BE49-F238E27FC236}">
                <a16:creationId xmlns:a16="http://schemas.microsoft.com/office/drawing/2014/main" id="{0F4468B4-DA2F-C4DA-97EB-A3B4C832826C}"/>
              </a:ext>
            </a:extLst>
          </p:cNvPr>
          <p:cNvSpPr txBox="1"/>
          <p:nvPr/>
        </p:nvSpPr>
        <p:spPr>
          <a:xfrm>
            <a:off x="4367284" y="709681"/>
            <a:ext cx="3896435" cy="4370427"/>
          </a:xfrm>
          <a:prstGeom prst="rect">
            <a:avLst/>
          </a:prstGeom>
          <a:noFill/>
        </p:spPr>
        <p:txBody>
          <a:bodyPr wrap="square" rtlCol="0">
            <a:spAutoFit/>
          </a:bodyPr>
          <a:lstStyle/>
          <a:p>
            <a:r>
              <a:rPr lang="de-DE" sz="1200" b="1" dirty="0">
                <a:latin typeface="Calibri Light" panose="020F0302020204030204" pitchFamily="34" charset="0"/>
                <a:ea typeface="Calibri Light" panose="020F0302020204030204" pitchFamily="34" charset="0"/>
                <a:cs typeface="Calibri Light" panose="020F0302020204030204" pitchFamily="34" charset="0"/>
              </a:rPr>
              <a:t>Warum wurde gRPC entwickelt (von Google im Jahr 2015)?</a:t>
            </a:r>
            <a:br>
              <a:rPr lang="de-DE" sz="1200" b="1" dirty="0">
                <a:latin typeface="Calibri Light" panose="020F0302020204030204" pitchFamily="34" charset="0"/>
                <a:ea typeface="Calibri Light" panose="020F0302020204030204" pitchFamily="34" charset="0"/>
                <a:cs typeface="Calibri Light" panose="020F0302020204030204" pitchFamily="34" charset="0"/>
              </a:rPr>
            </a:br>
            <a:endParaRPr lang="de-DE" sz="1200" b="1" dirty="0">
              <a:latin typeface="Calibri Light" panose="020F0302020204030204" pitchFamily="34" charset="0"/>
              <a:ea typeface="Calibri Light" panose="020F0302020204030204" pitchFamily="34" charset="0"/>
              <a:cs typeface="Calibri Light" panose="020F0302020204030204" pitchFamily="34" charset="0"/>
            </a:endParaRPr>
          </a:p>
          <a:p>
            <a:r>
              <a:rPr lang="de-DE" sz="1200" b="1" dirty="0">
                <a:latin typeface="Calibri Light" panose="020F0302020204030204" pitchFamily="34" charset="0"/>
                <a:ea typeface="Calibri Light" panose="020F0302020204030204" pitchFamily="34" charset="0"/>
                <a:cs typeface="Calibri Light" panose="020F0302020204030204" pitchFamily="34" charset="0"/>
              </a:rPr>
              <a:t>Problem:</a:t>
            </a:r>
            <a:br>
              <a:rPr lang="de-DE" sz="1200" dirty="0">
                <a:latin typeface="Calibri Light" panose="020F0302020204030204" pitchFamily="34" charset="0"/>
                <a:ea typeface="Calibri Light" panose="020F0302020204030204" pitchFamily="34" charset="0"/>
                <a:cs typeface="Calibri Light" panose="020F0302020204030204" pitchFamily="34" charset="0"/>
              </a:rPr>
            </a:br>
            <a:r>
              <a:rPr lang="de-DE" sz="1200" b="1" dirty="0">
                <a:latin typeface="Calibri Light" panose="020F0302020204030204" pitchFamily="34" charset="0"/>
                <a:ea typeface="Calibri Light" panose="020F0302020204030204" pitchFamily="34" charset="0"/>
                <a:cs typeface="Calibri Light" panose="020F0302020204030204" pitchFamily="34" charset="0"/>
              </a:rPr>
              <a:t>Mikroservices</a:t>
            </a:r>
            <a:r>
              <a:rPr lang="de-DE" sz="1200" dirty="0">
                <a:latin typeface="Calibri Light" panose="020F0302020204030204" pitchFamily="34" charset="0"/>
                <a:ea typeface="Calibri Light" panose="020F0302020204030204" pitchFamily="34" charset="0"/>
                <a:cs typeface="Calibri Light" panose="020F0302020204030204" pitchFamily="34" charset="0"/>
              </a:rPr>
              <a:t> müssen effizient miteinander kommunizieren.</a:t>
            </a:r>
            <a:br>
              <a:rPr lang="de-DE" sz="1200" dirty="0">
                <a:latin typeface="Calibri Light" panose="020F0302020204030204" pitchFamily="34" charset="0"/>
                <a:ea typeface="Calibri Light" panose="020F0302020204030204" pitchFamily="34" charset="0"/>
                <a:cs typeface="Calibri Light" panose="020F0302020204030204" pitchFamily="34" charset="0"/>
              </a:rPr>
            </a:br>
            <a:r>
              <a:rPr lang="de-DE" sz="1200" dirty="0">
                <a:latin typeface="Calibri Light" panose="020F0302020204030204" pitchFamily="34" charset="0"/>
                <a:ea typeface="Calibri Light" panose="020F0302020204030204" pitchFamily="34" charset="0"/>
                <a:cs typeface="Calibri Light" panose="020F0302020204030204" pitchFamily="34" charset="0"/>
              </a:rPr>
              <a:t>REST (HTTP/1.1 + JSON) ist </a:t>
            </a:r>
            <a:r>
              <a:rPr lang="de-DE" sz="1200" b="1" dirty="0">
                <a:latin typeface="Calibri Light" panose="020F0302020204030204" pitchFamily="34" charset="0"/>
                <a:ea typeface="Calibri Light" panose="020F0302020204030204" pitchFamily="34" charset="0"/>
                <a:cs typeface="Calibri Light" panose="020F0302020204030204" pitchFamily="34" charset="0"/>
              </a:rPr>
              <a:t>zu umfangreich, langsam</a:t>
            </a:r>
            <a:r>
              <a:rPr lang="de-DE" sz="1200" dirty="0">
                <a:latin typeface="Calibri Light" panose="020F0302020204030204" pitchFamily="34" charset="0"/>
                <a:ea typeface="Calibri Light" panose="020F0302020204030204" pitchFamily="34" charset="0"/>
                <a:cs typeface="Calibri Light" panose="020F0302020204030204" pitchFamily="34" charset="0"/>
              </a:rPr>
              <a:t> und </a:t>
            </a:r>
            <a:r>
              <a:rPr lang="de-DE" sz="1200" b="1" dirty="0">
                <a:latin typeface="Calibri Light" panose="020F0302020204030204" pitchFamily="34" charset="0"/>
                <a:ea typeface="Calibri Light" panose="020F0302020204030204" pitchFamily="34" charset="0"/>
                <a:cs typeface="Calibri Light" panose="020F0302020204030204" pitchFamily="34" charset="0"/>
              </a:rPr>
              <a:t>nicht für die Maschinen-zu-Maschinen-Kommunikation</a:t>
            </a:r>
            <a:r>
              <a:rPr lang="de-DE" sz="1200" dirty="0">
                <a:latin typeface="Calibri Light" panose="020F0302020204030204" pitchFamily="34" charset="0"/>
                <a:ea typeface="Calibri Light" panose="020F0302020204030204" pitchFamily="34" charset="0"/>
                <a:cs typeface="Calibri Light" panose="020F0302020204030204" pitchFamily="34" charset="0"/>
              </a:rPr>
              <a:t> optimiert.</a:t>
            </a:r>
            <a:br>
              <a:rPr lang="de-DE" sz="1200" dirty="0">
                <a:latin typeface="Calibri Light" panose="020F0302020204030204" pitchFamily="34" charset="0"/>
                <a:ea typeface="Calibri Light" panose="020F0302020204030204" pitchFamily="34" charset="0"/>
                <a:cs typeface="Calibri Light" panose="020F0302020204030204" pitchFamily="34" charset="0"/>
              </a:rPr>
            </a:br>
            <a:r>
              <a:rPr lang="de-DE" sz="1200" dirty="0">
                <a:latin typeface="Calibri Light" panose="020F0302020204030204" pitchFamily="34" charset="0"/>
                <a:ea typeface="Calibri Light" panose="020F0302020204030204" pitchFamily="34" charset="0"/>
                <a:cs typeface="Calibri Light" panose="020F0302020204030204" pitchFamily="34" charset="0"/>
              </a:rPr>
              <a:t>Es bestand Bedarf an </a:t>
            </a:r>
            <a:r>
              <a:rPr lang="de-DE" sz="1200" b="1" dirty="0">
                <a:latin typeface="Calibri Light" panose="020F0302020204030204" pitchFamily="34" charset="0"/>
                <a:ea typeface="Calibri Light" panose="020F0302020204030204" pitchFamily="34" charset="0"/>
                <a:cs typeface="Calibri Light" panose="020F0302020204030204" pitchFamily="34" charset="0"/>
              </a:rPr>
              <a:t>Streaming, Authentifizierung, Mehrsprachigkeit</a:t>
            </a:r>
            <a:r>
              <a:rPr lang="de-DE" sz="1200" dirty="0">
                <a:latin typeface="Calibri Light" panose="020F0302020204030204" pitchFamily="34" charset="0"/>
                <a:ea typeface="Calibri Light" panose="020F0302020204030204" pitchFamily="34" charset="0"/>
                <a:cs typeface="Calibri Light" panose="020F0302020204030204" pitchFamily="34" charset="0"/>
              </a:rPr>
              <a:t>, usw.</a:t>
            </a:r>
            <a:br>
              <a:rPr lang="de-DE" sz="1200" dirty="0">
                <a:latin typeface="Calibri Light" panose="020F0302020204030204" pitchFamily="34" charset="0"/>
                <a:ea typeface="Calibri Light" panose="020F0302020204030204" pitchFamily="34" charset="0"/>
                <a:cs typeface="Calibri Light" panose="020F0302020204030204" pitchFamily="34" charset="0"/>
              </a:rPr>
            </a:br>
            <a:endParaRPr lang="de-DE" sz="1200" dirty="0">
              <a:latin typeface="Calibri Light" panose="020F0302020204030204" pitchFamily="34" charset="0"/>
              <a:ea typeface="Calibri Light" panose="020F0302020204030204" pitchFamily="34" charset="0"/>
              <a:cs typeface="Calibri Light" panose="020F0302020204030204" pitchFamily="34" charset="0"/>
            </a:endParaRPr>
          </a:p>
          <a:p>
            <a:r>
              <a:rPr lang="de-DE" sz="1200" b="1" dirty="0">
                <a:latin typeface="Calibri Light" panose="020F0302020204030204" pitchFamily="34" charset="0"/>
                <a:ea typeface="Calibri Light" panose="020F0302020204030204" pitchFamily="34" charset="0"/>
                <a:cs typeface="Calibri Light" panose="020F0302020204030204" pitchFamily="34" charset="0"/>
              </a:rPr>
              <a:t>Lösung (gRPC):</a:t>
            </a:r>
            <a:br>
              <a:rPr lang="de-DE" sz="1200" dirty="0">
                <a:latin typeface="Calibri Light" panose="020F0302020204030204" pitchFamily="34" charset="0"/>
                <a:ea typeface="Calibri Light" panose="020F0302020204030204" pitchFamily="34" charset="0"/>
                <a:cs typeface="Calibri Light" panose="020F0302020204030204" pitchFamily="34" charset="0"/>
              </a:rPr>
            </a:br>
            <a:r>
              <a:rPr lang="de-DE" sz="1200" dirty="0">
                <a:latin typeface="Calibri Light" panose="020F0302020204030204" pitchFamily="34" charset="0"/>
                <a:ea typeface="Calibri Light" panose="020F0302020204030204" pitchFamily="34" charset="0"/>
                <a:cs typeface="Calibri Light" panose="020F0302020204030204" pitchFamily="34" charset="0"/>
              </a:rPr>
              <a:t>Verwendet </a:t>
            </a:r>
            <a:r>
              <a:rPr lang="de-DE" sz="1200" b="1" dirty="0">
                <a:latin typeface="Calibri Light" panose="020F0302020204030204" pitchFamily="34" charset="0"/>
                <a:ea typeface="Calibri Light" panose="020F0302020204030204" pitchFamily="34" charset="0"/>
                <a:cs typeface="Calibri Light" panose="020F0302020204030204" pitchFamily="34" charset="0"/>
              </a:rPr>
              <a:t>HTTP/2</a:t>
            </a:r>
            <a:r>
              <a:rPr lang="de-DE" sz="1200" dirty="0">
                <a:latin typeface="Calibri Light" panose="020F0302020204030204" pitchFamily="34" charset="0"/>
                <a:ea typeface="Calibri Light" panose="020F0302020204030204" pitchFamily="34" charset="0"/>
                <a:cs typeface="Calibri Light" panose="020F0302020204030204" pitchFamily="34" charset="0"/>
              </a:rPr>
              <a:t> → Multiplexing, Kompression.</a:t>
            </a:r>
            <a:br>
              <a:rPr lang="de-DE" sz="1200" dirty="0">
                <a:latin typeface="Calibri Light" panose="020F0302020204030204" pitchFamily="34" charset="0"/>
                <a:ea typeface="Calibri Light" panose="020F0302020204030204" pitchFamily="34" charset="0"/>
                <a:cs typeface="Calibri Light" panose="020F0302020204030204" pitchFamily="34" charset="0"/>
              </a:rPr>
            </a:br>
            <a:r>
              <a:rPr lang="de-DE" sz="1200" dirty="0">
                <a:latin typeface="Calibri Light" panose="020F0302020204030204" pitchFamily="34" charset="0"/>
                <a:ea typeface="Calibri Light" panose="020F0302020204030204" pitchFamily="34" charset="0"/>
                <a:cs typeface="Calibri Light" panose="020F0302020204030204" pitchFamily="34" charset="0"/>
              </a:rPr>
              <a:t>Verwendet </a:t>
            </a:r>
            <a:r>
              <a:rPr lang="de-DE" sz="1200" b="1" dirty="0" err="1">
                <a:latin typeface="Calibri Light" panose="020F0302020204030204" pitchFamily="34" charset="0"/>
                <a:ea typeface="Calibri Light" panose="020F0302020204030204" pitchFamily="34" charset="0"/>
                <a:cs typeface="Calibri Light" panose="020F0302020204030204" pitchFamily="34" charset="0"/>
              </a:rPr>
              <a:t>Protobuf</a:t>
            </a:r>
            <a:r>
              <a:rPr lang="de-DE" sz="1200" dirty="0">
                <a:latin typeface="Calibri Light" panose="020F0302020204030204" pitchFamily="34" charset="0"/>
                <a:ea typeface="Calibri Light" panose="020F0302020204030204" pitchFamily="34" charset="0"/>
                <a:cs typeface="Calibri Light" panose="020F0302020204030204" pitchFamily="34" charset="0"/>
              </a:rPr>
              <a:t> → Binärformat, sehr kompakt und schnell.</a:t>
            </a:r>
            <a:br>
              <a:rPr lang="de-DE" sz="1200" dirty="0">
                <a:latin typeface="Calibri Light" panose="020F0302020204030204" pitchFamily="34" charset="0"/>
                <a:ea typeface="Calibri Light" panose="020F0302020204030204" pitchFamily="34" charset="0"/>
                <a:cs typeface="Calibri Light" panose="020F0302020204030204" pitchFamily="34" charset="0"/>
              </a:rPr>
            </a:br>
            <a:r>
              <a:rPr lang="de-DE" sz="1200" dirty="0">
                <a:latin typeface="Calibri Light" panose="020F0302020204030204" pitchFamily="34" charset="0"/>
                <a:ea typeface="Calibri Light" panose="020F0302020204030204" pitchFamily="34" charset="0"/>
                <a:cs typeface="Calibri Light" panose="020F0302020204030204" pitchFamily="34" charset="0"/>
              </a:rPr>
              <a:t>Unterstützt </a:t>
            </a:r>
            <a:r>
              <a:rPr lang="de-DE" sz="1200" b="1" dirty="0">
                <a:latin typeface="Calibri Light" panose="020F0302020204030204" pitchFamily="34" charset="0"/>
                <a:ea typeface="Calibri Light" panose="020F0302020204030204" pitchFamily="34" charset="0"/>
                <a:cs typeface="Calibri Light" panose="020F0302020204030204" pitchFamily="34" charset="0"/>
              </a:rPr>
              <a:t>Streaming</a:t>
            </a:r>
            <a:r>
              <a:rPr lang="de-DE" sz="1200" dirty="0">
                <a:latin typeface="Calibri Light" panose="020F0302020204030204" pitchFamily="34" charset="0"/>
                <a:ea typeface="Calibri Light" panose="020F0302020204030204" pitchFamily="34" charset="0"/>
                <a:cs typeface="Calibri Light" panose="020F0302020204030204" pitchFamily="34" charset="0"/>
              </a:rPr>
              <a:t> (Client → Server, Server → Client, bidirektional).</a:t>
            </a:r>
            <a:br>
              <a:rPr lang="de-DE" sz="1200" dirty="0">
                <a:latin typeface="Calibri Light" panose="020F0302020204030204" pitchFamily="34" charset="0"/>
                <a:ea typeface="Calibri Light" panose="020F0302020204030204" pitchFamily="34" charset="0"/>
                <a:cs typeface="Calibri Light" panose="020F0302020204030204" pitchFamily="34" charset="0"/>
              </a:rPr>
            </a:br>
            <a:r>
              <a:rPr lang="de-DE" sz="1200" dirty="0">
                <a:latin typeface="Calibri Light" panose="020F0302020204030204" pitchFamily="34" charset="0"/>
                <a:ea typeface="Calibri Light" panose="020F0302020204030204" pitchFamily="34" charset="0"/>
                <a:cs typeface="Calibri Light" panose="020F0302020204030204" pitchFamily="34" charset="0"/>
              </a:rPr>
              <a:t>Generiert automatisch </a:t>
            </a:r>
            <a:r>
              <a:rPr lang="de-DE" sz="1200" b="1" dirty="0">
                <a:latin typeface="Calibri Light" panose="020F0302020204030204" pitchFamily="34" charset="0"/>
                <a:ea typeface="Calibri Light" panose="020F0302020204030204" pitchFamily="34" charset="0"/>
                <a:cs typeface="Calibri Light" panose="020F0302020204030204" pitchFamily="34" charset="0"/>
              </a:rPr>
              <a:t>Client- und Server-Code</a:t>
            </a:r>
            <a:r>
              <a:rPr lang="de-DE" sz="1200" dirty="0">
                <a:latin typeface="Calibri Light" panose="020F0302020204030204" pitchFamily="34" charset="0"/>
                <a:ea typeface="Calibri Light" panose="020F0302020204030204" pitchFamily="34" charset="0"/>
                <a:cs typeface="Calibri Light" panose="020F0302020204030204" pitchFamily="34" charset="0"/>
              </a:rPr>
              <a:t> in verschiedenen Programmiersprachen.</a:t>
            </a:r>
            <a:br>
              <a:rPr lang="de-DE" sz="1200" dirty="0">
                <a:latin typeface="Calibri Light" panose="020F0302020204030204" pitchFamily="34" charset="0"/>
                <a:ea typeface="Calibri Light" panose="020F0302020204030204" pitchFamily="34" charset="0"/>
                <a:cs typeface="Calibri Light" panose="020F0302020204030204" pitchFamily="34" charset="0"/>
              </a:rPr>
            </a:br>
            <a:endParaRPr lang="de-DE" sz="1200" dirty="0">
              <a:latin typeface="Calibri Light" panose="020F0302020204030204" pitchFamily="34" charset="0"/>
              <a:ea typeface="Calibri Light" panose="020F0302020204030204" pitchFamily="34" charset="0"/>
              <a:cs typeface="Calibri Light" panose="020F0302020204030204" pitchFamily="34" charset="0"/>
            </a:endParaRPr>
          </a:p>
          <a:p>
            <a:r>
              <a:rPr lang="de-DE" sz="1200" i="1" dirty="0">
                <a:latin typeface="Calibri Light" panose="020F0302020204030204" pitchFamily="34" charset="0"/>
                <a:ea typeface="Calibri Light" panose="020F0302020204030204" pitchFamily="34" charset="0"/>
                <a:cs typeface="Calibri Light" panose="020F0302020204030204" pitchFamily="34" charset="0"/>
              </a:rPr>
              <a:t>„gRPC wurde entwickelt, um eine ultraschnelle, effiziente und plattformübergreifende Kommunikation zwischen Microservices zu ermöglichen.“</a:t>
            </a:r>
            <a:endParaRPr lang="de-DE" sz="1200" dirty="0">
              <a:latin typeface="Calibri Light" panose="020F0302020204030204" pitchFamily="34" charset="0"/>
              <a:ea typeface="Calibri Light" panose="020F0302020204030204" pitchFamily="34" charset="0"/>
              <a:cs typeface="Calibri Light" panose="020F0302020204030204" pitchFamily="34" charset="0"/>
            </a:endParaRPr>
          </a:p>
          <a:p>
            <a:endParaRPr lang="fr-FR" dirty="0"/>
          </a:p>
        </p:txBody>
      </p:sp>
    </p:spTree>
    <p:extLst>
      <p:ext uri="{BB962C8B-B14F-4D97-AF65-F5344CB8AC3E}">
        <p14:creationId xmlns:p14="http://schemas.microsoft.com/office/powerpoint/2010/main" val="27178640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lèche : droite 2">
            <a:extLst>
              <a:ext uri="{FF2B5EF4-FFF2-40B4-BE49-F238E27FC236}">
                <a16:creationId xmlns:a16="http://schemas.microsoft.com/office/drawing/2014/main" id="{D0D96360-9F89-0845-37C9-A6E98E10123B}"/>
              </a:ext>
            </a:extLst>
          </p:cNvPr>
          <p:cNvSpPr/>
          <p:nvPr/>
        </p:nvSpPr>
        <p:spPr>
          <a:xfrm>
            <a:off x="-1" y="4178263"/>
            <a:ext cx="9216189" cy="1133289"/>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sp>
        <p:nvSpPr>
          <p:cNvPr id="4" name="Rectangle 3">
            <a:extLst>
              <a:ext uri="{FF2B5EF4-FFF2-40B4-BE49-F238E27FC236}">
                <a16:creationId xmlns:a16="http://schemas.microsoft.com/office/drawing/2014/main" id="{7A6B0ADC-C16D-6CDF-E224-0C72A34E20C0}"/>
              </a:ext>
            </a:extLst>
          </p:cNvPr>
          <p:cNvSpPr/>
          <p:nvPr/>
        </p:nvSpPr>
        <p:spPr>
          <a:xfrm rot="16200000">
            <a:off x="-45468" y="4497866"/>
            <a:ext cx="639481" cy="44254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fr-FR" dirty="0"/>
              <a:t>1976</a:t>
            </a:r>
          </a:p>
        </p:txBody>
      </p:sp>
      <p:cxnSp>
        <p:nvCxnSpPr>
          <p:cNvPr id="5" name="Connecteur droit 4">
            <a:extLst>
              <a:ext uri="{FF2B5EF4-FFF2-40B4-BE49-F238E27FC236}">
                <a16:creationId xmlns:a16="http://schemas.microsoft.com/office/drawing/2014/main" id="{E1B2C270-11A1-F985-632D-3C2158FB25CE}"/>
              </a:ext>
            </a:extLst>
          </p:cNvPr>
          <p:cNvCxnSpPr>
            <a:cxnSpLocks/>
          </p:cNvCxnSpPr>
          <p:nvPr/>
        </p:nvCxnSpPr>
        <p:spPr>
          <a:xfrm>
            <a:off x="270707" y="4259183"/>
            <a:ext cx="0" cy="140212"/>
          </a:xfrm>
          <a:prstGeom prst="line">
            <a:avLst/>
          </a:prstGeom>
        </p:spPr>
        <p:style>
          <a:lnRef idx="1">
            <a:schemeClr val="dk1"/>
          </a:lnRef>
          <a:fillRef idx="0">
            <a:schemeClr val="dk1"/>
          </a:fillRef>
          <a:effectRef idx="0">
            <a:schemeClr val="dk1"/>
          </a:effectRef>
          <a:fontRef idx="minor">
            <a:schemeClr val="tx1"/>
          </a:fontRef>
        </p:style>
      </p:cxnSp>
      <p:sp>
        <p:nvSpPr>
          <p:cNvPr id="6" name="Rectangle 5">
            <a:extLst>
              <a:ext uri="{FF2B5EF4-FFF2-40B4-BE49-F238E27FC236}">
                <a16:creationId xmlns:a16="http://schemas.microsoft.com/office/drawing/2014/main" id="{64F4F40C-817B-CA33-51B8-7E982AC91B4F}"/>
              </a:ext>
            </a:extLst>
          </p:cNvPr>
          <p:cNvSpPr/>
          <p:nvPr/>
        </p:nvSpPr>
        <p:spPr>
          <a:xfrm>
            <a:off x="22922" y="3982341"/>
            <a:ext cx="517358" cy="288757"/>
          </a:xfrm>
          <a:prstGeom prst="rect">
            <a:avLst/>
          </a:prstGeom>
          <a:solidFill>
            <a:srgbClr val="9F5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200" dirty="0"/>
              <a:t>RPC</a:t>
            </a:r>
            <a:endParaRPr lang="fr-FR" dirty="0"/>
          </a:p>
        </p:txBody>
      </p:sp>
      <p:sp>
        <p:nvSpPr>
          <p:cNvPr id="7" name="Rectangle 6">
            <a:extLst>
              <a:ext uri="{FF2B5EF4-FFF2-40B4-BE49-F238E27FC236}">
                <a16:creationId xmlns:a16="http://schemas.microsoft.com/office/drawing/2014/main" id="{92EDF386-BD6C-7C43-ED61-AE92EB195E0E}"/>
              </a:ext>
            </a:extLst>
          </p:cNvPr>
          <p:cNvSpPr/>
          <p:nvPr/>
        </p:nvSpPr>
        <p:spPr>
          <a:xfrm rot="16200000">
            <a:off x="-1052993" y="2455361"/>
            <a:ext cx="2669187" cy="288757"/>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fr-FR" dirty="0">
                <a:solidFill>
                  <a:srgbClr val="1E1C04"/>
                </a:solidFill>
              </a:rPr>
              <a:t>R</a:t>
            </a:r>
            <a:r>
              <a:rPr lang="fr-FR" dirty="0">
                <a:solidFill>
                  <a:srgbClr val="9F5F00"/>
                </a:solidFill>
              </a:rPr>
              <a:t>emote </a:t>
            </a:r>
            <a:r>
              <a:rPr lang="fr-FR" dirty="0">
                <a:solidFill>
                  <a:srgbClr val="1E1C04"/>
                </a:solidFill>
              </a:rPr>
              <a:t>P</a:t>
            </a:r>
            <a:r>
              <a:rPr lang="fr-FR" dirty="0">
                <a:solidFill>
                  <a:srgbClr val="9F5F00"/>
                </a:solidFill>
              </a:rPr>
              <a:t>rocedure</a:t>
            </a:r>
            <a:r>
              <a:rPr lang="fr-FR" dirty="0">
                <a:solidFill>
                  <a:srgbClr val="BEBB37"/>
                </a:solidFill>
              </a:rPr>
              <a:t> </a:t>
            </a:r>
            <a:r>
              <a:rPr lang="fr-FR" dirty="0">
                <a:solidFill>
                  <a:srgbClr val="1E1C04"/>
                </a:solidFill>
              </a:rPr>
              <a:t>C</a:t>
            </a:r>
            <a:r>
              <a:rPr lang="fr-FR" dirty="0">
                <a:solidFill>
                  <a:srgbClr val="9F5F00"/>
                </a:solidFill>
              </a:rPr>
              <a:t>all</a:t>
            </a:r>
          </a:p>
        </p:txBody>
      </p:sp>
      <p:sp>
        <p:nvSpPr>
          <p:cNvPr id="8" name="Rectangle 7">
            <a:extLst>
              <a:ext uri="{FF2B5EF4-FFF2-40B4-BE49-F238E27FC236}">
                <a16:creationId xmlns:a16="http://schemas.microsoft.com/office/drawing/2014/main" id="{34AF990A-437F-3AB0-B2F2-1CF11FB52646}"/>
              </a:ext>
            </a:extLst>
          </p:cNvPr>
          <p:cNvSpPr/>
          <p:nvPr/>
        </p:nvSpPr>
        <p:spPr>
          <a:xfrm rot="16200000">
            <a:off x="701044" y="4497866"/>
            <a:ext cx="639481" cy="44254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fr-FR" dirty="0"/>
              <a:t>1991</a:t>
            </a:r>
          </a:p>
        </p:txBody>
      </p:sp>
      <p:sp>
        <p:nvSpPr>
          <p:cNvPr id="9" name="Rectangle 8">
            <a:extLst>
              <a:ext uri="{FF2B5EF4-FFF2-40B4-BE49-F238E27FC236}">
                <a16:creationId xmlns:a16="http://schemas.microsoft.com/office/drawing/2014/main" id="{AB393B31-65F9-C730-F1DE-7DCF638D4D82}"/>
              </a:ext>
            </a:extLst>
          </p:cNvPr>
          <p:cNvSpPr/>
          <p:nvPr/>
        </p:nvSpPr>
        <p:spPr>
          <a:xfrm>
            <a:off x="679193" y="3982341"/>
            <a:ext cx="746545" cy="288757"/>
          </a:xfrm>
          <a:prstGeom prst="rect">
            <a:avLst/>
          </a:prstGeom>
          <a:solidFill>
            <a:srgbClr val="9F5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200" dirty="0"/>
              <a:t>CORBA</a:t>
            </a:r>
            <a:endParaRPr lang="fr-FR" dirty="0"/>
          </a:p>
        </p:txBody>
      </p:sp>
      <p:sp>
        <p:nvSpPr>
          <p:cNvPr id="10" name="Rectangle 9">
            <a:extLst>
              <a:ext uri="{FF2B5EF4-FFF2-40B4-BE49-F238E27FC236}">
                <a16:creationId xmlns:a16="http://schemas.microsoft.com/office/drawing/2014/main" id="{1765473F-AAFC-1EF7-48C4-0EA7A7ED86F8}"/>
              </a:ext>
            </a:extLst>
          </p:cNvPr>
          <p:cNvSpPr/>
          <p:nvPr/>
        </p:nvSpPr>
        <p:spPr>
          <a:xfrm rot="16200000">
            <a:off x="-890635" y="1846851"/>
            <a:ext cx="3886207" cy="288757"/>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fr-FR" dirty="0">
                <a:solidFill>
                  <a:srgbClr val="1E1C04"/>
                </a:solidFill>
              </a:rPr>
              <a:t>C</a:t>
            </a:r>
            <a:r>
              <a:rPr lang="fr-FR" dirty="0">
                <a:solidFill>
                  <a:srgbClr val="9F5F00"/>
                </a:solidFill>
              </a:rPr>
              <a:t>ommon </a:t>
            </a:r>
            <a:r>
              <a:rPr lang="fr-FR" dirty="0">
                <a:solidFill>
                  <a:schemeClr val="bg1">
                    <a:lumMod val="10000"/>
                  </a:schemeClr>
                </a:solidFill>
              </a:rPr>
              <a:t>O</a:t>
            </a:r>
            <a:r>
              <a:rPr lang="fr-FR" dirty="0">
                <a:solidFill>
                  <a:srgbClr val="9F5F00"/>
                </a:solidFill>
              </a:rPr>
              <a:t>bject </a:t>
            </a:r>
            <a:r>
              <a:rPr lang="fr-FR" dirty="0">
                <a:solidFill>
                  <a:schemeClr val="bg1">
                    <a:lumMod val="10000"/>
                  </a:schemeClr>
                </a:solidFill>
              </a:rPr>
              <a:t>R</a:t>
            </a:r>
            <a:r>
              <a:rPr lang="fr-FR" dirty="0">
                <a:solidFill>
                  <a:srgbClr val="9F5F00"/>
                </a:solidFill>
              </a:rPr>
              <a:t>equest </a:t>
            </a:r>
            <a:r>
              <a:rPr lang="fr-FR" dirty="0">
                <a:solidFill>
                  <a:schemeClr val="bg1">
                    <a:lumMod val="10000"/>
                  </a:schemeClr>
                </a:solidFill>
              </a:rPr>
              <a:t>B</a:t>
            </a:r>
            <a:r>
              <a:rPr lang="fr-FR" dirty="0">
                <a:solidFill>
                  <a:srgbClr val="9F5F00"/>
                </a:solidFill>
              </a:rPr>
              <a:t>rocker </a:t>
            </a:r>
            <a:r>
              <a:rPr lang="fr-FR" dirty="0">
                <a:solidFill>
                  <a:schemeClr val="bg1">
                    <a:lumMod val="10000"/>
                  </a:schemeClr>
                </a:solidFill>
              </a:rPr>
              <a:t>A</a:t>
            </a:r>
            <a:r>
              <a:rPr lang="fr-FR" dirty="0">
                <a:solidFill>
                  <a:srgbClr val="9F5F00"/>
                </a:solidFill>
              </a:rPr>
              <a:t>rchitecture</a:t>
            </a:r>
          </a:p>
        </p:txBody>
      </p:sp>
      <p:cxnSp>
        <p:nvCxnSpPr>
          <p:cNvPr id="11" name="Connecteur droit 10">
            <a:extLst>
              <a:ext uri="{FF2B5EF4-FFF2-40B4-BE49-F238E27FC236}">
                <a16:creationId xmlns:a16="http://schemas.microsoft.com/office/drawing/2014/main" id="{D7636DD5-D14D-CB2C-5BE4-F56F1BE7F745}"/>
              </a:ext>
            </a:extLst>
          </p:cNvPr>
          <p:cNvCxnSpPr>
            <a:cxnSpLocks/>
          </p:cNvCxnSpPr>
          <p:nvPr/>
        </p:nvCxnSpPr>
        <p:spPr>
          <a:xfrm>
            <a:off x="1036421" y="4253089"/>
            <a:ext cx="0" cy="140212"/>
          </a:xfrm>
          <a:prstGeom prst="line">
            <a:avLst/>
          </a:prstGeom>
        </p:spPr>
        <p:style>
          <a:lnRef idx="1">
            <a:schemeClr val="dk1"/>
          </a:lnRef>
          <a:fillRef idx="0">
            <a:schemeClr val="dk1"/>
          </a:fillRef>
          <a:effectRef idx="0">
            <a:schemeClr val="dk1"/>
          </a:effectRef>
          <a:fontRef idx="minor">
            <a:schemeClr val="tx1"/>
          </a:fontRef>
        </p:style>
      </p:cxnSp>
      <p:sp>
        <p:nvSpPr>
          <p:cNvPr id="12" name="Rectangle 11">
            <a:extLst>
              <a:ext uri="{FF2B5EF4-FFF2-40B4-BE49-F238E27FC236}">
                <a16:creationId xmlns:a16="http://schemas.microsoft.com/office/drawing/2014/main" id="{FF145519-7B7A-9604-30F7-A3080AD094C9}"/>
              </a:ext>
            </a:extLst>
          </p:cNvPr>
          <p:cNvSpPr/>
          <p:nvPr/>
        </p:nvSpPr>
        <p:spPr>
          <a:xfrm rot="16200000">
            <a:off x="1518860" y="4497866"/>
            <a:ext cx="639481" cy="44254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fr-FR" dirty="0"/>
              <a:t>1996</a:t>
            </a:r>
          </a:p>
        </p:txBody>
      </p:sp>
      <p:cxnSp>
        <p:nvCxnSpPr>
          <p:cNvPr id="13" name="Connecteur droit 12">
            <a:extLst>
              <a:ext uri="{FF2B5EF4-FFF2-40B4-BE49-F238E27FC236}">
                <a16:creationId xmlns:a16="http://schemas.microsoft.com/office/drawing/2014/main" id="{7B104626-D0CA-BEBD-A3B9-815816C0EE44}"/>
              </a:ext>
            </a:extLst>
          </p:cNvPr>
          <p:cNvCxnSpPr>
            <a:cxnSpLocks/>
          </p:cNvCxnSpPr>
          <p:nvPr/>
        </p:nvCxnSpPr>
        <p:spPr>
          <a:xfrm>
            <a:off x="1810971" y="4259183"/>
            <a:ext cx="0" cy="140212"/>
          </a:xfrm>
          <a:prstGeom prst="line">
            <a:avLst/>
          </a:prstGeom>
        </p:spPr>
        <p:style>
          <a:lnRef idx="1">
            <a:schemeClr val="dk1"/>
          </a:lnRef>
          <a:fillRef idx="0">
            <a:schemeClr val="dk1"/>
          </a:fillRef>
          <a:effectRef idx="0">
            <a:schemeClr val="dk1"/>
          </a:effectRef>
          <a:fontRef idx="minor">
            <a:schemeClr val="tx1"/>
          </a:fontRef>
        </p:style>
      </p:cxnSp>
      <p:sp>
        <p:nvSpPr>
          <p:cNvPr id="14" name="Rectangle 13">
            <a:extLst>
              <a:ext uri="{FF2B5EF4-FFF2-40B4-BE49-F238E27FC236}">
                <a16:creationId xmlns:a16="http://schemas.microsoft.com/office/drawing/2014/main" id="{D8732D6C-FFFC-69B0-5BA7-494325ECEA46}"/>
              </a:ext>
            </a:extLst>
          </p:cNvPr>
          <p:cNvSpPr/>
          <p:nvPr/>
        </p:nvSpPr>
        <p:spPr>
          <a:xfrm>
            <a:off x="1478961" y="3982341"/>
            <a:ext cx="712489" cy="288757"/>
          </a:xfrm>
          <a:prstGeom prst="rect">
            <a:avLst/>
          </a:prstGeom>
          <a:solidFill>
            <a:srgbClr val="9F5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200" dirty="0"/>
              <a:t>DCOM</a:t>
            </a:r>
            <a:endParaRPr lang="fr-FR" dirty="0"/>
          </a:p>
        </p:txBody>
      </p:sp>
      <p:sp>
        <p:nvSpPr>
          <p:cNvPr id="15" name="Rectangle 14">
            <a:extLst>
              <a:ext uri="{FF2B5EF4-FFF2-40B4-BE49-F238E27FC236}">
                <a16:creationId xmlns:a16="http://schemas.microsoft.com/office/drawing/2014/main" id="{7BC548AC-DA20-FE35-32E9-7DBAAEA701EA}"/>
              </a:ext>
            </a:extLst>
          </p:cNvPr>
          <p:cNvSpPr/>
          <p:nvPr/>
        </p:nvSpPr>
        <p:spPr>
          <a:xfrm rot="16200000">
            <a:off x="240534" y="2230822"/>
            <a:ext cx="3118262" cy="288757"/>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fr-FR" dirty="0">
                <a:solidFill>
                  <a:schemeClr val="bg1">
                    <a:lumMod val="10000"/>
                  </a:schemeClr>
                </a:solidFill>
              </a:rPr>
              <a:t>D</a:t>
            </a:r>
            <a:r>
              <a:rPr lang="fr-FR" dirty="0">
                <a:solidFill>
                  <a:srgbClr val="9F5F00"/>
                </a:solidFill>
              </a:rPr>
              <a:t>istributed </a:t>
            </a:r>
            <a:r>
              <a:rPr lang="fr-FR" dirty="0">
                <a:solidFill>
                  <a:schemeClr val="bg1">
                    <a:lumMod val="10000"/>
                  </a:schemeClr>
                </a:solidFill>
              </a:rPr>
              <a:t>C</a:t>
            </a:r>
            <a:r>
              <a:rPr lang="fr-FR" dirty="0">
                <a:solidFill>
                  <a:srgbClr val="9F5F00"/>
                </a:solidFill>
              </a:rPr>
              <a:t>omponent </a:t>
            </a:r>
            <a:r>
              <a:rPr lang="fr-FR" dirty="0">
                <a:solidFill>
                  <a:schemeClr val="bg1">
                    <a:lumMod val="10000"/>
                  </a:schemeClr>
                </a:solidFill>
              </a:rPr>
              <a:t>O</a:t>
            </a:r>
            <a:r>
              <a:rPr lang="fr-FR" dirty="0">
                <a:solidFill>
                  <a:srgbClr val="9F5F00"/>
                </a:solidFill>
              </a:rPr>
              <a:t>bject </a:t>
            </a:r>
            <a:r>
              <a:rPr lang="fr-FR" dirty="0">
                <a:solidFill>
                  <a:schemeClr val="bg1">
                    <a:lumMod val="10000"/>
                  </a:schemeClr>
                </a:solidFill>
              </a:rPr>
              <a:t>M</a:t>
            </a:r>
            <a:r>
              <a:rPr lang="fr-FR" dirty="0">
                <a:solidFill>
                  <a:srgbClr val="9F5F00"/>
                </a:solidFill>
              </a:rPr>
              <a:t>odel</a:t>
            </a:r>
          </a:p>
        </p:txBody>
      </p:sp>
      <p:sp>
        <p:nvSpPr>
          <p:cNvPr id="21" name="Rectangle 20">
            <a:extLst>
              <a:ext uri="{FF2B5EF4-FFF2-40B4-BE49-F238E27FC236}">
                <a16:creationId xmlns:a16="http://schemas.microsoft.com/office/drawing/2014/main" id="{0C67C415-D4A6-80F9-3C1E-A60B2C8F8FAA}"/>
              </a:ext>
            </a:extLst>
          </p:cNvPr>
          <p:cNvSpPr/>
          <p:nvPr/>
        </p:nvSpPr>
        <p:spPr>
          <a:xfrm rot="16200000">
            <a:off x="2293410" y="4497866"/>
            <a:ext cx="639481" cy="44254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fr-FR" dirty="0"/>
              <a:t>1997</a:t>
            </a:r>
          </a:p>
        </p:txBody>
      </p:sp>
      <p:cxnSp>
        <p:nvCxnSpPr>
          <p:cNvPr id="22" name="Connecteur droit 21">
            <a:extLst>
              <a:ext uri="{FF2B5EF4-FFF2-40B4-BE49-F238E27FC236}">
                <a16:creationId xmlns:a16="http://schemas.microsoft.com/office/drawing/2014/main" id="{584AE8CC-4FA8-F5D9-610C-4641435126E6}"/>
              </a:ext>
            </a:extLst>
          </p:cNvPr>
          <p:cNvCxnSpPr>
            <a:cxnSpLocks/>
          </p:cNvCxnSpPr>
          <p:nvPr/>
        </p:nvCxnSpPr>
        <p:spPr>
          <a:xfrm>
            <a:off x="2585521" y="4259183"/>
            <a:ext cx="0" cy="140212"/>
          </a:xfrm>
          <a:prstGeom prst="line">
            <a:avLst/>
          </a:prstGeom>
        </p:spPr>
        <p:style>
          <a:lnRef idx="1">
            <a:schemeClr val="dk1"/>
          </a:lnRef>
          <a:fillRef idx="0">
            <a:schemeClr val="dk1"/>
          </a:fillRef>
          <a:effectRef idx="0">
            <a:schemeClr val="dk1"/>
          </a:effectRef>
          <a:fontRef idx="minor">
            <a:schemeClr val="tx1"/>
          </a:fontRef>
        </p:style>
      </p:cxnSp>
      <p:sp>
        <p:nvSpPr>
          <p:cNvPr id="23" name="Rectangle 22">
            <a:extLst>
              <a:ext uri="{FF2B5EF4-FFF2-40B4-BE49-F238E27FC236}">
                <a16:creationId xmlns:a16="http://schemas.microsoft.com/office/drawing/2014/main" id="{E7C1822C-F8D3-F6F9-470C-34CEE9D7452D}"/>
              </a:ext>
            </a:extLst>
          </p:cNvPr>
          <p:cNvSpPr/>
          <p:nvPr/>
        </p:nvSpPr>
        <p:spPr>
          <a:xfrm>
            <a:off x="2253511" y="3982341"/>
            <a:ext cx="712489" cy="288757"/>
          </a:xfrm>
          <a:prstGeom prst="rect">
            <a:avLst/>
          </a:prstGeom>
          <a:solidFill>
            <a:srgbClr val="9F5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200" dirty="0"/>
              <a:t>RMI</a:t>
            </a:r>
            <a:endParaRPr lang="fr-FR" dirty="0"/>
          </a:p>
        </p:txBody>
      </p:sp>
      <p:sp>
        <p:nvSpPr>
          <p:cNvPr id="24" name="Rectangle 23">
            <a:extLst>
              <a:ext uri="{FF2B5EF4-FFF2-40B4-BE49-F238E27FC236}">
                <a16:creationId xmlns:a16="http://schemas.microsoft.com/office/drawing/2014/main" id="{C3F1B487-0DA5-DF08-400C-5C0536915A01}"/>
              </a:ext>
            </a:extLst>
          </p:cNvPr>
          <p:cNvSpPr/>
          <p:nvPr/>
        </p:nvSpPr>
        <p:spPr>
          <a:xfrm rot="16200000">
            <a:off x="1155081" y="2370819"/>
            <a:ext cx="2838269" cy="288757"/>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fr-FR" dirty="0">
                <a:solidFill>
                  <a:schemeClr val="bg1">
                    <a:lumMod val="10000"/>
                  </a:schemeClr>
                </a:solidFill>
              </a:rPr>
              <a:t>R</a:t>
            </a:r>
            <a:r>
              <a:rPr lang="fr-FR" dirty="0">
                <a:solidFill>
                  <a:srgbClr val="9F5F00"/>
                </a:solidFill>
              </a:rPr>
              <a:t>emote </a:t>
            </a:r>
            <a:r>
              <a:rPr lang="fr-FR" dirty="0">
                <a:solidFill>
                  <a:schemeClr val="bg1">
                    <a:lumMod val="10000"/>
                  </a:schemeClr>
                </a:solidFill>
              </a:rPr>
              <a:t>M</a:t>
            </a:r>
            <a:r>
              <a:rPr lang="fr-FR" dirty="0">
                <a:solidFill>
                  <a:srgbClr val="9F5F00"/>
                </a:solidFill>
              </a:rPr>
              <a:t>ethode </a:t>
            </a:r>
            <a:r>
              <a:rPr lang="fr-FR" dirty="0">
                <a:solidFill>
                  <a:schemeClr val="bg1">
                    <a:lumMod val="10000"/>
                  </a:schemeClr>
                </a:solidFill>
              </a:rPr>
              <a:t>I</a:t>
            </a:r>
            <a:r>
              <a:rPr lang="fr-FR" dirty="0">
                <a:solidFill>
                  <a:srgbClr val="9F5F00"/>
                </a:solidFill>
              </a:rPr>
              <a:t>nvocation</a:t>
            </a:r>
          </a:p>
        </p:txBody>
      </p:sp>
      <p:sp>
        <p:nvSpPr>
          <p:cNvPr id="25" name="Rectangle 24">
            <a:extLst>
              <a:ext uri="{FF2B5EF4-FFF2-40B4-BE49-F238E27FC236}">
                <a16:creationId xmlns:a16="http://schemas.microsoft.com/office/drawing/2014/main" id="{915452DF-F65E-4C00-5B62-CE8CFD4FF379}"/>
              </a:ext>
            </a:extLst>
          </p:cNvPr>
          <p:cNvSpPr/>
          <p:nvPr/>
        </p:nvSpPr>
        <p:spPr>
          <a:xfrm rot="16200000">
            <a:off x="2998964" y="4497866"/>
            <a:ext cx="639481" cy="44254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fr-FR" dirty="0"/>
              <a:t>1997</a:t>
            </a:r>
          </a:p>
        </p:txBody>
      </p:sp>
      <p:cxnSp>
        <p:nvCxnSpPr>
          <p:cNvPr id="26" name="Connecteur droit 25">
            <a:extLst>
              <a:ext uri="{FF2B5EF4-FFF2-40B4-BE49-F238E27FC236}">
                <a16:creationId xmlns:a16="http://schemas.microsoft.com/office/drawing/2014/main" id="{B1DDCF4B-C19D-0D85-38EA-ABE184215F75}"/>
              </a:ext>
            </a:extLst>
          </p:cNvPr>
          <p:cNvCxnSpPr>
            <a:cxnSpLocks/>
          </p:cNvCxnSpPr>
          <p:nvPr/>
        </p:nvCxnSpPr>
        <p:spPr>
          <a:xfrm>
            <a:off x="3309123" y="4259183"/>
            <a:ext cx="0" cy="140212"/>
          </a:xfrm>
          <a:prstGeom prst="line">
            <a:avLst/>
          </a:prstGeom>
        </p:spPr>
        <p:style>
          <a:lnRef idx="1">
            <a:schemeClr val="dk1"/>
          </a:lnRef>
          <a:fillRef idx="0">
            <a:schemeClr val="dk1"/>
          </a:fillRef>
          <a:effectRef idx="0">
            <a:schemeClr val="dk1"/>
          </a:effectRef>
          <a:fontRef idx="minor">
            <a:schemeClr val="tx1"/>
          </a:fontRef>
        </p:style>
      </p:cxnSp>
      <p:sp>
        <p:nvSpPr>
          <p:cNvPr id="27" name="Rectangle 26">
            <a:extLst>
              <a:ext uri="{FF2B5EF4-FFF2-40B4-BE49-F238E27FC236}">
                <a16:creationId xmlns:a16="http://schemas.microsoft.com/office/drawing/2014/main" id="{643AF4F1-E04F-E955-2E7E-165C9B47F179}"/>
              </a:ext>
            </a:extLst>
          </p:cNvPr>
          <p:cNvSpPr/>
          <p:nvPr/>
        </p:nvSpPr>
        <p:spPr>
          <a:xfrm>
            <a:off x="3019225" y="3982341"/>
            <a:ext cx="585639" cy="288757"/>
          </a:xfrm>
          <a:prstGeom prst="rect">
            <a:avLst/>
          </a:prstGeom>
          <a:solidFill>
            <a:srgbClr val="9F5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200" dirty="0"/>
              <a:t>HTTP1.1</a:t>
            </a:r>
            <a:endParaRPr lang="fr-FR" dirty="0"/>
          </a:p>
        </p:txBody>
      </p:sp>
      <p:sp>
        <p:nvSpPr>
          <p:cNvPr id="28" name="Rectangle 27">
            <a:extLst>
              <a:ext uri="{FF2B5EF4-FFF2-40B4-BE49-F238E27FC236}">
                <a16:creationId xmlns:a16="http://schemas.microsoft.com/office/drawing/2014/main" id="{E001B276-AEFF-B2F6-947D-B46792E52FC2}"/>
              </a:ext>
            </a:extLst>
          </p:cNvPr>
          <p:cNvSpPr/>
          <p:nvPr/>
        </p:nvSpPr>
        <p:spPr>
          <a:xfrm rot="16200000">
            <a:off x="1890717" y="2370821"/>
            <a:ext cx="2838264" cy="288757"/>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fr-FR" dirty="0">
                <a:solidFill>
                  <a:schemeClr val="bg1">
                    <a:lumMod val="10000"/>
                  </a:schemeClr>
                </a:solidFill>
              </a:rPr>
              <a:t>H</a:t>
            </a:r>
            <a:r>
              <a:rPr lang="fr-FR" dirty="0">
                <a:solidFill>
                  <a:srgbClr val="9F5F00"/>
                </a:solidFill>
              </a:rPr>
              <a:t>yper </a:t>
            </a:r>
            <a:r>
              <a:rPr lang="fr-FR" dirty="0">
                <a:solidFill>
                  <a:schemeClr val="bg1">
                    <a:lumMod val="10000"/>
                  </a:schemeClr>
                </a:solidFill>
              </a:rPr>
              <a:t>T</a:t>
            </a:r>
            <a:r>
              <a:rPr lang="fr-FR" dirty="0">
                <a:solidFill>
                  <a:srgbClr val="9F5F00"/>
                </a:solidFill>
              </a:rPr>
              <a:t>ext </a:t>
            </a:r>
            <a:r>
              <a:rPr lang="fr-FR" dirty="0">
                <a:solidFill>
                  <a:schemeClr val="bg1">
                    <a:lumMod val="10000"/>
                  </a:schemeClr>
                </a:solidFill>
              </a:rPr>
              <a:t>T</a:t>
            </a:r>
            <a:r>
              <a:rPr lang="fr-FR" dirty="0">
                <a:solidFill>
                  <a:srgbClr val="9F5F00"/>
                </a:solidFill>
              </a:rPr>
              <a:t>ransfer </a:t>
            </a:r>
            <a:r>
              <a:rPr lang="fr-FR" dirty="0">
                <a:solidFill>
                  <a:schemeClr val="bg1">
                    <a:lumMod val="10000"/>
                  </a:schemeClr>
                </a:solidFill>
              </a:rPr>
              <a:t>P</a:t>
            </a:r>
            <a:r>
              <a:rPr lang="fr-FR" dirty="0">
                <a:solidFill>
                  <a:srgbClr val="9F5F00"/>
                </a:solidFill>
              </a:rPr>
              <a:t>rotocol 1.1</a:t>
            </a:r>
          </a:p>
        </p:txBody>
      </p:sp>
      <p:sp>
        <p:nvSpPr>
          <p:cNvPr id="29" name="Rectangle 28">
            <a:extLst>
              <a:ext uri="{FF2B5EF4-FFF2-40B4-BE49-F238E27FC236}">
                <a16:creationId xmlns:a16="http://schemas.microsoft.com/office/drawing/2014/main" id="{7B48407A-E090-A49E-98F0-2DBEC6400E7B}"/>
              </a:ext>
            </a:extLst>
          </p:cNvPr>
          <p:cNvSpPr/>
          <p:nvPr/>
        </p:nvSpPr>
        <p:spPr>
          <a:xfrm rot="16200000">
            <a:off x="4237639" y="4497866"/>
            <a:ext cx="639481" cy="44254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fr-FR" dirty="0"/>
              <a:t>1999</a:t>
            </a:r>
          </a:p>
        </p:txBody>
      </p:sp>
      <p:cxnSp>
        <p:nvCxnSpPr>
          <p:cNvPr id="30" name="Connecteur droit 29">
            <a:extLst>
              <a:ext uri="{FF2B5EF4-FFF2-40B4-BE49-F238E27FC236}">
                <a16:creationId xmlns:a16="http://schemas.microsoft.com/office/drawing/2014/main" id="{34224090-B65B-15F9-4FD7-8E079679FCFD}"/>
              </a:ext>
            </a:extLst>
          </p:cNvPr>
          <p:cNvCxnSpPr>
            <a:cxnSpLocks/>
          </p:cNvCxnSpPr>
          <p:nvPr/>
        </p:nvCxnSpPr>
        <p:spPr>
          <a:xfrm>
            <a:off x="4523737" y="4259183"/>
            <a:ext cx="0" cy="140212"/>
          </a:xfrm>
          <a:prstGeom prst="line">
            <a:avLst/>
          </a:prstGeom>
        </p:spPr>
        <p:style>
          <a:lnRef idx="1">
            <a:schemeClr val="dk1"/>
          </a:lnRef>
          <a:fillRef idx="0">
            <a:schemeClr val="dk1"/>
          </a:fillRef>
          <a:effectRef idx="0">
            <a:schemeClr val="dk1"/>
          </a:effectRef>
          <a:fontRef idx="minor">
            <a:schemeClr val="tx1"/>
          </a:fontRef>
        </p:style>
      </p:cxnSp>
      <p:sp>
        <p:nvSpPr>
          <p:cNvPr id="31" name="Rectangle 30">
            <a:extLst>
              <a:ext uri="{FF2B5EF4-FFF2-40B4-BE49-F238E27FC236}">
                <a16:creationId xmlns:a16="http://schemas.microsoft.com/office/drawing/2014/main" id="{D1D6F0A6-7E43-AA7A-4073-56FA5894EFDB}"/>
              </a:ext>
            </a:extLst>
          </p:cNvPr>
          <p:cNvSpPr/>
          <p:nvPr/>
        </p:nvSpPr>
        <p:spPr>
          <a:xfrm>
            <a:off x="4241127" y="3982341"/>
            <a:ext cx="565002" cy="288757"/>
          </a:xfrm>
          <a:prstGeom prst="rect">
            <a:avLst/>
          </a:prstGeom>
          <a:solidFill>
            <a:srgbClr val="9F5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200" dirty="0"/>
              <a:t>XML-RPC</a:t>
            </a:r>
            <a:endParaRPr lang="fr-FR" dirty="0"/>
          </a:p>
        </p:txBody>
      </p:sp>
      <p:sp>
        <p:nvSpPr>
          <p:cNvPr id="32" name="Rectangle 31">
            <a:extLst>
              <a:ext uri="{FF2B5EF4-FFF2-40B4-BE49-F238E27FC236}">
                <a16:creationId xmlns:a16="http://schemas.microsoft.com/office/drawing/2014/main" id="{EAC0D30F-5703-5812-C065-E45162563F20}"/>
              </a:ext>
            </a:extLst>
          </p:cNvPr>
          <p:cNvSpPr/>
          <p:nvPr/>
        </p:nvSpPr>
        <p:spPr>
          <a:xfrm rot="16200000">
            <a:off x="3123372" y="2370818"/>
            <a:ext cx="2838271" cy="288757"/>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fr-FR" dirty="0">
                <a:solidFill>
                  <a:schemeClr val="bg1">
                    <a:lumMod val="10000"/>
                  </a:schemeClr>
                </a:solidFill>
              </a:rPr>
              <a:t>XML R</a:t>
            </a:r>
            <a:r>
              <a:rPr lang="fr-FR" dirty="0">
                <a:solidFill>
                  <a:srgbClr val="9F5F00"/>
                </a:solidFill>
              </a:rPr>
              <a:t>emote </a:t>
            </a:r>
            <a:r>
              <a:rPr lang="fr-FR" dirty="0">
                <a:solidFill>
                  <a:schemeClr val="bg1">
                    <a:lumMod val="10000"/>
                  </a:schemeClr>
                </a:solidFill>
              </a:rPr>
              <a:t>P</a:t>
            </a:r>
            <a:r>
              <a:rPr lang="fr-FR" dirty="0">
                <a:solidFill>
                  <a:srgbClr val="9F5F00"/>
                </a:solidFill>
              </a:rPr>
              <a:t>rocedure </a:t>
            </a:r>
            <a:r>
              <a:rPr lang="fr-FR" dirty="0">
                <a:solidFill>
                  <a:schemeClr val="bg1">
                    <a:lumMod val="10000"/>
                  </a:schemeClr>
                </a:solidFill>
              </a:rPr>
              <a:t>C</a:t>
            </a:r>
            <a:r>
              <a:rPr lang="fr-FR" dirty="0">
                <a:solidFill>
                  <a:srgbClr val="9F5F00"/>
                </a:solidFill>
              </a:rPr>
              <a:t>all</a:t>
            </a:r>
          </a:p>
        </p:txBody>
      </p:sp>
      <p:sp>
        <p:nvSpPr>
          <p:cNvPr id="33" name="Rectangle 32">
            <a:extLst>
              <a:ext uri="{FF2B5EF4-FFF2-40B4-BE49-F238E27FC236}">
                <a16:creationId xmlns:a16="http://schemas.microsoft.com/office/drawing/2014/main" id="{34262191-3185-BE19-B200-B7E6BF24EEB3}"/>
              </a:ext>
            </a:extLst>
          </p:cNvPr>
          <p:cNvSpPr/>
          <p:nvPr/>
        </p:nvSpPr>
        <p:spPr>
          <a:xfrm rot="16200000">
            <a:off x="3625595" y="4497866"/>
            <a:ext cx="639481" cy="44254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fr-FR" dirty="0"/>
              <a:t>1998</a:t>
            </a:r>
          </a:p>
        </p:txBody>
      </p:sp>
      <p:cxnSp>
        <p:nvCxnSpPr>
          <p:cNvPr id="34" name="Connecteur droit 33">
            <a:extLst>
              <a:ext uri="{FF2B5EF4-FFF2-40B4-BE49-F238E27FC236}">
                <a16:creationId xmlns:a16="http://schemas.microsoft.com/office/drawing/2014/main" id="{FC565522-B389-087B-23CF-17C998CFB6DA}"/>
              </a:ext>
            </a:extLst>
          </p:cNvPr>
          <p:cNvCxnSpPr>
            <a:cxnSpLocks/>
          </p:cNvCxnSpPr>
          <p:nvPr/>
        </p:nvCxnSpPr>
        <p:spPr>
          <a:xfrm>
            <a:off x="3935754" y="4259183"/>
            <a:ext cx="0" cy="140212"/>
          </a:xfrm>
          <a:prstGeom prst="line">
            <a:avLst/>
          </a:prstGeom>
        </p:spPr>
        <p:style>
          <a:lnRef idx="1">
            <a:schemeClr val="dk1"/>
          </a:lnRef>
          <a:fillRef idx="0">
            <a:schemeClr val="dk1"/>
          </a:fillRef>
          <a:effectRef idx="0">
            <a:schemeClr val="dk1"/>
          </a:effectRef>
          <a:fontRef idx="minor">
            <a:schemeClr val="tx1"/>
          </a:fontRef>
        </p:style>
      </p:cxnSp>
      <p:sp>
        <p:nvSpPr>
          <p:cNvPr id="35" name="Rectangle 34">
            <a:extLst>
              <a:ext uri="{FF2B5EF4-FFF2-40B4-BE49-F238E27FC236}">
                <a16:creationId xmlns:a16="http://schemas.microsoft.com/office/drawing/2014/main" id="{88F5C2A9-EC9F-2FC2-0F05-2500EECF3FEF}"/>
              </a:ext>
            </a:extLst>
          </p:cNvPr>
          <p:cNvSpPr/>
          <p:nvPr/>
        </p:nvSpPr>
        <p:spPr>
          <a:xfrm>
            <a:off x="3675936" y="3982341"/>
            <a:ext cx="506056" cy="288757"/>
          </a:xfrm>
          <a:prstGeom prst="rect">
            <a:avLst/>
          </a:prstGeom>
          <a:solidFill>
            <a:srgbClr val="9F5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200" dirty="0"/>
              <a:t>XML</a:t>
            </a:r>
            <a:endParaRPr lang="fr-FR" dirty="0"/>
          </a:p>
        </p:txBody>
      </p:sp>
      <p:sp>
        <p:nvSpPr>
          <p:cNvPr id="36" name="Rectangle 35">
            <a:extLst>
              <a:ext uri="{FF2B5EF4-FFF2-40B4-BE49-F238E27FC236}">
                <a16:creationId xmlns:a16="http://schemas.microsoft.com/office/drawing/2014/main" id="{A9E4CE0E-D4AE-649A-54E2-E993FC3AFB54}"/>
              </a:ext>
            </a:extLst>
          </p:cNvPr>
          <p:cNvSpPr/>
          <p:nvPr/>
        </p:nvSpPr>
        <p:spPr>
          <a:xfrm rot="16200000">
            <a:off x="2511332" y="2370820"/>
            <a:ext cx="2838267" cy="288757"/>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fr-FR" dirty="0">
                <a:solidFill>
                  <a:srgbClr val="9F5F00"/>
                </a:solidFill>
              </a:rPr>
              <a:t>e</a:t>
            </a:r>
            <a:r>
              <a:rPr lang="fr-FR" dirty="0">
                <a:solidFill>
                  <a:srgbClr val="1E1C04"/>
                </a:solidFill>
              </a:rPr>
              <a:t>X</a:t>
            </a:r>
            <a:r>
              <a:rPr lang="fr-FR" dirty="0">
                <a:solidFill>
                  <a:srgbClr val="9F5F00"/>
                </a:solidFill>
              </a:rPr>
              <a:t>tensible </a:t>
            </a:r>
            <a:r>
              <a:rPr lang="fr-FR" dirty="0">
                <a:solidFill>
                  <a:srgbClr val="1E1C04"/>
                </a:solidFill>
              </a:rPr>
              <a:t>M</a:t>
            </a:r>
            <a:r>
              <a:rPr lang="fr-FR" dirty="0">
                <a:solidFill>
                  <a:srgbClr val="9F5F00"/>
                </a:solidFill>
              </a:rPr>
              <a:t>arkup </a:t>
            </a:r>
            <a:r>
              <a:rPr lang="fr-FR" dirty="0">
                <a:solidFill>
                  <a:srgbClr val="1E1C04"/>
                </a:solidFill>
              </a:rPr>
              <a:t>L</a:t>
            </a:r>
            <a:r>
              <a:rPr lang="fr-FR" dirty="0">
                <a:solidFill>
                  <a:srgbClr val="9F5F00"/>
                </a:solidFill>
              </a:rPr>
              <a:t>anguage</a:t>
            </a:r>
          </a:p>
        </p:txBody>
      </p:sp>
      <p:sp>
        <p:nvSpPr>
          <p:cNvPr id="37" name="Rectangle 36">
            <a:extLst>
              <a:ext uri="{FF2B5EF4-FFF2-40B4-BE49-F238E27FC236}">
                <a16:creationId xmlns:a16="http://schemas.microsoft.com/office/drawing/2014/main" id="{D224F67F-0083-47EE-591E-9FC796041D9D}"/>
              </a:ext>
            </a:extLst>
          </p:cNvPr>
          <p:cNvSpPr/>
          <p:nvPr/>
        </p:nvSpPr>
        <p:spPr>
          <a:xfrm rot="16200000">
            <a:off x="4881889" y="4497866"/>
            <a:ext cx="639481" cy="44254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fr-FR" dirty="0"/>
              <a:t>1999</a:t>
            </a:r>
          </a:p>
        </p:txBody>
      </p:sp>
      <p:cxnSp>
        <p:nvCxnSpPr>
          <p:cNvPr id="38" name="Connecteur droit 37">
            <a:extLst>
              <a:ext uri="{FF2B5EF4-FFF2-40B4-BE49-F238E27FC236}">
                <a16:creationId xmlns:a16="http://schemas.microsoft.com/office/drawing/2014/main" id="{645A7261-B2DB-FFA9-C5AD-A3A2F277E0A8}"/>
              </a:ext>
            </a:extLst>
          </p:cNvPr>
          <p:cNvCxnSpPr>
            <a:cxnSpLocks/>
          </p:cNvCxnSpPr>
          <p:nvPr/>
        </p:nvCxnSpPr>
        <p:spPr>
          <a:xfrm>
            <a:off x="5167987" y="4259183"/>
            <a:ext cx="0" cy="140212"/>
          </a:xfrm>
          <a:prstGeom prst="line">
            <a:avLst/>
          </a:prstGeom>
        </p:spPr>
        <p:style>
          <a:lnRef idx="1">
            <a:schemeClr val="dk1"/>
          </a:lnRef>
          <a:fillRef idx="0">
            <a:schemeClr val="dk1"/>
          </a:fillRef>
          <a:effectRef idx="0">
            <a:schemeClr val="dk1"/>
          </a:effectRef>
          <a:fontRef idx="minor">
            <a:schemeClr val="tx1"/>
          </a:fontRef>
        </p:style>
      </p:cxnSp>
      <p:sp>
        <p:nvSpPr>
          <p:cNvPr id="39" name="Rectangle 38">
            <a:extLst>
              <a:ext uri="{FF2B5EF4-FFF2-40B4-BE49-F238E27FC236}">
                <a16:creationId xmlns:a16="http://schemas.microsoft.com/office/drawing/2014/main" id="{ACD6EAA2-8F13-D4EA-B17E-F7E57E83A040}"/>
              </a:ext>
            </a:extLst>
          </p:cNvPr>
          <p:cNvSpPr/>
          <p:nvPr/>
        </p:nvSpPr>
        <p:spPr>
          <a:xfrm>
            <a:off x="4873344" y="3982341"/>
            <a:ext cx="613048" cy="288757"/>
          </a:xfrm>
          <a:prstGeom prst="rect">
            <a:avLst/>
          </a:prstGeom>
          <a:solidFill>
            <a:srgbClr val="9F5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200" dirty="0"/>
              <a:t>SOAP</a:t>
            </a:r>
            <a:endParaRPr lang="fr-FR" dirty="0"/>
          </a:p>
        </p:txBody>
      </p:sp>
      <p:sp>
        <p:nvSpPr>
          <p:cNvPr id="40" name="Rectangle 39">
            <a:extLst>
              <a:ext uri="{FF2B5EF4-FFF2-40B4-BE49-F238E27FC236}">
                <a16:creationId xmlns:a16="http://schemas.microsoft.com/office/drawing/2014/main" id="{9CB30F83-EA57-139B-C986-4FCAD9229446}"/>
              </a:ext>
            </a:extLst>
          </p:cNvPr>
          <p:cNvSpPr/>
          <p:nvPr/>
        </p:nvSpPr>
        <p:spPr>
          <a:xfrm rot="16200000">
            <a:off x="3743555" y="2370817"/>
            <a:ext cx="2838273" cy="288757"/>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fr-FR" dirty="0">
                <a:solidFill>
                  <a:srgbClr val="1E1C04"/>
                </a:solidFill>
              </a:rPr>
              <a:t>S</a:t>
            </a:r>
            <a:r>
              <a:rPr lang="fr-FR" dirty="0">
                <a:solidFill>
                  <a:srgbClr val="9F5F00"/>
                </a:solidFill>
              </a:rPr>
              <a:t>imple </a:t>
            </a:r>
            <a:r>
              <a:rPr lang="fr-FR" dirty="0">
                <a:solidFill>
                  <a:srgbClr val="1E1C04"/>
                </a:solidFill>
              </a:rPr>
              <a:t>O</a:t>
            </a:r>
            <a:r>
              <a:rPr lang="fr-FR" dirty="0">
                <a:solidFill>
                  <a:srgbClr val="9F5F00"/>
                </a:solidFill>
              </a:rPr>
              <a:t>bject </a:t>
            </a:r>
            <a:r>
              <a:rPr lang="fr-FR" dirty="0">
                <a:solidFill>
                  <a:srgbClr val="1E1C04"/>
                </a:solidFill>
              </a:rPr>
              <a:t>A</a:t>
            </a:r>
            <a:r>
              <a:rPr lang="fr-FR" dirty="0">
                <a:solidFill>
                  <a:srgbClr val="9F5F00"/>
                </a:solidFill>
              </a:rPr>
              <a:t>ccess </a:t>
            </a:r>
            <a:r>
              <a:rPr lang="fr-FR" dirty="0">
                <a:solidFill>
                  <a:srgbClr val="1E1C04"/>
                </a:solidFill>
              </a:rPr>
              <a:t>P</a:t>
            </a:r>
            <a:r>
              <a:rPr lang="fr-FR" dirty="0">
                <a:solidFill>
                  <a:srgbClr val="9F5F00"/>
                </a:solidFill>
              </a:rPr>
              <a:t>rotocol</a:t>
            </a:r>
          </a:p>
        </p:txBody>
      </p:sp>
      <p:sp>
        <p:nvSpPr>
          <p:cNvPr id="41" name="Rectangle 40">
            <a:extLst>
              <a:ext uri="{FF2B5EF4-FFF2-40B4-BE49-F238E27FC236}">
                <a16:creationId xmlns:a16="http://schemas.microsoft.com/office/drawing/2014/main" id="{5B2C2478-007A-AF3B-56D9-A77FB5481467}"/>
              </a:ext>
            </a:extLst>
          </p:cNvPr>
          <p:cNvSpPr/>
          <p:nvPr/>
        </p:nvSpPr>
        <p:spPr>
          <a:xfrm rot="16200000">
            <a:off x="5537596" y="4497866"/>
            <a:ext cx="639481" cy="44254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fr-FR" dirty="0"/>
              <a:t>2000</a:t>
            </a:r>
          </a:p>
        </p:txBody>
      </p:sp>
      <p:cxnSp>
        <p:nvCxnSpPr>
          <p:cNvPr id="42" name="Connecteur droit 41">
            <a:extLst>
              <a:ext uri="{FF2B5EF4-FFF2-40B4-BE49-F238E27FC236}">
                <a16:creationId xmlns:a16="http://schemas.microsoft.com/office/drawing/2014/main" id="{B517B38A-50AF-8E14-FB64-1B8700FF9AAD}"/>
              </a:ext>
            </a:extLst>
          </p:cNvPr>
          <p:cNvCxnSpPr>
            <a:cxnSpLocks/>
          </p:cNvCxnSpPr>
          <p:nvPr/>
        </p:nvCxnSpPr>
        <p:spPr>
          <a:xfrm>
            <a:off x="5823694" y="4259183"/>
            <a:ext cx="0" cy="140212"/>
          </a:xfrm>
          <a:prstGeom prst="line">
            <a:avLst/>
          </a:prstGeom>
        </p:spPr>
        <p:style>
          <a:lnRef idx="1">
            <a:schemeClr val="dk1"/>
          </a:lnRef>
          <a:fillRef idx="0">
            <a:schemeClr val="dk1"/>
          </a:fillRef>
          <a:effectRef idx="0">
            <a:schemeClr val="dk1"/>
          </a:effectRef>
          <a:fontRef idx="minor">
            <a:schemeClr val="tx1"/>
          </a:fontRef>
        </p:style>
      </p:cxnSp>
      <p:sp>
        <p:nvSpPr>
          <p:cNvPr id="43" name="Rectangle 42">
            <a:extLst>
              <a:ext uri="{FF2B5EF4-FFF2-40B4-BE49-F238E27FC236}">
                <a16:creationId xmlns:a16="http://schemas.microsoft.com/office/drawing/2014/main" id="{567AFC61-0D72-04B6-ED60-716FF4210E42}"/>
              </a:ext>
            </a:extLst>
          </p:cNvPr>
          <p:cNvSpPr/>
          <p:nvPr/>
        </p:nvSpPr>
        <p:spPr>
          <a:xfrm>
            <a:off x="5529051" y="3982341"/>
            <a:ext cx="613048" cy="288757"/>
          </a:xfrm>
          <a:prstGeom prst="rect">
            <a:avLst/>
          </a:prstGeom>
          <a:solidFill>
            <a:srgbClr val="9F5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200" dirty="0"/>
              <a:t>REST</a:t>
            </a:r>
            <a:endParaRPr lang="fr-FR" dirty="0"/>
          </a:p>
        </p:txBody>
      </p:sp>
      <p:sp>
        <p:nvSpPr>
          <p:cNvPr id="44" name="Rectangle 43">
            <a:extLst>
              <a:ext uri="{FF2B5EF4-FFF2-40B4-BE49-F238E27FC236}">
                <a16:creationId xmlns:a16="http://schemas.microsoft.com/office/drawing/2014/main" id="{BFB04089-BB1F-0863-B16C-535A80BFC195}"/>
              </a:ext>
            </a:extLst>
          </p:cNvPr>
          <p:cNvSpPr/>
          <p:nvPr/>
        </p:nvSpPr>
        <p:spPr>
          <a:xfrm rot="16200000">
            <a:off x="4399261" y="2370816"/>
            <a:ext cx="2838275" cy="288757"/>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fr-FR" dirty="0">
                <a:solidFill>
                  <a:srgbClr val="1E1C04"/>
                </a:solidFill>
              </a:rPr>
              <a:t>R</a:t>
            </a:r>
            <a:r>
              <a:rPr lang="fr-FR" dirty="0">
                <a:solidFill>
                  <a:srgbClr val="9F5F00"/>
                </a:solidFill>
              </a:rPr>
              <a:t>epresentational </a:t>
            </a:r>
            <a:r>
              <a:rPr lang="fr-FR" dirty="0">
                <a:solidFill>
                  <a:srgbClr val="1E1C04"/>
                </a:solidFill>
              </a:rPr>
              <a:t>S</a:t>
            </a:r>
            <a:r>
              <a:rPr lang="fr-FR" dirty="0">
                <a:solidFill>
                  <a:srgbClr val="9F5F00"/>
                </a:solidFill>
              </a:rPr>
              <a:t>tate </a:t>
            </a:r>
            <a:r>
              <a:rPr lang="fr-FR" dirty="0">
                <a:solidFill>
                  <a:srgbClr val="1E1C04"/>
                </a:solidFill>
              </a:rPr>
              <a:t>T</a:t>
            </a:r>
            <a:r>
              <a:rPr lang="fr-FR" dirty="0">
                <a:solidFill>
                  <a:srgbClr val="9F5F00"/>
                </a:solidFill>
              </a:rPr>
              <a:t>ransfer</a:t>
            </a:r>
          </a:p>
        </p:txBody>
      </p:sp>
      <p:sp>
        <p:nvSpPr>
          <p:cNvPr id="45" name="Rectangle 44">
            <a:extLst>
              <a:ext uri="{FF2B5EF4-FFF2-40B4-BE49-F238E27FC236}">
                <a16:creationId xmlns:a16="http://schemas.microsoft.com/office/drawing/2014/main" id="{4819E03D-33BE-5484-D41F-65789334387E}"/>
              </a:ext>
            </a:extLst>
          </p:cNvPr>
          <p:cNvSpPr/>
          <p:nvPr/>
        </p:nvSpPr>
        <p:spPr>
          <a:xfrm rot="16200000">
            <a:off x="6116025" y="4497866"/>
            <a:ext cx="639481" cy="44254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fr-FR" dirty="0"/>
              <a:t>2011</a:t>
            </a:r>
          </a:p>
        </p:txBody>
      </p:sp>
      <p:cxnSp>
        <p:nvCxnSpPr>
          <p:cNvPr id="46" name="Connecteur droit 45">
            <a:extLst>
              <a:ext uri="{FF2B5EF4-FFF2-40B4-BE49-F238E27FC236}">
                <a16:creationId xmlns:a16="http://schemas.microsoft.com/office/drawing/2014/main" id="{D06EC433-6B9C-5DE1-5C4B-BA63EF00C810}"/>
              </a:ext>
            </a:extLst>
          </p:cNvPr>
          <p:cNvCxnSpPr>
            <a:cxnSpLocks/>
          </p:cNvCxnSpPr>
          <p:nvPr/>
        </p:nvCxnSpPr>
        <p:spPr>
          <a:xfrm>
            <a:off x="6402123" y="4259183"/>
            <a:ext cx="0" cy="140212"/>
          </a:xfrm>
          <a:prstGeom prst="line">
            <a:avLst/>
          </a:prstGeom>
        </p:spPr>
        <p:style>
          <a:lnRef idx="1">
            <a:schemeClr val="dk1"/>
          </a:lnRef>
          <a:fillRef idx="0">
            <a:schemeClr val="dk1"/>
          </a:fillRef>
          <a:effectRef idx="0">
            <a:schemeClr val="dk1"/>
          </a:effectRef>
          <a:fontRef idx="minor">
            <a:schemeClr val="tx1"/>
          </a:fontRef>
        </p:style>
      </p:cxnSp>
      <p:sp>
        <p:nvSpPr>
          <p:cNvPr id="47" name="Rectangle 46">
            <a:extLst>
              <a:ext uri="{FF2B5EF4-FFF2-40B4-BE49-F238E27FC236}">
                <a16:creationId xmlns:a16="http://schemas.microsoft.com/office/drawing/2014/main" id="{513DE153-93E7-5235-6915-A9B6336762A9}"/>
              </a:ext>
            </a:extLst>
          </p:cNvPr>
          <p:cNvSpPr/>
          <p:nvPr/>
        </p:nvSpPr>
        <p:spPr>
          <a:xfrm>
            <a:off x="6185686" y="3982341"/>
            <a:ext cx="433727" cy="288757"/>
          </a:xfrm>
          <a:prstGeom prst="rect">
            <a:avLst/>
          </a:prstGeom>
          <a:solidFill>
            <a:srgbClr val="9F5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200" dirty="0"/>
              <a:t>WS</a:t>
            </a:r>
            <a:endParaRPr lang="fr-FR" dirty="0"/>
          </a:p>
        </p:txBody>
      </p:sp>
      <p:sp>
        <p:nvSpPr>
          <p:cNvPr id="48" name="Rectangle 47">
            <a:extLst>
              <a:ext uri="{FF2B5EF4-FFF2-40B4-BE49-F238E27FC236}">
                <a16:creationId xmlns:a16="http://schemas.microsoft.com/office/drawing/2014/main" id="{883C564E-E558-7A00-626C-8BFB71F4A4BC}"/>
              </a:ext>
            </a:extLst>
          </p:cNvPr>
          <p:cNvSpPr/>
          <p:nvPr/>
        </p:nvSpPr>
        <p:spPr>
          <a:xfrm rot="16200000">
            <a:off x="4971671" y="2370815"/>
            <a:ext cx="2838277" cy="288757"/>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fr-FR" dirty="0">
                <a:solidFill>
                  <a:schemeClr val="bg1">
                    <a:lumMod val="10000"/>
                  </a:schemeClr>
                </a:solidFill>
              </a:rPr>
              <a:t>W</a:t>
            </a:r>
            <a:r>
              <a:rPr lang="fr-FR" dirty="0">
                <a:solidFill>
                  <a:srgbClr val="9F5F00"/>
                </a:solidFill>
              </a:rPr>
              <a:t>eb </a:t>
            </a:r>
            <a:r>
              <a:rPr lang="fr-FR" dirty="0">
                <a:solidFill>
                  <a:schemeClr val="bg1">
                    <a:lumMod val="10000"/>
                  </a:schemeClr>
                </a:solidFill>
              </a:rPr>
              <a:t>S</a:t>
            </a:r>
            <a:r>
              <a:rPr lang="fr-FR" dirty="0">
                <a:solidFill>
                  <a:srgbClr val="9F5F00"/>
                </a:solidFill>
              </a:rPr>
              <a:t>ocket</a:t>
            </a:r>
          </a:p>
        </p:txBody>
      </p:sp>
      <p:sp>
        <p:nvSpPr>
          <p:cNvPr id="49" name="Rectangle 48">
            <a:extLst>
              <a:ext uri="{FF2B5EF4-FFF2-40B4-BE49-F238E27FC236}">
                <a16:creationId xmlns:a16="http://schemas.microsoft.com/office/drawing/2014/main" id="{24838669-1C8B-16E0-EB4A-33BB9B891404}"/>
              </a:ext>
            </a:extLst>
          </p:cNvPr>
          <p:cNvSpPr/>
          <p:nvPr/>
        </p:nvSpPr>
        <p:spPr>
          <a:xfrm rot="16200000">
            <a:off x="6674250" y="4497866"/>
            <a:ext cx="639481" cy="44254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dirty="0"/>
              <a:t>2012</a:t>
            </a:r>
          </a:p>
        </p:txBody>
      </p:sp>
      <p:cxnSp>
        <p:nvCxnSpPr>
          <p:cNvPr id="50" name="Connecteur droit 49">
            <a:extLst>
              <a:ext uri="{FF2B5EF4-FFF2-40B4-BE49-F238E27FC236}">
                <a16:creationId xmlns:a16="http://schemas.microsoft.com/office/drawing/2014/main" id="{2C6A5C2C-ADD3-A91F-4F7A-6EF96CD35830}"/>
              </a:ext>
            </a:extLst>
          </p:cNvPr>
          <p:cNvCxnSpPr>
            <a:cxnSpLocks/>
          </p:cNvCxnSpPr>
          <p:nvPr/>
        </p:nvCxnSpPr>
        <p:spPr>
          <a:xfrm>
            <a:off x="6960348" y="4259183"/>
            <a:ext cx="0" cy="140212"/>
          </a:xfrm>
          <a:prstGeom prst="line">
            <a:avLst/>
          </a:prstGeom>
        </p:spPr>
        <p:style>
          <a:lnRef idx="1">
            <a:schemeClr val="dk1"/>
          </a:lnRef>
          <a:fillRef idx="0">
            <a:schemeClr val="dk1"/>
          </a:fillRef>
          <a:effectRef idx="0">
            <a:schemeClr val="dk1"/>
          </a:effectRef>
          <a:fontRef idx="minor">
            <a:schemeClr val="tx1"/>
          </a:fontRef>
        </p:style>
      </p:cxnSp>
      <p:sp>
        <p:nvSpPr>
          <p:cNvPr id="51" name="Rectangle 50">
            <a:extLst>
              <a:ext uri="{FF2B5EF4-FFF2-40B4-BE49-F238E27FC236}">
                <a16:creationId xmlns:a16="http://schemas.microsoft.com/office/drawing/2014/main" id="{8B270B11-5AA6-4852-1EA7-1300A71A4B6C}"/>
              </a:ext>
            </a:extLst>
          </p:cNvPr>
          <p:cNvSpPr/>
          <p:nvPr/>
        </p:nvSpPr>
        <p:spPr>
          <a:xfrm>
            <a:off x="6701799" y="3982341"/>
            <a:ext cx="565267" cy="28875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fr-FR" sz="1200" dirty="0"/>
              <a:t>GrQL</a:t>
            </a:r>
            <a:endParaRPr lang="fr-FR" dirty="0"/>
          </a:p>
        </p:txBody>
      </p:sp>
      <p:sp>
        <p:nvSpPr>
          <p:cNvPr id="52" name="Rectangle 51">
            <a:extLst>
              <a:ext uri="{FF2B5EF4-FFF2-40B4-BE49-F238E27FC236}">
                <a16:creationId xmlns:a16="http://schemas.microsoft.com/office/drawing/2014/main" id="{D08011C1-6B64-FFDF-7355-DFFEB8DBBCDF}"/>
              </a:ext>
            </a:extLst>
          </p:cNvPr>
          <p:cNvSpPr/>
          <p:nvPr/>
        </p:nvSpPr>
        <p:spPr>
          <a:xfrm rot="16200000">
            <a:off x="5553959" y="2370814"/>
            <a:ext cx="2838279" cy="28875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fr-FR" dirty="0">
                <a:solidFill>
                  <a:schemeClr val="bg1">
                    <a:lumMod val="10000"/>
                  </a:schemeClr>
                </a:solidFill>
              </a:rPr>
              <a:t>G</a:t>
            </a:r>
            <a:r>
              <a:rPr lang="fr-FR" dirty="0">
                <a:solidFill>
                  <a:srgbClr val="9F5F00"/>
                </a:solidFill>
              </a:rPr>
              <a:t>raph </a:t>
            </a:r>
            <a:r>
              <a:rPr lang="fr-FR" dirty="0">
                <a:solidFill>
                  <a:schemeClr val="bg1">
                    <a:lumMod val="10000"/>
                  </a:schemeClr>
                </a:solidFill>
              </a:rPr>
              <a:t>Q</a:t>
            </a:r>
            <a:r>
              <a:rPr lang="fr-FR" dirty="0">
                <a:solidFill>
                  <a:srgbClr val="9F5F00"/>
                </a:solidFill>
              </a:rPr>
              <a:t>uery </a:t>
            </a:r>
            <a:r>
              <a:rPr lang="fr-FR" dirty="0">
                <a:solidFill>
                  <a:schemeClr val="bg1">
                    <a:lumMod val="10000"/>
                  </a:schemeClr>
                </a:solidFill>
              </a:rPr>
              <a:t>L</a:t>
            </a:r>
            <a:r>
              <a:rPr lang="fr-FR" dirty="0">
                <a:solidFill>
                  <a:srgbClr val="9F5F00"/>
                </a:solidFill>
              </a:rPr>
              <a:t>anguage</a:t>
            </a:r>
          </a:p>
        </p:txBody>
      </p:sp>
      <p:sp>
        <p:nvSpPr>
          <p:cNvPr id="53" name="Rectangle 52">
            <a:extLst>
              <a:ext uri="{FF2B5EF4-FFF2-40B4-BE49-F238E27FC236}">
                <a16:creationId xmlns:a16="http://schemas.microsoft.com/office/drawing/2014/main" id="{0CE1BBDF-D522-344C-E5E3-EF0671308AA4}"/>
              </a:ext>
            </a:extLst>
          </p:cNvPr>
          <p:cNvSpPr/>
          <p:nvPr/>
        </p:nvSpPr>
        <p:spPr>
          <a:xfrm rot="16200000">
            <a:off x="7299184" y="4497866"/>
            <a:ext cx="639481" cy="44254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dirty="0"/>
              <a:t>2015</a:t>
            </a:r>
          </a:p>
        </p:txBody>
      </p:sp>
      <p:cxnSp>
        <p:nvCxnSpPr>
          <p:cNvPr id="54" name="Connecteur droit 53">
            <a:extLst>
              <a:ext uri="{FF2B5EF4-FFF2-40B4-BE49-F238E27FC236}">
                <a16:creationId xmlns:a16="http://schemas.microsoft.com/office/drawing/2014/main" id="{98586107-9A12-00D2-C976-AE9D1C8F81BF}"/>
              </a:ext>
            </a:extLst>
          </p:cNvPr>
          <p:cNvCxnSpPr>
            <a:cxnSpLocks/>
          </p:cNvCxnSpPr>
          <p:nvPr/>
        </p:nvCxnSpPr>
        <p:spPr>
          <a:xfrm>
            <a:off x="7621378" y="4259183"/>
            <a:ext cx="0" cy="140212"/>
          </a:xfrm>
          <a:prstGeom prst="line">
            <a:avLst/>
          </a:prstGeom>
        </p:spPr>
        <p:style>
          <a:lnRef idx="1">
            <a:schemeClr val="dk1"/>
          </a:lnRef>
          <a:fillRef idx="0">
            <a:schemeClr val="dk1"/>
          </a:fillRef>
          <a:effectRef idx="0">
            <a:schemeClr val="dk1"/>
          </a:effectRef>
          <a:fontRef idx="minor">
            <a:schemeClr val="tx1"/>
          </a:fontRef>
        </p:style>
      </p:cxnSp>
      <p:sp>
        <p:nvSpPr>
          <p:cNvPr id="55" name="Rectangle 54">
            <a:extLst>
              <a:ext uri="{FF2B5EF4-FFF2-40B4-BE49-F238E27FC236}">
                <a16:creationId xmlns:a16="http://schemas.microsoft.com/office/drawing/2014/main" id="{8F4C0321-D591-5523-ED1C-16B6D16FC072}"/>
              </a:ext>
            </a:extLst>
          </p:cNvPr>
          <p:cNvSpPr/>
          <p:nvPr/>
        </p:nvSpPr>
        <p:spPr>
          <a:xfrm>
            <a:off x="7326733" y="3982341"/>
            <a:ext cx="608093" cy="28875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fr-FR" sz="1200" dirty="0"/>
              <a:t>HTTP 2</a:t>
            </a:r>
            <a:endParaRPr lang="fr-FR" dirty="0"/>
          </a:p>
        </p:txBody>
      </p:sp>
      <p:sp>
        <p:nvSpPr>
          <p:cNvPr id="56" name="Rectangle 55">
            <a:extLst>
              <a:ext uri="{FF2B5EF4-FFF2-40B4-BE49-F238E27FC236}">
                <a16:creationId xmlns:a16="http://schemas.microsoft.com/office/drawing/2014/main" id="{1B57B27C-77C2-58C6-21F7-9277F3758D50}"/>
              </a:ext>
            </a:extLst>
          </p:cNvPr>
          <p:cNvSpPr/>
          <p:nvPr/>
        </p:nvSpPr>
        <p:spPr>
          <a:xfrm rot="16200000">
            <a:off x="6178892" y="2370813"/>
            <a:ext cx="2838281" cy="28875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fr-FR" dirty="0">
                <a:solidFill>
                  <a:schemeClr val="bg1">
                    <a:lumMod val="10000"/>
                  </a:schemeClr>
                </a:solidFill>
              </a:rPr>
              <a:t>H</a:t>
            </a:r>
            <a:r>
              <a:rPr lang="fr-FR" dirty="0">
                <a:solidFill>
                  <a:srgbClr val="9F5F00"/>
                </a:solidFill>
              </a:rPr>
              <a:t>yper </a:t>
            </a:r>
            <a:r>
              <a:rPr lang="fr-FR" dirty="0">
                <a:solidFill>
                  <a:schemeClr val="bg1">
                    <a:lumMod val="10000"/>
                  </a:schemeClr>
                </a:solidFill>
              </a:rPr>
              <a:t>T</a:t>
            </a:r>
            <a:r>
              <a:rPr lang="fr-FR" dirty="0">
                <a:solidFill>
                  <a:srgbClr val="9F5F00"/>
                </a:solidFill>
              </a:rPr>
              <a:t>ext </a:t>
            </a:r>
            <a:r>
              <a:rPr lang="fr-FR" dirty="0">
                <a:solidFill>
                  <a:schemeClr val="bg1">
                    <a:lumMod val="10000"/>
                  </a:schemeClr>
                </a:solidFill>
              </a:rPr>
              <a:t>T</a:t>
            </a:r>
            <a:r>
              <a:rPr lang="fr-FR" dirty="0">
                <a:solidFill>
                  <a:srgbClr val="9F5F00"/>
                </a:solidFill>
              </a:rPr>
              <a:t>ransfer </a:t>
            </a:r>
            <a:r>
              <a:rPr lang="fr-FR" dirty="0">
                <a:solidFill>
                  <a:schemeClr val="bg1">
                    <a:lumMod val="10000"/>
                  </a:schemeClr>
                </a:solidFill>
              </a:rPr>
              <a:t>P</a:t>
            </a:r>
            <a:r>
              <a:rPr lang="fr-FR" dirty="0">
                <a:solidFill>
                  <a:srgbClr val="9F5F00"/>
                </a:solidFill>
              </a:rPr>
              <a:t>rotocol </a:t>
            </a:r>
            <a:r>
              <a:rPr lang="fr-FR" dirty="0">
                <a:solidFill>
                  <a:schemeClr val="bg1">
                    <a:lumMod val="10000"/>
                  </a:schemeClr>
                </a:solidFill>
              </a:rPr>
              <a:t>2</a:t>
            </a:r>
          </a:p>
        </p:txBody>
      </p:sp>
      <p:sp>
        <p:nvSpPr>
          <p:cNvPr id="57" name="Rectangle 56">
            <a:extLst>
              <a:ext uri="{FF2B5EF4-FFF2-40B4-BE49-F238E27FC236}">
                <a16:creationId xmlns:a16="http://schemas.microsoft.com/office/drawing/2014/main" id="{5DB54ADA-9325-608E-7D6E-FA8E41D7A3BC}"/>
              </a:ext>
            </a:extLst>
          </p:cNvPr>
          <p:cNvSpPr/>
          <p:nvPr/>
        </p:nvSpPr>
        <p:spPr>
          <a:xfrm rot="16200000">
            <a:off x="7947463" y="4497866"/>
            <a:ext cx="639481" cy="44254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dirty="0"/>
              <a:t>2015</a:t>
            </a:r>
          </a:p>
        </p:txBody>
      </p:sp>
      <p:cxnSp>
        <p:nvCxnSpPr>
          <p:cNvPr id="58" name="Connecteur droit 57">
            <a:extLst>
              <a:ext uri="{FF2B5EF4-FFF2-40B4-BE49-F238E27FC236}">
                <a16:creationId xmlns:a16="http://schemas.microsoft.com/office/drawing/2014/main" id="{0EE15430-3078-D744-630C-C5BE84E4C2D2}"/>
              </a:ext>
            </a:extLst>
          </p:cNvPr>
          <p:cNvCxnSpPr>
            <a:cxnSpLocks/>
          </p:cNvCxnSpPr>
          <p:nvPr/>
        </p:nvCxnSpPr>
        <p:spPr>
          <a:xfrm>
            <a:off x="8269657" y="4259183"/>
            <a:ext cx="0" cy="140212"/>
          </a:xfrm>
          <a:prstGeom prst="line">
            <a:avLst/>
          </a:prstGeom>
        </p:spPr>
        <p:style>
          <a:lnRef idx="1">
            <a:schemeClr val="dk1"/>
          </a:lnRef>
          <a:fillRef idx="0">
            <a:schemeClr val="dk1"/>
          </a:fillRef>
          <a:effectRef idx="0">
            <a:schemeClr val="dk1"/>
          </a:effectRef>
          <a:fontRef idx="minor">
            <a:schemeClr val="tx1"/>
          </a:fontRef>
        </p:style>
      </p:cxnSp>
      <p:sp>
        <p:nvSpPr>
          <p:cNvPr id="59" name="Rectangle 58">
            <a:extLst>
              <a:ext uri="{FF2B5EF4-FFF2-40B4-BE49-F238E27FC236}">
                <a16:creationId xmlns:a16="http://schemas.microsoft.com/office/drawing/2014/main" id="{116C48A2-2E5A-D82B-786F-231D666213A6}"/>
              </a:ext>
            </a:extLst>
          </p:cNvPr>
          <p:cNvSpPr/>
          <p:nvPr/>
        </p:nvSpPr>
        <p:spPr>
          <a:xfrm>
            <a:off x="7975012" y="3982341"/>
            <a:ext cx="608093" cy="28875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fr-FR" sz="1200" dirty="0" err="1"/>
              <a:t>gRPC</a:t>
            </a:r>
            <a:endParaRPr lang="fr-FR" dirty="0"/>
          </a:p>
        </p:txBody>
      </p:sp>
      <p:sp>
        <p:nvSpPr>
          <p:cNvPr id="60" name="Rectangle 59">
            <a:extLst>
              <a:ext uri="{FF2B5EF4-FFF2-40B4-BE49-F238E27FC236}">
                <a16:creationId xmlns:a16="http://schemas.microsoft.com/office/drawing/2014/main" id="{817E0531-D3C9-C3BC-1DE9-A5D106839042}"/>
              </a:ext>
            </a:extLst>
          </p:cNvPr>
          <p:cNvSpPr/>
          <p:nvPr/>
        </p:nvSpPr>
        <p:spPr>
          <a:xfrm rot="16200000">
            <a:off x="6827171" y="2370812"/>
            <a:ext cx="2838282" cy="28875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fr-FR" dirty="0">
                <a:solidFill>
                  <a:schemeClr val="bg1">
                    <a:lumMod val="10000"/>
                  </a:schemeClr>
                </a:solidFill>
              </a:rPr>
              <a:t>H</a:t>
            </a:r>
            <a:r>
              <a:rPr lang="fr-FR" dirty="0">
                <a:solidFill>
                  <a:srgbClr val="9F5F00"/>
                </a:solidFill>
              </a:rPr>
              <a:t>yper </a:t>
            </a:r>
            <a:r>
              <a:rPr lang="fr-FR" dirty="0">
                <a:solidFill>
                  <a:schemeClr val="bg1">
                    <a:lumMod val="10000"/>
                  </a:schemeClr>
                </a:solidFill>
              </a:rPr>
              <a:t>T</a:t>
            </a:r>
            <a:r>
              <a:rPr lang="fr-FR" dirty="0">
                <a:solidFill>
                  <a:srgbClr val="9F5F00"/>
                </a:solidFill>
              </a:rPr>
              <a:t>ext </a:t>
            </a:r>
            <a:r>
              <a:rPr lang="fr-FR" dirty="0">
                <a:solidFill>
                  <a:schemeClr val="bg1">
                    <a:lumMod val="10000"/>
                  </a:schemeClr>
                </a:solidFill>
              </a:rPr>
              <a:t>T</a:t>
            </a:r>
            <a:r>
              <a:rPr lang="fr-FR" dirty="0">
                <a:solidFill>
                  <a:srgbClr val="9F5F00"/>
                </a:solidFill>
              </a:rPr>
              <a:t>ransfer </a:t>
            </a:r>
            <a:r>
              <a:rPr lang="fr-FR" dirty="0">
                <a:solidFill>
                  <a:schemeClr val="bg1">
                    <a:lumMod val="10000"/>
                  </a:schemeClr>
                </a:solidFill>
              </a:rPr>
              <a:t>P</a:t>
            </a:r>
            <a:r>
              <a:rPr lang="fr-FR" dirty="0">
                <a:solidFill>
                  <a:srgbClr val="9F5F00"/>
                </a:solidFill>
              </a:rPr>
              <a:t>rotocol </a:t>
            </a:r>
            <a:r>
              <a:rPr lang="fr-FR" dirty="0">
                <a:solidFill>
                  <a:schemeClr val="bg1">
                    <a:lumMod val="10000"/>
                  </a:schemeClr>
                </a:solidFill>
              </a:rPr>
              <a:t>2</a:t>
            </a:r>
          </a:p>
        </p:txBody>
      </p:sp>
      <p:sp>
        <p:nvSpPr>
          <p:cNvPr id="65" name="Google Shape;492;p52">
            <a:extLst>
              <a:ext uri="{FF2B5EF4-FFF2-40B4-BE49-F238E27FC236}">
                <a16:creationId xmlns:a16="http://schemas.microsoft.com/office/drawing/2014/main" id="{7380AB7A-F72D-1DF8-83FE-813C4365FE9A}"/>
              </a:ext>
            </a:extLst>
          </p:cNvPr>
          <p:cNvSpPr txBox="1">
            <a:spLocks/>
          </p:cNvSpPr>
          <p:nvPr/>
        </p:nvSpPr>
        <p:spPr>
          <a:xfrm>
            <a:off x="1326183" y="104623"/>
            <a:ext cx="6857005" cy="389578"/>
          </a:xfrm>
          <a:prstGeom prst="rect">
            <a:avLst/>
          </a:prstGeom>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fr-FR" sz="2000" b="1" dirty="0"/>
              <a:t>Geschichte der verteilten Client-Server-</a:t>
            </a:r>
            <a:r>
              <a:rPr lang="fr-FR" sz="2000" b="1" dirty="0" err="1"/>
              <a:t>Architekturen</a:t>
            </a:r>
            <a:endParaRPr lang="fr-FR" sz="1600" b="1" dirty="0"/>
          </a:p>
        </p:txBody>
      </p:sp>
    </p:spTree>
    <p:extLst>
      <p:ext uri="{BB962C8B-B14F-4D97-AF65-F5344CB8AC3E}">
        <p14:creationId xmlns:p14="http://schemas.microsoft.com/office/powerpoint/2010/main" val="27442474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22">
          <a:extLst>
            <a:ext uri="{FF2B5EF4-FFF2-40B4-BE49-F238E27FC236}">
              <a16:creationId xmlns:a16="http://schemas.microsoft.com/office/drawing/2014/main" id="{9D3FF56C-AEE4-8196-1DE8-7E0D9E89A794}"/>
            </a:ext>
          </a:extLst>
        </p:cNvPr>
        <p:cNvGrpSpPr/>
        <p:nvPr/>
      </p:nvGrpSpPr>
      <p:grpSpPr>
        <a:xfrm>
          <a:off x="0" y="0"/>
          <a:ext cx="0" cy="0"/>
          <a:chOff x="0" y="0"/>
          <a:chExt cx="0" cy="0"/>
        </a:xfrm>
      </p:grpSpPr>
      <p:sp>
        <p:nvSpPr>
          <p:cNvPr id="7" name="Titre 6">
            <a:extLst>
              <a:ext uri="{FF2B5EF4-FFF2-40B4-BE49-F238E27FC236}">
                <a16:creationId xmlns:a16="http://schemas.microsoft.com/office/drawing/2014/main" id="{1CEB2C8A-5451-EC38-6B73-F144D0C1D96F}"/>
              </a:ext>
            </a:extLst>
          </p:cNvPr>
          <p:cNvSpPr>
            <a:spLocks noGrp="1"/>
          </p:cNvSpPr>
          <p:nvPr>
            <p:ph type="title"/>
          </p:nvPr>
        </p:nvSpPr>
        <p:spPr>
          <a:xfrm>
            <a:off x="6076746" y="2006221"/>
            <a:ext cx="2159678" cy="843236"/>
          </a:xfrm>
        </p:spPr>
        <p:txBody>
          <a:bodyPr/>
          <a:lstStyle/>
          <a:p>
            <a:r>
              <a:rPr lang="fr-FR" sz="6000" dirty="0"/>
              <a:t>????</a:t>
            </a:r>
          </a:p>
        </p:txBody>
      </p:sp>
      <p:pic>
        <p:nvPicPr>
          <p:cNvPr id="4100" name="Picture 4" descr="Graphql Logo Svg, HD Png Download , Transparent Png Image - PNGitem">
            <a:extLst>
              <a:ext uri="{FF2B5EF4-FFF2-40B4-BE49-F238E27FC236}">
                <a16:creationId xmlns:a16="http://schemas.microsoft.com/office/drawing/2014/main" id="{C556E790-12E6-3C5B-B441-0F81D400E5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33300" y="1238250"/>
            <a:ext cx="4762500" cy="2667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913006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74FC7-80DC-E4E5-0364-59AE360A19A9}"/>
            </a:ext>
          </a:extLst>
        </p:cNvPr>
        <p:cNvGrpSpPr/>
        <p:nvPr/>
      </p:nvGrpSpPr>
      <p:grpSpPr>
        <a:xfrm>
          <a:off x="0" y="0"/>
          <a:ext cx="0" cy="0"/>
          <a:chOff x="0" y="0"/>
          <a:chExt cx="0" cy="0"/>
        </a:xfrm>
      </p:grpSpPr>
      <p:sp>
        <p:nvSpPr>
          <p:cNvPr id="1093" name="ZoneTexte 1092">
            <a:extLst>
              <a:ext uri="{FF2B5EF4-FFF2-40B4-BE49-F238E27FC236}">
                <a16:creationId xmlns:a16="http://schemas.microsoft.com/office/drawing/2014/main" id="{F8066633-1B9E-C7F1-4114-5ABDADE2D67F}"/>
              </a:ext>
            </a:extLst>
          </p:cNvPr>
          <p:cNvSpPr txBox="1"/>
          <p:nvPr/>
        </p:nvSpPr>
        <p:spPr>
          <a:xfrm>
            <a:off x="62681" y="568013"/>
            <a:ext cx="3647556" cy="4524315"/>
          </a:xfrm>
          <a:prstGeom prst="rect">
            <a:avLst/>
          </a:prstGeom>
          <a:noFill/>
          <a:ln>
            <a:solidFill>
              <a:schemeClr val="bg2">
                <a:lumMod val="50000"/>
              </a:schemeClr>
            </a:solidFill>
          </a:ln>
        </p:spPr>
        <p:txBody>
          <a:bodyPr wrap="square" rtlCol="0">
            <a:spAutoFit/>
          </a:bodyPr>
          <a:lstStyle/>
          <a:p>
            <a:pPr>
              <a:buNone/>
            </a:pPr>
            <a:r>
              <a:rPr lang="de-DE" sz="1200" b="1" dirty="0" err="1">
                <a:latin typeface="Calibri Light" panose="020F0302020204030204" pitchFamily="34" charset="0"/>
                <a:ea typeface="Calibri Light" panose="020F0302020204030204" pitchFamily="34" charset="0"/>
                <a:cs typeface="Calibri Light" panose="020F0302020204030204" pitchFamily="34" charset="0"/>
              </a:rPr>
              <a:t>GraphQL</a:t>
            </a:r>
            <a:r>
              <a:rPr lang="de-DE" sz="1200" dirty="0">
                <a:latin typeface="Calibri Light" panose="020F0302020204030204" pitchFamily="34" charset="0"/>
                <a:ea typeface="Calibri Light" panose="020F0302020204030204" pitchFamily="34" charset="0"/>
                <a:cs typeface="Calibri Light" panose="020F0302020204030204" pitchFamily="34" charset="0"/>
              </a:rPr>
              <a:t> (kurz für </a:t>
            </a:r>
            <a:r>
              <a:rPr lang="de-DE" sz="1200" i="1" dirty="0">
                <a:latin typeface="Calibri Light" panose="020F0302020204030204" pitchFamily="34" charset="0"/>
                <a:ea typeface="Calibri Light" panose="020F0302020204030204" pitchFamily="34" charset="0"/>
                <a:cs typeface="Calibri Light" panose="020F0302020204030204" pitchFamily="34" charset="0"/>
              </a:rPr>
              <a:t>Graph Query Language</a:t>
            </a:r>
            <a:r>
              <a:rPr lang="de-DE" sz="1200" dirty="0">
                <a:latin typeface="Calibri Light" panose="020F0302020204030204" pitchFamily="34" charset="0"/>
                <a:ea typeface="Calibri Light" panose="020F0302020204030204" pitchFamily="34" charset="0"/>
                <a:cs typeface="Calibri Light" panose="020F0302020204030204" pitchFamily="34" charset="0"/>
              </a:rPr>
              <a:t>) ist eine Abfragesprache und eine Laufzeitumgebung, die 2012 von Facebook entwickelt und 2015 als Open-Source-Projekt veröffentlicht wurde. Innerhalb des Client-Server-Modells bietet </a:t>
            </a:r>
            <a:r>
              <a:rPr lang="de-DE" sz="1200" dirty="0" err="1">
                <a:latin typeface="Calibri Light" panose="020F0302020204030204" pitchFamily="34" charset="0"/>
                <a:ea typeface="Calibri Light" panose="020F0302020204030204" pitchFamily="34" charset="0"/>
                <a:cs typeface="Calibri Light" panose="020F0302020204030204" pitchFamily="34" charset="0"/>
              </a:rPr>
              <a:t>GraphQL</a:t>
            </a:r>
            <a:r>
              <a:rPr lang="de-DE" sz="1200" dirty="0">
                <a:latin typeface="Calibri Light" panose="020F0302020204030204" pitchFamily="34" charset="0"/>
                <a:ea typeface="Calibri Light" panose="020F0302020204030204" pitchFamily="34" charset="0"/>
                <a:cs typeface="Calibri Light" panose="020F0302020204030204" pitchFamily="34" charset="0"/>
              </a:rPr>
              <a:t> eine Alternative zu REST-APIs.</a:t>
            </a:r>
            <a:br>
              <a:rPr lang="de-DE" sz="1200" dirty="0">
                <a:latin typeface="Calibri Light" panose="020F0302020204030204" pitchFamily="34" charset="0"/>
                <a:ea typeface="Calibri Light" panose="020F0302020204030204" pitchFamily="34" charset="0"/>
                <a:cs typeface="Calibri Light" panose="020F0302020204030204" pitchFamily="34" charset="0"/>
              </a:rPr>
            </a:br>
            <a:r>
              <a:rPr lang="de-DE" sz="1200" dirty="0">
                <a:latin typeface="Calibri Light" panose="020F0302020204030204" pitchFamily="34" charset="0"/>
                <a:ea typeface="Calibri Light" panose="020F0302020204030204" pitchFamily="34" charset="0"/>
                <a:cs typeface="Calibri Light" panose="020F0302020204030204" pitchFamily="34" charset="0"/>
              </a:rPr>
              <a:t>Eine </a:t>
            </a:r>
            <a:r>
              <a:rPr lang="de-DE" sz="1200" b="1" dirty="0" err="1">
                <a:latin typeface="Calibri Light" panose="020F0302020204030204" pitchFamily="34" charset="0"/>
                <a:ea typeface="Calibri Light" panose="020F0302020204030204" pitchFamily="34" charset="0"/>
                <a:cs typeface="Calibri Light" panose="020F0302020204030204" pitchFamily="34" charset="0"/>
              </a:rPr>
              <a:t>GraphQL</a:t>
            </a:r>
            <a:r>
              <a:rPr lang="de-DE" sz="1200" b="1" dirty="0">
                <a:latin typeface="Calibri Light" panose="020F0302020204030204" pitchFamily="34" charset="0"/>
                <a:ea typeface="Calibri Light" panose="020F0302020204030204" pitchFamily="34" charset="0"/>
                <a:cs typeface="Calibri Light" panose="020F0302020204030204" pitchFamily="34" charset="0"/>
              </a:rPr>
              <a:t>-API</a:t>
            </a:r>
            <a:r>
              <a:rPr lang="de-DE" sz="1200" dirty="0">
                <a:latin typeface="Calibri Light" panose="020F0302020204030204" pitchFamily="34" charset="0"/>
                <a:ea typeface="Calibri Light" panose="020F0302020204030204" pitchFamily="34" charset="0"/>
                <a:cs typeface="Calibri Light" panose="020F0302020204030204" pitchFamily="34" charset="0"/>
              </a:rPr>
              <a:t> ist eine spezielle Art von API, die die Art und Weise revolutioniert, wie Clients Daten abrufen. Im Gegensatz zu traditionellen REST-APIs, bei denen jeder Endpunkt vordefinierte Daten zurückgibt, ermöglicht </a:t>
            </a:r>
            <a:r>
              <a:rPr lang="de-DE" sz="1200" dirty="0" err="1">
                <a:latin typeface="Calibri Light" panose="020F0302020204030204" pitchFamily="34" charset="0"/>
                <a:ea typeface="Calibri Light" panose="020F0302020204030204" pitchFamily="34" charset="0"/>
                <a:cs typeface="Calibri Light" panose="020F0302020204030204" pitchFamily="34" charset="0"/>
              </a:rPr>
              <a:t>GraphQL</a:t>
            </a:r>
            <a:r>
              <a:rPr lang="de-DE" sz="1200" dirty="0">
                <a:latin typeface="Calibri Light" panose="020F0302020204030204" pitchFamily="34" charset="0"/>
                <a:ea typeface="Calibri Light" panose="020F0302020204030204" pitchFamily="34" charset="0"/>
                <a:cs typeface="Calibri Light" panose="020F0302020204030204" pitchFamily="34" charset="0"/>
              </a:rPr>
              <a:t> den Clients, genau zu definieren, welche Daten sie benötigen – und diese in einem strukturierten Format zu erhalten.</a:t>
            </a:r>
            <a:br>
              <a:rPr lang="de-DE" sz="1200" dirty="0">
                <a:latin typeface="Calibri Light" panose="020F0302020204030204" pitchFamily="34" charset="0"/>
                <a:ea typeface="Calibri Light" panose="020F0302020204030204" pitchFamily="34" charset="0"/>
                <a:cs typeface="Calibri Light" panose="020F0302020204030204" pitchFamily="34" charset="0"/>
              </a:rPr>
            </a:br>
            <a:r>
              <a:rPr lang="de-DE" sz="1200" dirty="0">
                <a:latin typeface="Calibri Light" panose="020F0302020204030204" pitchFamily="34" charset="0"/>
                <a:ea typeface="Calibri Light" panose="020F0302020204030204" pitchFamily="34" charset="0"/>
                <a:cs typeface="Calibri Light" panose="020F0302020204030204" pitchFamily="34" charset="0"/>
              </a:rPr>
              <a:t>Dieser Ansatz bietet Entwicklern eine bisher unerreichte Flexibilität, da sie flexible Abfragen formulieren können, um exakt die benötigten Informationen zu erhalten, ohne unnötige Daten über das Netzwerk zu übertragen.</a:t>
            </a:r>
            <a:br>
              <a:rPr lang="de-DE" sz="1200" dirty="0">
                <a:latin typeface="Calibri Light" panose="020F0302020204030204" pitchFamily="34" charset="0"/>
                <a:ea typeface="Calibri Light" panose="020F0302020204030204" pitchFamily="34" charset="0"/>
                <a:cs typeface="Calibri Light" panose="020F0302020204030204" pitchFamily="34" charset="0"/>
              </a:rPr>
            </a:br>
            <a:endParaRPr lang="de-DE" sz="1200" dirty="0">
              <a:latin typeface="Calibri Light" panose="020F0302020204030204" pitchFamily="34" charset="0"/>
              <a:ea typeface="Calibri Light" panose="020F0302020204030204" pitchFamily="34" charset="0"/>
              <a:cs typeface="Calibri Light" panose="020F0302020204030204" pitchFamily="34" charset="0"/>
            </a:endParaRPr>
          </a:p>
          <a:p>
            <a:pPr>
              <a:buNone/>
            </a:pPr>
            <a:r>
              <a:rPr lang="de-DE" sz="1200" dirty="0">
                <a:latin typeface="Calibri Light" panose="020F0302020204030204" pitchFamily="34" charset="0"/>
                <a:ea typeface="Calibri Light" panose="020F0302020204030204" pitchFamily="34" charset="0"/>
                <a:cs typeface="Calibri Light" panose="020F0302020204030204" pitchFamily="34" charset="0"/>
              </a:rPr>
              <a:t>Die Besonderheit von </a:t>
            </a:r>
            <a:r>
              <a:rPr lang="de-DE" sz="1200" b="1" dirty="0" err="1">
                <a:latin typeface="Calibri Light" panose="020F0302020204030204" pitchFamily="34" charset="0"/>
                <a:ea typeface="Calibri Light" panose="020F0302020204030204" pitchFamily="34" charset="0"/>
                <a:cs typeface="Calibri Light" panose="020F0302020204030204" pitchFamily="34" charset="0"/>
              </a:rPr>
              <a:t>GraphQL</a:t>
            </a:r>
            <a:r>
              <a:rPr lang="de-DE" sz="1200" dirty="0">
                <a:latin typeface="Calibri Light" panose="020F0302020204030204" pitchFamily="34" charset="0"/>
                <a:ea typeface="Calibri Light" panose="020F0302020204030204" pitchFamily="34" charset="0"/>
                <a:cs typeface="Calibri Light" panose="020F0302020204030204" pitchFamily="34" charset="0"/>
              </a:rPr>
              <a:t> besteht darin, dass die Struktur der Serverantwort vom </a:t>
            </a:r>
            <a:r>
              <a:rPr lang="de-DE" sz="1200" b="1" dirty="0">
                <a:latin typeface="Calibri Light" panose="020F0302020204030204" pitchFamily="34" charset="0"/>
                <a:ea typeface="Calibri Light" panose="020F0302020204030204" pitchFamily="34" charset="0"/>
                <a:cs typeface="Calibri Light" panose="020F0302020204030204" pitchFamily="34" charset="0"/>
              </a:rPr>
              <a:t>Client</a:t>
            </a:r>
            <a:r>
              <a:rPr lang="de-DE" sz="1200" dirty="0">
                <a:latin typeface="Calibri Light" panose="020F0302020204030204" pitchFamily="34" charset="0"/>
                <a:ea typeface="Calibri Light" panose="020F0302020204030204" pitchFamily="34" charset="0"/>
                <a:cs typeface="Calibri Light" panose="020F0302020204030204" pitchFamily="34" charset="0"/>
              </a:rPr>
              <a:t> festgelegt wird (natürlich im Rahmen der API-Beschränkungen).</a:t>
            </a:r>
            <a:br>
              <a:rPr lang="de-DE" sz="1200" dirty="0">
                <a:latin typeface="Calibri Light" panose="020F0302020204030204" pitchFamily="34" charset="0"/>
                <a:ea typeface="Calibri Light" panose="020F0302020204030204" pitchFamily="34" charset="0"/>
                <a:cs typeface="Calibri Light" panose="020F0302020204030204" pitchFamily="34" charset="0"/>
              </a:rPr>
            </a:br>
            <a:r>
              <a:rPr lang="de-DE" sz="1200" dirty="0">
                <a:latin typeface="Calibri Light" panose="020F0302020204030204" pitchFamily="34" charset="0"/>
                <a:ea typeface="Calibri Light" panose="020F0302020204030204" pitchFamily="34" charset="0"/>
                <a:cs typeface="Calibri Light" panose="020F0302020204030204" pitchFamily="34" charset="0"/>
              </a:rPr>
              <a:t>Zum Beispiel entscheidet </a:t>
            </a:r>
            <a:r>
              <a:rPr lang="de-DE" sz="1200" b="1" dirty="0">
                <a:latin typeface="Calibri Light" panose="020F0302020204030204" pitchFamily="34" charset="0"/>
                <a:ea typeface="Calibri Light" panose="020F0302020204030204" pitchFamily="34" charset="0"/>
                <a:cs typeface="Calibri Light" panose="020F0302020204030204" pitchFamily="34" charset="0"/>
              </a:rPr>
              <a:t>der Client selbst</a:t>
            </a:r>
            <a:r>
              <a:rPr lang="de-DE" sz="1200" dirty="0">
                <a:latin typeface="Calibri Light" panose="020F0302020204030204" pitchFamily="34" charset="0"/>
                <a:ea typeface="Calibri Light" panose="020F0302020204030204" pitchFamily="34" charset="0"/>
                <a:cs typeface="Calibri Light" panose="020F0302020204030204" pitchFamily="34" charset="0"/>
              </a:rPr>
              <a:t>, welche Felder er für jedes Objekt erhalten möchte </a:t>
            </a:r>
            <a:r>
              <a:rPr lang="de-DE" sz="1200" b="1" dirty="0">
                <a:latin typeface="Calibri Light" panose="020F0302020204030204" pitchFamily="34" charset="0"/>
                <a:ea typeface="Calibri Light" panose="020F0302020204030204" pitchFamily="34" charset="0"/>
                <a:cs typeface="Calibri Light" panose="020F0302020204030204" pitchFamily="34" charset="0"/>
              </a:rPr>
              <a:t>und in welcher Reihenfolge</a:t>
            </a:r>
            <a:r>
              <a:rPr lang="de-DE" sz="1200" dirty="0">
                <a:latin typeface="Calibri Light" panose="020F0302020204030204" pitchFamily="34" charset="0"/>
                <a:ea typeface="Calibri Light" panose="020F0302020204030204" pitchFamily="34" charset="0"/>
                <a:cs typeface="Calibri Light" panose="020F0302020204030204" pitchFamily="34" charset="0"/>
              </a:rPr>
              <a:t> diese zurückgegeben werden sollen.</a:t>
            </a:r>
            <a:endParaRPr lang="fr-FR" sz="1200"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1094" name="Google Shape;492;p52">
            <a:extLst>
              <a:ext uri="{FF2B5EF4-FFF2-40B4-BE49-F238E27FC236}">
                <a16:creationId xmlns:a16="http://schemas.microsoft.com/office/drawing/2014/main" id="{F7DCBCFD-5C6D-A20F-F12F-9BFE4F27A51B}"/>
              </a:ext>
            </a:extLst>
          </p:cNvPr>
          <p:cNvSpPr txBox="1">
            <a:spLocks/>
          </p:cNvSpPr>
          <p:nvPr/>
        </p:nvSpPr>
        <p:spPr>
          <a:xfrm>
            <a:off x="365332" y="54123"/>
            <a:ext cx="2773478" cy="389578"/>
          </a:xfrm>
          <a:prstGeom prst="rect">
            <a:avLst/>
          </a:prstGeom>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fr-FR" sz="1800" dirty="0"/>
              <a:t>GraphQL</a:t>
            </a:r>
          </a:p>
        </p:txBody>
      </p:sp>
      <p:sp>
        <p:nvSpPr>
          <p:cNvPr id="1055" name="ZoneTexte 1054">
            <a:extLst>
              <a:ext uri="{FF2B5EF4-FFF2-40B4-BE49-F238E27FC236}">
                <a16:creationId xmlns:a16="http://schemas.microsoft.com/office/drawing/2014/main" id="{58928CF9-8C1D-DA80-41DE-33112EACCA2F}"/>
              </a:ext>
            </a:extLst>
          </p:cNvPr>
          <p:cNvSpPr txBox="1"/>
          <p:nvPr/>
        </p:nvSpPr>
        <p:spPr>
          <a:xfrm>
            <a:off x="3736323" y="60556"/>
            <a:ext cx="5365288" cy="5032228"/>
          </a:xfrm>
          <a:prstGeom prst="rect">
            <a:avLst/>
          </a:prstGeom>
          <a:noFill/>
          <a:ln>
            <a:solidFill>
              <a:schemeClr val="bg1">
                <a:lumMod val="25000"/>
              </a:schemeClr>
            </a:solidFill>
          </a:ln>
        </p:spPr>
        <p:txBody>
          <a:bodyPr wrap="square" rtlCol="0">
            <a:spAutoFit/>
          </a:bodyPr>
          <a:lstStyle/>
          <a:p>
            <a:endParaRPr lang="fr-FR" dirty="0"/>
          </a:p>
        </p:txBody>
      </p:sp>
      <p:sp>
        <p:nvSpPr>
          <p:cNvPr id="1056" name="Rectangle 1055">
            <a:extLst>
              <a:ext uri="{FF2B5EF4-FFF2-40B4-BE49-F238E27FC236}">
                <a16:creationId xmlns:a16="http://schemas.microsoft.com/office/drawing/2014/main" id="{2761F5EF-E67C-52F0-9145-45BB9BE83104}"/>
              </a:ext>
            </a:extLst>
          </p:cNvPr>
          <p:cNvSpPr/>
          <p:nvPr/>
        </p:nvSpPr>
        <p:spPr>
          <a:xfrm>
            <a:off x="3827162" y="2482815"/>
            <a:ext cx="1149606" cy="729658"/>
          </a:xfrm>
          <a:prstGeom prst="rect">
            <a:avLst/>
          </a:prstGeom>
          <a:ln>
            <a:solidFill>
              <a:schemeClr val="bg1"/>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fr-FR" sz="1100" dirty="0">
              <a:solidFill>
                <a:schemeClr val="bg1">
                  <a:lumMod val="10000"/>
                </a:schemeClr>
              </a:solidFill>
            </a:endParaRPr>
          </a:p>
        </p:txBody>
      </p:sp>
      <p:sp>
        <p:nvSpPr>
          <p:cNvPr id="1057" name="Rectangle 1056">
            <a:extLst>
              <a:ext uri="{FF2B5EF4-FFF2-40B4-BE49-F238E27FC236}">
                <a16:creationId xmlns:a16="http://schemas.microsoft.com/office/drawing/2014/main" id="{AAB262CC-9930-148B-1F77-498517083DE1}"/>
              </a:ext>
            </a:extLst>
          </p:cNvPr>
          <p:cNvSpPr/>
          <p:nvPr/>
        </p:nvSpPr>
        <p:spPr>
          <a:xfrm>
            <a:off x="3817841" y="2253659"/>
            <a:ext cx="1158927" cy="242225"/>
          </a:xfrm>
          <a:prstGeom prst="rect">
            <a:avLst/>
          </a:prstGeom>
          <a:solidFill>
            <a:srgbClr val="00B0F0"/>
          </a:solidFill>
          <a:ln>
            <a:solidFill>
              <a:schemeClr val="bg1"/>
            </a:solidFill>
          </a:ln>
        </p:spPr>
        <p:style>
          <a:lnRef idx="1">
            <a:schemeClr val="dk1"/>
          </a:lnRef>
          <a:fillRef idx="2">
            <a:schemeClr val="dk1"/>
          </a:fillRef>
          <a:effectRef idx="1">
            <a:schemeClr val="dk1"/>
          </a:effectRef>
          <a:fontRef idx="minor">
            <a:schemeClr val="dk1"/>
          </a:fontRef>
        </p:style>
        <p:txBody>
          <a:bodyPr rtlCol="0" anchor="ctr"/>
          <a:lstStyle/>
          <a:p>
            <a:pPr algn="ctr"/>
            <a:r>
              <a:rPr lang="fr-FR" sz="1100" dirty="0">
                <a:solidFill>
                  <a:srgbClr val="000000"/>
                </a:solidFill>
              </a:rPr>
              <a:t>Java Client</a:t>
            </a:r>
            <a:endParaRPr lang="fr-FR" dirty="0">
              <a:solidFill>
                <a:srgbClr val="000000"/>
              </a:solidFill>
            </a:endParaRPr>
          </a:p>
        </p:txBody>
      </p:sp>
      <p:sp>
        <p:nvSpPr>
          <p:cNvPr id="1095" name="Rectangle 1094">
            <a:extLst>
              <a:ext uri="{FF2B5EF4-FFF2-40B4-BE49-F238E27FC236}">
                <a16:creationId xmlns:a16="http://schemas.microsoft.com/office/drawing/2014/main" id="{5A7539A7-192F-F377-23BF-1B49659D2B15}"/>
              </a:ext>
            </a:extLst>
          </p:cNvPr>
          <p:cNvSpPr/>
          <p:nvPr/>
        </p:nvSpPr>
        <p:spPr>
          <a:xfrm>
            <a:off x="5919065" y="2090224"/>
            <a:ext cx="3121989" cy="2197184"/>
          </a:xfrm>
          <a:prstGeom prst="rect">
            <a:avLst/>
          </a:prstGeom>
          <a:ln/>
        </p:spPr>
        <p:style>
          <a:lnRef idx="1">
            <a:schemeClr val="dk1"/>
          </a:lnRef>
          <a:fillRef idx="2">
            <a:schemeClr val="dk1"/>
          </a:fillRef>
          <a:effectRef idx="1">
            <a:schemeClr val="dk1"/>
          </a:effectRef>
          <a:fontRef idx="minor">
            <a:schemeClr val="dk1"/>
          </a:fontRef>
        </p:style>
        <p:txBody>
          <a:bodyPr rtlCol="0" anchor="ctr"/>
          <a:lstStyle/>
          <a:p>
            <a:pPr algn="ctr"/>
            <a:endParaRPr lang="fr-FR" sz="1100" dirty="0">
              <a:solidFill>
                <a:schemeClr val="bg1">
                  <a:lumMod val="10000"/>
                </a:schemeClr>
              </a:solidFill>
            </a:endParaRPr>
          </a:p>
        </p:txBody>
      </p:sp>
      <p:sp>
        <p:nvSpPr>
          <p:cNvPr id="1096" name="Rectangle 1095">
            <a:extLst>
              <a:ext uri="{FF2B5EF4-FFF2-40B4-BE49-F238E27FC236}">
                <a16:creationId xmlns:a16="http://schemas.microsoft.com/office/drawing/2014/main" id="{91B13FCB-163E-63A9-3A17-C083BBDC53E3}"/>
              </a:ext>
            </a:extLst>
          </p:cNvPr>
          <p:cNvSpPr/>
          <p:nvPr/>
        </p:nvSpPr>
        <p:spPr>
          <a:xfrm>
            <a:off x="5911297" y="1847999"/>
            <a:ext cx="3135813" cy="242225"/>
          </a:xfrm>
          <a:prstGeom prst="rect">
            <a:avLst/>
          </a:prstGeom>
          <a:solidFill>
            <a:srgbClr val="00B0F0"/>
          </a:solidFill>
          <a:ln>
            <a:solidFill>
              <a:schemeClr val="bg1">
                <a:lumMod val="25000"/>
              </a:schemeClr>
            </a:solidFill>
          </a:ln>
        </p:spPr>
        <p:style>
          <a:lnRef idx="1">
            <a:schemeClr val="dk1"/>
          </a:lnRef>
          <a:fillRef idx="2">
            <a:schemeClr val="dk1"/>
          </a:fillRef>
          <a:effectRef idx="1">
            <a:schemeClr val="dk1"/>
          </a:effectRef>
          <a:fontRef idx="minor">
            <a:schemeClr val="dk1"/>
          </a:fontRef>
        </p:style>
        <p:txBody>
          <a:bodyPr rtlCol="0" anchor="ctr"/>
          <a:lstStyle/>
          <a:p>
            <a:pPr algn="ctr"/>
            <a:r>
              <a:rPr lang="fr-FR" sz="1100" dirty="0">
                <a:solidFill>
                  <a:srgbClr val="000000"/>
                </a:solidFill>
              </a:rPr>
              <a:t>Tomcat + Spring IOC</a:t>
            </a:r>
            <a:endParaRPr lang="fr-FR" dirty="0">
              <a:solidFill>
                <a:srgbClr val="000000"/>
              </a:solidFill>
            </a:endParaRPr>
          </a:p>
        </p:txBody>
      </p:sp>
      <p:sp>
        <p:nvSpPr>
          <p:cNvPr id="1097" name="Rectangle : coins arrondis 1096">
            <a:extLst>
              <a:ext uri="{FF2B5EF4-FFF2-40B4-BE49-F238E27FC236}">
                <a16:creationId xmlns:a16="http://schemas.microsoft.com/office/drawing/2014/main" id="{C4BA30BA-1C0D-9D74-AD8D-D4513C743798}"/>
              </a:ext>
            </a:extLst>
          </p:cNvPr>
          <p:cNvSpPr/>
          <p:nvPr/>
        </p:nvSpPr>
        <p:spPr>
          <a:xfrm>
            <a:off x="4996181" y="2374771"/>
            <a:ext cx="887487" cy="767080"/>
          </a:xfrm>
          <a:prstGeom prst="roundRect">
            <a:avLst/>
          </a:prstGeom>
          <a:no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98" name="ZoneTexte 1097">
            <a:extLst>
              <a:ext uri="{FF2B5EF4-FFF2-40B4-BE49-F238E27FC236}">
                <a16:creationId xmlns:a16="http://schemas.microsoft.com/office/drawing/2014/main" id="{BAB3658D-AAD6-AEAC-D645-97CF09355F37}"/>
              </a:ext>
            </a:extLst>
          </p:cNvPr>
          <p:cNvSpPr txBox="1"/>
          <p:nvPr/>
        </p:nvSpPr>
        <p:spPr>
          <a:xfrm>
            <a:off x="5011981" y="2635200"/>
            <a:ext cx="697752" cy="246221"/>
          </a:xfrm>
          <a:prstGeom prst="rect">
            <a:avLst/>
          </a:prstGeom>
          <a:noFill/>
        </p:spPr>
        <p:txBody>
          <a:bodyPr wrap="square" rtlCol="0">
            <a:spAutoFit/>
          </a:bodyPr>
          <a:lstStyle/>
          <a:p>
            <a:r>
              <a:rPr lang="fr-FR" sz="1000" dirty="0"/>
              <a:t>HTTP1.1</a:t>
            </a:r>
          </a:p>
        </p:txBody>
      </p:sp>
      <p:cxnSp>
        <p:nvCxnSpPr>
          <p:cNvPr id="1099" name="Connecteur droit avec flèche 1098">
            <a:extLst>
              <a:ext uri="{FF2B5EF4-FFF2-40B4-BE49-F238E27FC236}">
                <a16:creationId xmlns:a16="http://schemas.microsoft.com/office/drawing/2014/main" id="{F54E805F-FB7F-BA95-9FCC-D2461AB0D756}"/>
              </a:ext>
            </a:extLst>
          </p:cNvPr>
          <p:cNvCxnSpPr>
            <a:cxnSpLocks/>
          </p:cNvCxnSpPr>
          <p:nvPr/>
        </p:nvCxnSpPr>
        <p:spPr>
          <a:xfrm>
            <a:off x="5011981" y="2587293"/>
            <a:ext cx="871687"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1100" name="ZoneTexte 1099">
            <a:extLst>
              <a:ext uri="{FF2B5EF4-FFF2-40B4-BE49-F238E27FC236}">
                <a16:creationId xmlns:a16="http://schemas.microsoft.com/office/drawing/2014/main" id="{CD55E9B6-055A-4CC5-9B84-843F57E42913}"/>
              </a:ext>
            </a:extLst>
          </p:cNvPr>
          <p:cNvSpPr txBox="1"/>
          <p:nvPr/>
        </p:nvSpPr>
        <p:spPr>
          <a:xfrm>
            <a:off x="5364396" y="2359576"/>
            <a:ext cx="460227" cy="230832"/>
          </a:xfrm>
          <a:prstGeom prst="rect">
            <a:avLst/>
          </a:prstGeom>
          <a:noFill/>
        </p:spPr>
        <p:txBody>
          <a:bodyPr wrap="square" rtlCol="0">
            <a:spAutoFit/>
          </a:bodyPr>
          <a:lstStyle/>
          <a:p>
            <a:r>
              <a:rPr lang="fr-FR" sz="900" dirty="0"/>
              <a:t>Req</a:t>
            </a:r>
            <a:endParaRPr lang="fr-FR" dirty="0"/>
          </a:p>
        </p:txBody>
      </p:sp>
      <p:pic>
        <p:nvPicPr>
          <p:cNvPr id="1101" name="Image 1100">
            <a:extLst>
              <a:ext uri="{FF2B5EF4-FFF2-40B4-BE49-F238E27FC236}">
                <a16:creationId xmlns:a16="http://schemas.microsoft.com/office/drawing/2014/main" id="{16B43E74-4F7C-E18D-39A1-B50A671E6B29}"/>
              </a:ext>
            </a:extLst>
          </p:cNvPr>
          <p:cNvPicPr>
            <a:picLocks noChangeAspect="1"/>
          </p:cNvPicPr>
          <p:nvPr/>
        </p:nvPicPr>
        <p:blipFill>
          <a:blip r:embed="rId3"/>
          <a:stretch>
            <a:fillRect/>
          </a:stretch>
        </p:blipFill>
        <p:spPr>
          <a:xfrm>
            <a:off x="3793546" y="197879"/>
            <a:ext cx="1879851" cy="1634932"/>
          </a:xfrm>
          <a:prstGeom prst="rect">
            <a:avLst/>
          </a:prstGeom>
          <a:ln>
            <a:solidFill>
              <a:schemeClr val="bg2"/>
            </a:solidFill>
          </a:ln>
        </p:spPr>
      </p:pic>
      <p:cxnSp>
        <p:nvCxnSpPr>
          <p:cNvPr id="1102" name="Connecteur droit avec flèche 1101">
            <a:extLst>
              <a:ext uri="{FF2B5EF4-FFF2-40B4-BE49-F238E27FC236}">
                <a16:creationId xmlns:a16="http://schemas.microsoft.com/office/drawing/2014/main" id="{27732306-F743-76A9-CF34-5F21604ACBC6}"/>
              </a:ext>
            </a:extLst>
          </p:cNvPr>
          <p:cNvCxnSpPr>
            <a:cxnSpLocks/>
            <a:stCxn id="1101" idx="2"/>
          </p:cNvCxnSpPr>
          <p:nvPr/>
        </p:nvCxnSpPr>
        <p:spPr>
          <a:xfrm>
            <a:off x="4733472" y="1832811"/>
            <a:ext cx="476816" cy="725806"/>
          </a:xfrm>
          <a:prstGeom prst="straightConnector1">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103" name="Rectangle 1102">
            <a:extLst>
              <a:ext uri="{FF2B5EF4-FFF2-40B4-BE49-F238E27FC236}">
                <a16:creationId xmlns:a16="http://schemas.microsoft.com/office/drawing/2014/main" id="{E39A3950-7A67-6A25-606E-A161B9A3C5B7}"/>
              </a:ext>
            </a:extLst>
          </p:cNvPr>
          <p:cNvSpPr/>
          <p:nvPr/>
        </p:nvSpPr>
        <p:spPr>
          <a:xfrm>
            <a:off x="7884701" y="2926428"/>
            <a:ext cx="968959" cy="1179311"/>
          </a:xfrm>
          <a:prstGeom prst="rect">
            <a:avLst/>
          </a:prstGeom>
          <a:ln>
            <a:solidFill>
              <a:schemeClr val="bg1"/>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fr-FR" sz="1100" dirty="0">
              <a:solidFill>
                <a:schemeClr val="bg1">
                  <a:lumMod val="10000"/>
                </a:schemeClr>
              </a:solidFill>
            </a:endParaRPr>
          </a:p>
        </p:txBody>
      </p:sp>
      <p:sp>
        <p:nvSpPr>
          <p:cNvPr id="1104" name="Rectangle 1103">
            <a:extLst>
              <a:ext uri="{FF2B5EF4-FFF2-40B4-BE49-F238E27FC236}">
                <a16:creationId xmlns:a16="http://schemas.microsoft.com/office/drawing/2014/main" id="{8A5BD8D7-FFF1-4990-9428-ABBAF2318404}"/>
              </a:ext>
            </a:extLst>
          </p:cNvPr>
          <p:cNvSpPr/>
          <p:nvPr/>
        </p:nvSpPr>
        <p:spPr>
          <a:xfrm>
            <a:off x="7875380" y="2684204"/>
            <a:ext cx="976815" cy="242225"/>
          </a:xfrm>
          <a:prstGeom prst="rect">
            <a:avLst/>
          </a:prstGeom>
          <a:solidFill>
            <a:srgbClr val="65E3AA"/>
          </a:solidFill>
          <a:ln>
            <a:solidFill>
              <a:schemeClr val="bg1"/>
            </a:solidFill>
          </a:ln>
        </p:spPr>
        <p:style>
          <a:lnRef idx="1">
            <a:schemeClr val="dk1"/>
          </a:lnRef>
          <a:fillRef idx="2">
            <a:schemeClr val="dk1"/>
          </a:fillRef>
          <a:effectRef idx="1">
            <a:schemeClr val="dk1"/>
          </a:effectRef>
          <a:fontRef idx="minor">
            <a:schemeClr val="dk1"/>
          </a:fontRef>
        </p:style>
        <p:txBody>
          <a:bodyPr rtlCol="0" anchor="ctr"/>
          <a:lstStyle/>
          <a:p>
            <a:pPr algn="ctr"/>
            <a:r>
              <a:rPr lang="fr-FR" sz="1100" dirty="0">
                <a:solidFill>
                  <a:srgbClr val="000000"/>
                </a:solidFill>
              </a:rPr>
              <a:t>DAO Layer</a:t>
            </a:r>
            <a:endParaRPr lang="fr-FR" dirty="0">
              <a:solidFill>
                <a:srgbClr val="000000"/>
              </a:solidFill>
            </a:endParaRPr>
          </a:p>
        </p:txBody>
      </p:sp>
      <p:sp>
        <p:nvSpPr>
          <p:cNvPr id="1105" name="Organigramme : Disque magnétique 1104">
            <a:extLst>
              <a:ext uri="{FF2B5EF4-FFF2-40B4-BE49-F238E27FC236}">
                <a16:creationId xmlns:a16="http://schemas.microsoft.com/office/drawing/2014/main" id="{42696A70-D76E-3A67-6574-CB6845B6AA89}"/>
              </a:ext>
            </a:extLst>
          </p:cNvPr>
          <p:cNvSpPr/>
          <p:nvPr/>
        </p:nvSpPr>
        <p:spPr>
          <a:xfrm>
            <a:off x="7369699" y="4353287"/>
            <a:ext cx="890179" cy="691056"/>
          </a:xfrm>
          <a:prstGeom prst="flowChartMagneticDisk">
            <a:avLst/>
          </a:prstGeom>
          <a:solidFill>
            <a:srgbClr val="0074B2"/>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200" dirty="0">
                <a:ln w="3175">
                  <a:solidFill>
                    <a:schemeClr val="tx1"/>
                  </a:solidFill>
                </a:ln>
              </a:rPr>
              <a:t>MongoDB</a:t>
            </a:r>
          </a:p>
        </p:txBody>
      </p:sp>
      <p:sp>
        <p:nvSpPr>
          <p:cNvPr id="1106" name="Rectangle 1105">
            <a:extLst>
              <a:ext uri="{FF2B5EF4-FFF2-40B4-BE49-F238E27FC236}">
                <a16:creationId xmlns:a16="http://schemas.microsoft.com/office/drawing/2014/main" id="{0BB66B77-D443-AFF4-375E-0CBED214D583}"/>
              </a:ext>
            </a:extLst>
          </p:cNvPr>
          <p:cNvSpPr/>
          <p:nvPr/>
        </p:nvSpPr>
        <p:spPr>
          <a:xfrm>
            <a:off x="6134274" y="2445023"/>
            <a:ext cx="1532130" cy="1660716"/>
          </a:xfrm>
          <a:prstGeom prst="rect">
            <a:avLst/>
          </a:prstGeom>
          <a:ln>
            <a:solidFill>
              <a:schemeClr val="bg1"/>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fr-FR" sz="1100" dirty="0">
              <a:solidFill>
                <a:schemeClr val="bg1">
                  <a:lumMod val="10000"/>
                </a:schemeClr>
              </a:solidFill>
            </a:endParaRPr>
          </a:p>
        </p:txBody>
      </p:sp>
      <p:sp>
        <p:nvSpPr>
          <p:cNvPr id="1107" name="Rectangle 1106">
            <a:extLst>
              <a:ext uri="{FF2B5EF4-FFF2-40B4-BE49-F238E27FC236}">
                <a16:creationId xmlns:a16="http://schemas.microsoft.com/office/drawing/2014/main" id="{23010286-0084-46A8-61EB-EB5872C7F6DB}"/>
              </a:ext>
            </a:extLst>
          </p:cNvPr>
          <p:cNvSpPr/>
          <p:nvPr/>
        </p:nvSpPr>
        <p:spPr>
          <a:xfrm>
            <a:off x="6124233" y="2197152"/>
            <a:ext cx="1560339" cy="242225"/>
          </a:xfrm>
          <a:prstGeom prst="rect">
            <a:avLst/>
          </a:prstGeom>
          <a:solidFill>
            <a:srgbClr val="00B0F0"/>
          </a:solidFill>
          <a:ln>
            <a:solidFill>
              <a:schemeClr val="bg1"/>
            </a:solidFill>
          </a:ln>
        </p:spPr>
        <p:style>
          <a:lnRef idx="1">
            <a:schemeClr val="dk1"/>
          </a:lnRef>
          <a:fillRef idx="2">
            <a:schemeClr val="dk1"/>
          </a:fillRef>
          <a:effectRef idx="1">
            <a:schemeClr val="dk1"/>
          </a:effectRef>
          <a:fontRef idx="minor">
            <a:schemeClr val="dk1"/>
          </a:fontRef>
        </p:style>
        <p:txBody>
          <a:bodyPr rtlCol="0" anchor="ctr"/>
          <a:lstStyle/>
          <a:p>
            <a:pPr algn="ctr"/>
            <a:r>
              <a:rPr lang="fr-FR" sz="1100" dirty="0">
                <a:solidFill>
                  <a:srgbClr val="000000"/>
                </a:solidFill>
              </a:rPr>
              <a:t>GraphQL Layer</a:t>
            </a:r>
            <a:endParaRPr lang="fr-FR" dirty="0">
              <a:solidFill>
                <a:srgbClr val="000000"/>
              </a:solidFill>
            </a:endParaRPr>
          </a:p>
        </p:txBody>
      </p:sp>
      <p:sp>
        <p:nvSpPr>
          <p:cNvPr id="1108" name="Rectangle 1107">
            <a:extLst>
              <a:ext uri="{FF2B5EF4-FFF2-40B4-BE49-F238E27FC236}">
                <a16:creationId xmlns:a16="http://schemas.microsoft.com/office/drawing/2014/main" id="{8E78999F-4A4C-0EFC-ADCD-57E3E33367C5}"/>
              </a:ext>
            </a:extLst>
          </p:cNvPr>
          <p:cNvSpPr/>
          <p:nvPr/>
        </p:nvSpPr>
        <p:spPr>
          <a:xfrm>
            <a:off x="6466442" y="2650428"/>
            <a:ext cx="849430" cy="242225"/>
          </a:xfrm>
          <a:prstGeom prst="rect">
            <a:avLst/>
          </a:prstGeom>
          <a:solidFill>
            <a:srgbClr val="D1FFA1"/>
          </a:solidFill>
          <a:ln/>
        </p:spPr>
        <p:style>
          <a:lnRef idx="0">
            <a:schemeClr val="dk1"/>
          </a:lnRef>
          <a:fillRef idx="3">
            <a:schemeClr val="dk1"/>
          </a:fillRef>
          <a:effectRef idx="3">
            <a:schemeClr val="dk1"/>
          </a:effectRef>
          <a:fontRef idx="minor">
            <a:schemeClr val="lt1"/>
          </a:fontRef>
        </p:style>
        <p:txBody>
          <a:bodyPr rtlCol="0" anchor="ctr"/>
          <a:lstStyle/>
          <a:p>
            <a:pPr algn="ctr"/>
            <a:r>
              <a:rPr lang="fr-FR" sz="1100" dirty="0">
                <a:solidFill>
                  <a:schemeClr val="bg1">
                    <a:lumMod val="10000"/>
                  </a:schemeClr>
                </a:solidFill>
              </a:rPr>
              <a:t>Parsing</a:t>
            </a:r>
          </a:p>
        </p:txBody>
      </p:sp>
      <p:cxnSp>
        <p:nvCxnSpPr>
          <p:cNvPr id="1109" name="Connecteur droit avec flèche 1108">
            <a:extLst>
              <a:ext uri="{FF2B5EF4-FFF2-40B4-BE49-F238E27FC236}">
                <a16:creationId xmlns:a16="http://schemas.microsoft.com/office/drawing/2014/main" id="{52015898-520A-6952-2716-E0CF2562ADA2}"/>
              </a:ext>
            </a:extLst>
          </p:cNvPr>
          <p:cNvCxnSpPr>
            <a:cxnSpLocks/>
          </p:cNvCxnSpPr>
          <p:nvPr/>
        </p:nvCxnSpPr>
        <p:spPr>
          <a:xfrm>
            <a:off x="6891157" y="2894603"/>
            <a:ext cx="0" cy="180732"/>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1110" name="Rectangle 1109">
            <a:extLst>
              <a:ext uri="{FF2B5EF4-FFF2-40B4-BE49-F238E27FC236}">
                <a16:creationId xmlns:a16="http://schemas.microsoft.com/office/drawing/2014/main" id="{CED08697-B724-C707-DC09-CE4A5F1395FA}"/>
              </a:ext>
            </a:extLst>
          </p:cNvPr>
          <p:cNvSpPr/>
          <p:nvPr/>
        </p:nvSpPr>
        <p:spPr>
          <a:xfrm>
            <a:off x="6485610" y="3075333"/>
            <a:ext cx="849430" cy="242225"/>
          </a:xfrm>
          <a:prstGeom prst="rect">
            <a:avLst/>
          </a:prstGeom>
          <a:solidFill>
            <a:srgbClr val="D1FFA1"/>
          </a:solidFill>
          <a:ln/>
        </p:spPr>
        <p:style>
          <a:lnRef idx="0">
            <a:schemeClr val="dk1"/>
          </a:lnRef>
          <a:fillRef idx="3">
            <a:schemeClr val="dk1"/>
          </a:fillRef>
          <a:effectRef idx="3">
            <a:schemeClr val="dk1"/>
          </a:effectRef>
          <a:fontRef idx="minor">
            <a:schemeClr val="lt1"/>
          </a:fontRef>
        </p:style>
        <p:txBody>
          <a:bodyPr rtlCol="0" anchor="ctr"/>
          <a:lstStyle/>
          <a:p>
            <a:pPr algn="ctr"/>
            <a:r>
              <a:rPr lang="fr-FR" sz="1100" dirty="0">
                <a:solidFill>
                  <a:schemeClr val="bg1">
                    <a:lumMod val="10000"/>
                  </a:schemeClr>
                </a:solidFill>
              </a:rPr>
              <a:t>Validation</a:t>
            </a:r>
          </a:p>
        </p:txBody>
      </p:sp>
      <p:sp>
        <p:nvSpPr>
          <p:cNvPr id="1111" name="Rectangle 1110">
            <a:extLst>
              <a:ext uri="{FF2B5EF4-FFF2-40B4-BE49-F238E27FC236}">
                <a16:creationId xmlns:a16="http://schemas.microsoft.com/office/drawing/2014/main" id="{0D1F392C-736C-1991-435E-4502896D0127}"/>
              </a:ext>
            </a:extLst>
          </p:cNvPr>
          <p:cNvSpPr/>
          <p:nvPr/>
        </p:nvSpPr>
        <p:spPr>
          <a:xfrm>
            <a:off x="6480560" y="3488125"/>
            <a:ext cx="849430" cy="242225"/>
          </a:xfrm>
          <a:prstGeom prst="rect">
            <a:avLst/>
          </a:prstGeom>
          <a:solidFill>
            <a:srgbClr val="D1FFA1"/>
          </a:solidFill>
          <a:ln/>
        </p:spPr>
        <p:style>
          <a:lnRef idx="0">
            <a:schemeClr val="dk1"/>
          </a:lnRef>
          <a:fillRef idx="3">
            <a:schemeClr val="dk1"/>
          </a:fillRef>
          <a:effectRef idx="3">
            <a:schemeClr val="dk1"/>
          </a:effectRef>
          <a:fontRef idx="minor">
            <a:schemeClr val="lt1"/>
          </a:fontRef>
        </p:style>
        <p:txBody>
          <a:bodyPr rtlCol="0" anchor="ctr"/>
          <a:lstStyle/>
          <a:p>
            <a:pPr algn="ctr"/>
            <a:r>
              <a:rPr lang="fr-FR" sz="1100" dirty="0">
                <a:solidFill>
                  <a:schemeClr val="bg1">
                    <a:lumMod val="10000"/>
                  </a:schemeClr>
                </a:solidFill>
              </a:rPr>
              <a:t>Execution</a:t>
            </a:r>
          </a:p>
        </p:txBody>
      </p:sp>
      <p:cxnSp>
        <p:nvCxnSpPr>
          <p:cNvPr id="1112" name="Connecteur droit avec flèche 1111">
            <a:extLst>
              <a:ext uri="{FF2B5EF4-FFF2-40B4-BE49-F238E27FC236}">
                <a16:creationId xmlns:a16="http://schemas.microsoft.com/office/drawing/2014/main" id="{2DB87CB3-2C87-E3F9-77B7-41E6F9355710}"/>
              </a:ext>
            </a:extLst>
          </p:cNvPr>
          <p:cNvCxnSpPr>
            <a:cxnSpLocks/>
          </p:cNvCxnSpPr>
          <p:nvPr/>
        </p:nvCxnSpPr>
        <p:spPr>
          <a:xfrm>
            <a:off x="6891157" y="3299393"/>
            <a:ext cx="0" cy="200848"/>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113" name="Connecteur droit avec flèche 1112">
            <a:extLst>
              <a:ext uri="{FF2B5EF4-FFF2-40B4-BE49-F238E27FC236}">
                <a16:creationId xmlns:a16="http://schemas.microsoft.com/office/drawing/2014/main" id="{793D2FCF-8D95-9037-D7BF-603F2D40ADB0}"/>
              </a:ext>
            </a:extLst>
          </p:cNvPr>
          <p:cNvCxnSpPr>
            <a:cxnSpLocks/>
            <a:endCxn id="1103" idx="1"/>
          </p:cNvCxnSpPr>
          <p:nvPr/>
        </p:nvCxnSpPr>
        <p:spPr>
          <a:xfrm flipV="1">
            <a:off x="7675488" y="3516084"/>
            <a:ext cx="209213" cy="20428"/>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1114" name="Rectangle 1113">
            <a:extLst>
              <a:ext uri="{FF2B5EF4-FFF2-40B4-BE49-F238E27FC236}">
                <a16:creationId xmlns:a16="http://schemas.microsoft.com/office/drawing/2014/main" id="{8DD661A3-0120-07F4-C2F1-7A6E7CCA420A}"/>
              </a:ext>
            </a:extLst>
          </p:cNvPr>
          <p:cNvSpPr/>
          <p:nvPr/>
        </p:nvSpPr>
        <p:spPr>
          <a:xfrm rot="18398284">
            <a:off x="7912004" y="3491413"/>
            <a:ext cx="981388" cy="242225"/>
          </a:xfrm>
          <a:prstGeom prst="rect">
            <a:avLst/>
          </a:prstGeom>
          <a:solidFill>
            <a:srgbClr val="B9EFFF"/>
          </a:solidFill>
          <a:ln/>
        </p:spPr>
        <p:style>
          <a:lnRef idx="0">
            <a:schemeClr val="dk1"/>
          </a:lnRef>
          <a:fillRef idx="3">
            <a:schemeClr val="dk1"/>
          </a:fillRef>
          <a:effectRef idx="3">
            <a:schemeClr val="dk1"/>
          </a:effectRef>
          <a:fontRef idx="minor">
            <a:schemeClr val="lt1"/>
          </a:fontRef>
        </p:style>
        <p:txBody>
          <a:bodyPr rtlCol="0" anchor="ctr"/>
          <a:lstStyle/>
          <a:p>
            <a:pPr algn="ctr"/>
            <a:r>
              <a:rPr lang="fr-FR" sz="700" dirty="0">
                <a:solidFill>
                  <a:schemeClr val="bg1">
                    <a:lumMod val="10000"/>
                  </a:schemeClr>
                </a:solidFill>
              </a:rPr>
              <a:t>CurrencyReopsitory</a:t>
            </a:r>
            <a:endParaRPr lang="fr-FR" sz="1100" dirty="0">
              <a:solidFill>
                <a:schemeClr val="bg1">
                  <a:lumMod val="10000"/>
                </a:schemeClr>
              </a:solidFill>
            </a:endParaRPr>
          </a:p>
        </p:txBody>
      </p:sp>
      <p:cxnSp>
        <p:nvCxnSpPr>
          <p:cNvPr id="1115" name="Connecteur : en angle 1114">
            <a:extLst>
              <a:ext uri="{FF2B5EF4-FFF2-40B4-BE49-F238E27FC236}">
                <a16:creationId xmlns:a16="http://schemas.microsoft.com/office/drawing/2014/main" id="{4C02062D-8C38-055C-EBF1-DDE0F4E31C6B}"/>
              </a:ext>
            </a:extLst>
          </p:cNvPr>
          <p:cNvCxnSpPr>
            <a:cxnSpLocks/>
            <a:stCxn id="1105" idx="4"/>
          </p:cNvCxnSpPr>
          <p:nvPr/>
        </p:nvCxnSpPr>
        <p:spPr>
          <a:xfrm flipV="1">
            <a:off x="8259878" y="4105739"/>
            <a:ext cx="387560" cy="593076"/>
          </a:xfrm>
          <a:prstGeom prst="bentConnector2">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116" name="Connecteur droit avec flèche 1115">
            <a:extLst>
              <a:ext uri="{FF2B5EF4-FFF2-40B4-BE49-F238E27FC236}">
                <a16:creationId xmlns:a16="http://schemas.microsoft.com/office/drawing/2014/main" id="{C249F9B0-3F1C-2AB7-A389-DC6DEDAC7A09}"/>
              </a:ext>
            </a:extLst>
          </p:cNvPr>
          <p:cNvCxnSpPr/>
          <p:nvPr/>
        </p:nvCxnSpPr>
        <p:spPr>
          <a:xfrm flipH="1">
            <a:off x="7666404" y="3821125"/>
            <a:ext cx="218297"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117" name="Connecteur droit avec flèche 1116">
            <a:extLst>
              <a:ext uri="{FF2B5EF4-FFF2-40B4-BE49-F238E27FC236}">
                <a16:creationId xmlns:a16="http://schemas.microsoft.com/office/drawing/2014/main" id="{C3D17104-3086-AB8D-1867-003532CE3058}"/>
              </a:ext>
            </a:extLst>
          </p:cNvPr>
          <p:cNvCxnSpPr>
            <a:cxnSpLocks/>
          </p:cNvCxnSpPr>
          <p:nvPr/>
        </p:nvCxnSpPr>
        <p:spPr>
          <a:xfrm flipH="1">
            <a:off x="4997646" y="2907710"/>
            <a:ext cx="883655" cy="1621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1118" name="ZoneTexte 1117">
            <a:extLst>
              <a:ext uri="{FF2B5EF4-FFF2-40B4-BE49-F238E27FC236}">
                <a16:creationId xmlns:a16="http://schemas.microsoft.com/office/drawing/2014/main" id="{F06E6436-67A6-6461-F87A-F1F6BB892B82}"/>
              </a:ext>
            </a:extLst>
          </p:cNvPr>
          <p:cNvSpPr txBox="1"/>
          <p:nvPr/>
        </p:nvSpPr>
        <p:spPr>
          <a:xfrm>
            <a:off x="5450186" y="2893479"/>
            <a:ext cx="460227" cy="230832"/>
          </a:xfrm>
          <a:prstGeom prst="rect">
            <a:avLst/>
          </a:prstGeom>
          <a:noFill/>
        </p:spPr>
        <p:txBody>
          <a:bodyPr wrap="square" rtlCol="0">
            <a:spAutoFit/>
          </a:bodyPr>
          <a:lstStyle/>
          <a:p>
            <a:r>
              <a:rPr lang="fr-FR" sz="900" dirty="0"/>
              <a:t>Res</a:t>
            </a:r>
            <a:endParaRPr lang="fr-FR" dirty="0"/>
          </a:p>
        </p:txBody>
      </p:sp>
      <p:pic>
        <p:nvPicPr>
          <p:cNvPr id="1119" name="Image 1118">
            <a:extLst>
              <a:ext uri="{FF2B5EF4-FFF2-40B4-BE49-F238E27FC236}">
                <a16:creationId xmlns:a16="http://schemas.microsoft.com/office/drawing/2014/main" id="{F331D583-8A1B-48C3-60DA-2EC759E86937}"/>
              </a:ext>
            </a:extLst>
          </p:cNvPr>
          <p:cNvPicPr>
            <a:picLocks noChangeAspect="1"/>
          </p:cNvPicPr>
          <p:nvPr/>
        </p:nvPicPr>
        <p:blipFill>
          <a:blip r:embed="rId4"/>
          <a:stretch>
            <a:fillRect/>
          </a:stretch>
        </p:blipFill>
        <p:spPr>
          <a:xfrm>
            <a:off x="3827162" y="3471943"/>
            <a:ext cx="1997461" cy="1547924"/>
          </a:xfrm>
          <a:prstGeom prst="rect">
            <a:avLst/>
          </a:prstGeom>
          <a:ln>
            <a:solidFill>
              <a:srgbClr val="0074B2"/>
            </a:solidFill>
          </a:ln>
        </p:spPr>
      </p:pic>
      <p:cxnSp>
        <p:nvCxnSpPr>
          <p:cNvPr id="1120" name="Connecteur droit avec flèche 1119">
            <a:extLst>
              <a:ext uri="{FF2B5EF4-FFF2-40B4-BE49-F238E27FC236}">
                <a16:creationId xmlns:a16="http://schemas.microsoft.com/office/drawing/2014/main" id="{F6025FD8-02D6-459B-DC50-8290E129ABCC}"/>
              </a:ext>
            </a:extLst>
          </p:cNvPr>
          <p:cNvCxnSpPr>
            <a:cxnSpLocks/>
          </p:cNvCxnSpPr>
          <p:nvPr/>
        </p:nvCxnSpPr>
        <p:spPr>
          <a:xfrm flipH="1">
            <a:off x="5006304" y="2950209"/>
            <a:ext cx="376011" cy="495444"/>
          </a:xfrm>
          <a:prstGeom prst="straightConnector1">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1121" name="Image 1120">
            <a:extLst>
              <a:ext uri="{FF2B5EF4-FFF2-40B4-BE49-F238E27FC236}">
                <a16:creationId xmlns:a16="http://schemas.microsoft.com/office/drawing/2014/main" id="{138127AE-6663-9E86-13B6-21D29880D725}"/>
              </a:ext>
            </a:extLst>
          </p:cNvPr>
          <p:cNvPicPr>
            <a:picLocks noChangeAspect="1"/>
          </p:cNvPicPr>
          <p:nvPr/>
        </p:nvPicPr>
        <p:blipFill>
          <a:blip r:embed="rId5"/>
          <a:stretch>
            <a:fillRect/>
          </a:stretch>
        </p:blipFill>
        <p:spPr>
          <a:xfrm>
            <a:off x="5709733" y="123221"/>
            <a:ext cx="3331321" cy="936595"/>
          </a:xfrm>
          <a:prstGeom prst="rect">
            <a:avLst/>
          </a:prstGeom>
          <a:ln>
            <a:solidFill>
              <a:srgbClr val="0074B2"/>
            </a:solidFill>
          </a:ln>
        </p:spPr>
      </p:pic>
      <p:pic>
        <p:nvPicPr>
          <p:cNvPr id="1122" name="Image 1121">
            <a:extLst>
              <a:ext uri="{FF2B5EF4-FFF2-40B4-BE49-F238E27FC236}">
                <a16:creationId xmlns:a16="http://schemas.microsoft.com/office/drawing/2014/main" id="{715594D7-8FC5-1A43-C9D1-13361E8D4AD9}"/>
              </a:ext>
            </a:extLst>
          </p:cNvPr>
          <p:cNvPicPr>
            <a:picLocks noChangeAspect="1"/>
          </p:cNvPicPr>
          <p:nvPr/>
        </p:nvPicPr>
        <p:blipFill>
          <a:blip r:embed="rId6"/>
          <a:stretch>
            <a:fillRect/>
          </a:stretch>
        </p:blipFill>
        <p:spPr>
          <a:xfrm>
            <a:off x="7479203" y="1095790"/>
            <a:ext cx="1485902" cy="692256"/>
          </a:xfrm>
          <a:prstGeom prst="rect">
            <a:avLst/>
          </a:prstGeom>
          <a:ln>
            <a:solidFill>
              <a:srgbClr val="0074B2"/>
            </a:solidFill>
          </a:ln>
        </p:spPr>
      </p:pic>
      <p:sp>
        <p:nvSpPr>
          <p:cNvPr id="1128" name="ZoneTexte 1127">
            <a:extLst>
              <a:ext uri="{FF2B5EF4-FFF2-40B4-BE49-F238E27FC236}">
                <a16:creationId xmlns:a16="http://schemas.microsoft.com/office/drawing/2014/main" id="{EB1CAB99-BBBF-D341-B211-DE06226D5223}"/>
              </a:ext>
            </a:extLst>
          </p:cNvPr>
          <p:cNvSpPr txBox="1"/>
          <p:nvPr/>
        </p:nvSpPr>
        <p:spPr>
          <a:xfrm rot="19842837">
            <a:off x="8182053" y="4726010"/>
            <a:ext cx="1040677" cy="187725"/>
          </a:xfrm>
          <a:prstGeom prst="rect">
            <a:avLst/>
          </a:prstGeom>
          <a:noFill/>
        </p:spPr>
        <p:txBody>
          <a:bodyPr wrap="square" rtlCol="0">
            <a:spAutoFit/>
          </a:bodyPr>
          <a:lstStyle/>
          <a:p>
            <a:r>
              <a:rPr lang="fr-FR" sz="600" dirty="0"/>
              <a:t>Spring Data MongoDB</a:t>
            </a:r>
          </a:p>
        </p:txBody>
      </p:sp>
      <p:cxnSp>
        <p:nvCxnSpPr>
          <p:cNvPr id="1130" name="Connecteur droit 1129">
            <a:extLst>
              <a:ext uri="{FF2B5EF4-FFF2-40B4-BE49-F238E27FC236}">
                <a16:creationId xmlns:a16="http://schemas.microsoft.com/office/drawing/2014/main" id="{54148973-AFA1-2E8D-FC25-25775DEBF126}"/>
              </a:ext>
            </a:extLst>
          </p:cNvPr>
          <p:cNvCxnSpPr>
            <a:cxnSpLocks/>
          </p:cNvCxnSpPr>
          <p:nvPr/>
        </p:nvCxnSpPr>
        <p:spPr>
          <a:xfrm flipH="1">
            <a:off x="7351531" y="1466142"/>
            <a:ext cx="1595406" cy="1699933"/>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14745373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ZoneTexte 6">
            <a:extLst>
              <a:ext uri="{FF2B5EF4-FFF2-40B4-BE49-F238E27FC236}">
                <a16:creationId xmlns:a16="http://schemas.microsoft.com/office/drawing/2014/main" id="{1C73A8FB-61C4-9EBA-CDB3-5E0DD6B85A01}"/>
              </a:ext>
            </a:extLst>
          </p:cNvPr>
          <p:cNvSpPr txBox="1"/>
          <p:nvPr/>
        </p:nvSpPr>
        <p:spPr>
          <a:xfrm>
            <a:off x="34120" y="75063"/>
            <a:ext cx="9062113" cy="5008728"/>
          </a:xfrm>
          <a:prstGeom prst="rect">
            <a:avLst/>
          </a:prstGeom>
          <a:noFill/>
          <a:ln w="12700">
            <a:solidFill>
              <a:schemeClr val="bg1">
                <a:lumMod val="10000"/>
              </a:schemeClr>
            </a:solidFill>
          </a:ln>
        </p:spPr>
        <p:txBody>
          <a:bodyPr wrap="square" rtlCol="0">
            <a:spAutoFit/>
          </a:bodyPr>
          <a:lstStyle/>
          <a:p>
            <a:endParaRPr lang="fr-FR" dirty="0"/>
          </a:p>
        </p:txBody>
      </p:sp>
      <p:sp>
        <p:nvSpPr>
          <p:cNvPr id="8" name="Google Shape;523;p54">
            <a:extLst>
              <a:ext uri="{FF2B5EF4-FFF2-40B4-BE49-F238E27FC236}">
                <a16:creationId xmlns:a16="http://schemas.microsoft.com/office/drawing/2014/main" id="{69FEC302-85A1-BA8D-DBC1-72533EDCF78F}"/>
              </a:ext>
            </a:extLst>
          </p:cNvPr>
          <p:cNvSpPr txBox="1">
            <a:spLocks/>
          </p:cNvSpPr>
          <p:nvPr/>
        </p:nvSpPr>
        <p:spPr>
          <a:xfrm>
            <a:off x="786107" y="165107"/>
            <a:ext cx="1859590" cy="423914"/>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fr-FR" b="1" dirty="0" err="1"/>
              <a:t>GraphQL-Schema</a:t>
            </a:r>
            <a:endParaRPr lang="fr-FR" b="1" dirty="0"/>
          </a:p>
        </p:txBody>
      </p:sp>
      <p:sp>
        <p:nvSpPr>
          <p:cNvPr id="9" name="ZoneTexte 8">
            <a:extLst>
              <a:ext uri="{FF2B5EF4-FFF2-40B4-BE49-F238E27FC236}">
                <a16:creationId xmlns:a16="http://schemas.microsoft.com/office/drawing/2014/main" id="{B9CB9E4D-C274-D529-4AA4-FD0078DE7354}"/>
              </a:ext>
            </a:extLst>
          </p:cNvPr>
          <p:cNvSpPr txBox="1"/>
          <p:nvPr/>
        </p:nvSpPr>
        <p:spPr>
          <a:xfrm>
            <a:off x="146363" y="649902"/>
            <a:ext cx="3647556" cy="1569660"/>
          </a:xfrm>
          <a:prstGeom prst="rect">
            <a:avLst/>
          </a:prstGeom>
          <a:noFill/>
          <a:ln>
            <a:solidFill>
              <a:schemeClr val="bg2">
                <a:lumMod val="50000"/>
              </a:schemeClr>
            </a:solidFill>
          </a:ln>
        </p:spPr>
        <p:txBody>
          <a:bodyPr wrap="square" rtlCol="0">
            <a:spAutoFit/>
          </a:bodyPr>
          <a:lstStyle/>
          <a:p>
            <a:pPr>
              <a:buNone/>
            </a:pPr>
            <a:r>
              <a:rPr lang="de-DE" sz="1200" dirty="0">
                <a:latin typeface="Calibri Light" panose="020F0302020204030204" pitchFamily="34" charset="0"/>
                <a:ea typeface="Calibri Light" panose="020F0302020204030204" pitchFamily="34" charset="0"/>
                <a:cs typeface="Calibri Light" panose="020F0302020204030204" pitchFamily="34" charset="0"/>
              </a:rPr>
              <a:t>Alles beginnt mit der Definition eines </a:t>
            </a:r>
            <a:r>
              <a:rPr lang="de-DE" sz="1200" dirty="0" err="1">
                <a:latin typeface="Calibri Light" panose="020F0302020204030204" pitchFamily="34" charset="0"/>
                <a:ea typeface="Calibri Light" panose="020F0302020204030204" pitchFamily="34" charset="0"/>
                <a:cs typeface="Calibri Light" panose="020F0302020204030204" pitchFamily="34" charset="0"/>
              </a:rPr>
              <a:t>GraphQL</a:t>
            </a:r>
            <a:r>
              <a:rPr lang="de-DE" sz="1200" dirty="0">
                <a:latin typeface="Calibri Light" panose="020F0302020204030204" pitchFamily="34" charset="0"/>
                <a:ea typeface="Calibri Light" panose="020F0302020204030204" pitchFamily="34" charset="0"/>
                <a:cs typeface="Calibri Light" panose="020F0302020204030204" pitchFamily="34" charset="0"/>
              </a:rPr>
              <a:t>-Schemas.</a:t>
            </a:r>
            <a:br>
              <a:rPr lang="de-DE" sz="1200" dirty="0">
                <a:latin typeface="Calibri Light" panose="020F0302020204030204" pitchFamily="34" charset="0"/>
                <a:ea typeface="Calibri Light" panose="020F0302020204030204" pitchFamily="34" charset="0"/>
                <a:cs typeface="Calibri Light" panose="020F0302020204030204" pitchFamily="34" charset="0"/>
              </a:rPr>
            </a:br>
            <a:r>
              <a:rPr lang="de-DE" sz="1200" dirty="0">
                <a:latin typeface="Calibri Light" panose="020F0302020204030204" pitchFamily="34" charset="0"/>
                <a:ea typeface="Calibri Light" panose="020F0302020204030204" pitchFamily="34" charset="0"/>
                <a:cs typeface="Calibri Light" panose="020F0302020204030204" pitchFamily="34" charset="0"/>
              </a:rPr>
              <a:t>Das </a:t>
            </a:r>
            <a:r>
              <a:rPr lang="de-DE" sz="1200" dirty="0" err="1">
                <a:latin typeface="Calibri Light" panose="020F0302020204030204" pitchFamily="34" charset="0"/>
                <a:ea typeface="Calibri Light" panose="020F0302020204030204" pitchFamily="34" charset="0"/>
                <a:cs typeface="Calibri Light" panose="020F0302020204030204" pitchFamily="34" charset="0"/>
              </a:rPr>
              <a:t>GraphQL</a:t>
            </a:r>
            <a:r>
              <a:rPr lang="de-DE" sz="1200" dirty="0">
                <a:latin typeface="Calibri Light" panose="020F0302020204030204" pitchFamily="34" charset="0"/>
                <a:ea typeface="Calibri Light" panose="020F0302020204030204" pitchFamily="34" charset="0"/>
                <a:cs typeface="Calibri Light" panose="020F0302020204030204" pitchFamily="34" charset="0"/>
              </a:rPr>
              <a:t>-Schema beschreibt die verfügbaren </a:t>
            </a:r>
            <a:r>
              <a:rPr lang="de-DE" sz="1200" b="1" dirty="0">
                <a:latin typeface="Calibri Light" panose="020F0302020204030204" pitchFamily="34" charset="0"/>
                <a:ea typeface="Calibri Light" panose="020F0302020204030204" pitchFamily="34" charset="0"/>
                <a:cs typeface="Calibri Light" panose="020F0302020204030204" pitchFamily="34" charset="0"/>
              </a:rPr>
              <a:t>Datentypen</a:t>
            </a:r>
            <a:r>
              <a:rPr lang="de-DE" sz="1200" dirty="0">
                <a:latin typeface="Calibri Light" panose="020F0302020204030204" pitchFamily="34" charset="0"/>
                <a:ea typeface="Calibri Light" panose="020F0302020204030204" pitchFamily="34" charset="0"/>
                <a:cs typeface="Calibri Light" panose="020F0302020204030204" pitchFamily="34" charset="0"/>
              </a:rPr>
              <a:t> sowie die </a:t>
            </a:r>
            <a:r>
              <a:rPr lang="de-DE" sz="1200" b="1" dirty="0">
                <a:latin typeface="Calibri Light" panose="020F0302020204030204" pitchFamily="34" charset="0"/>
                <a:ea typeface="Calibri Light" panose="020F0302020204030204" pitchFamily="34" charset="0"/>
                <a:cs typeface="Calibri Light" panose="020F0302020204030204" pitchFamily="34" charset="0"/>
              </a:rPr>
              <a:t>Beziehungen</a:t>
            </a:r>
            <a:r>
              <a:rPr lang="de-DE" sz="1200" dirty="0">
                <a:latin typeface="Calibri Light" panose="020F0302020204030204" pitchFamily="34" charset="0"/>
                <a:ea typeface="Calibri Light" panose="020F0302020204030204" pitchFamily="34" charset="0"/>
                <a:cs typeface="Calibri Light" panose="020F0302020204030204" pitchFamily="34" charset="0"/>
              </a:rPr>
              <a:t> zwischen ihnen.</a:t>
            </a:r>
            <a:br>
              <a:rPr lang="de-DE" sz="1200" dirty="0">
                <a:latin typeface="Calibri Light" panose="020F0302020204030204" pitchFamily="34" charset="0"/>
                <a:ea typeface="Calibri Light" panose="020F0302020204030204" pitchFamily="34" charset="0"/>
                <a:cs typeface="Calibri Light" panose="020F0302020204030204" pitchFamily="34" charset="0"/>
              </a:rPr>
            </a:br>
            <a:r>
              <a:rPr lang="de-DE" sz="1200" dirty="0">
                <a:latin typeface="Calibri Light" panose="020F0302020204030204" pitchFamily="34" charset="0"/>
                <a:ea typeface="Calibri Light" panose="020F0302020204030204" pitchFamily="34" charset="0"/>
                <a:cs typeface="Calibri Light" panose="020F0302020204030204" pitchFamily="34" charset="0"/>
              </a:rPr>
              <a:t>Es handelt sich um eine </a:t>
            </a:r>
            <a:r>
              <a:rPr lang="de-DE" sz="1200" b="1" dirty="0">
                <a:latin typeface="Calibri Light" panose="020F0302020204030204" pitchFamily="34" charset="0"/>
                <a:ea typeface="Calibri Light" panose="020F0302020204030204" pitchFamily="34" charset="0"/>
                <a:cs typeface="Calibri Light" panose="020F0302020204030204" pitchFamily="34" charset="0"/>
              </a:rPr>
              <a:t>einheitliche Darstellung</a:t>
            </a:r>
            <a:r>
              <a:rPr lang="de-DE" sz="1200" dirty="0">
                <a:latin typeface="Calibri Light" panose="020F0302020204030204" pitchFamily="34" charset="0"/>
                <a:ea typeface="Calibri Light" panose="020F0302020204030204" pitchFamily="34" charset="0"/>
                <a:cs typeface="Calibri Light" panose="020F0302020204030204" pitchFamily="34" charset="0"/>
              </a:rPr>
              <a:t> aller Funktionalitäten der API.</a:t>
            </a:r>
            <a:br>
              <a:rPr lang="de-DE" sz="1200" dirty="0">
                <a:latin typeface="Calibri Light" panose="020F0302020204030204" pitchFamily="34" charset="0"/>
                <a:ea typeface="Calibri Light" panose="020F0302020204030204" pitchFamily="34" charset="0"/>
                <a:cs typeface="Calibri Light" panose="020F0302020204030204" pitchFamily="34" charset="0"/>
              </a:rPr>
            </a:br>
            <a:r>
              <a:rPr lang="de-DE" sz="1200" dirty="0">
                <a:latin typeface="Calibri Light" panose="020F0302020204030204" pitchFamily="34" charset="0"/>
                <a:ea typeface="Calibri Light" panose="020F0302020204030204" pitchFamily="34" charset="0"/>
                <a:cs typeface="Calibri Light" panose="020F0302020204030204" pitchFamily="34" charset="0"/>
              </a:rPr>
              <a:t>Das Schema wird mit einer </a:t>
            </a:r>
            <a:r>
              <a:rPr lang="de-DE" sz="1200" b="1" dirty="0">
                <a:latin typeface="Calibri Light" panose="020F0302020204030204" pitchFamily="34" charset="0"/>
                <a:ea typeface="Calibri Light" panose="020F0302020204030204" pitchFamily="34" charset="0"/>
                <a:cs typeface="Calibri Light" panose="020F0302020204030204" pitchFamily="34" charset="0"/>
              </a:rPr>
              <a:t>schemaspezifischen Sprache von </a:t>
            </a:r>
            <a:r>
              <a:rPr lang="de-DE" sz="1200" b="1" dirty="0" err="1">
                <a:latin typeface="Calibri Light" panose="020F0302020204030204" pitchFamily="34" charset="0"/>
                <a:ea typeface="Calibri Light" panose="020F0302020204030204" pitchFamily="34" charset="0"/>
                <a:cs typeface="Calibri Light" panose="020F0302020204030204" pitchFamily="34" charset="0"/>
              </a:rPr>
              <a:t>GraphQL</a:t>
            </a:r>
            <a:r>
              <a:rPr lang="de-DE" sz="1200" dirty="0">
                <a:latin typeface="Calibri Light" panose="020F0302020204030204" pitchFamily="34" charset="0"/>
                <a:ea typeface="Calibri Light" panose="020F0302020204030204" pitchFamily="34" charset="0"/>
                <a:cs typeface="Calibri Light" panose="020F0302020204030204" pitchFamily="34" charset="0"/>
              </a:rPr>
              <a:t> definiert – dem sogenannten </a:t>
            </a:r>
            <a:r>
              <a:rPr lang="de-DE" sz="1200" b="1" dirty="0" err="1">
                <a:latin typeface="Calibri Light" panose="020F0302020204030204" pitchFamily="34" charset="0"/>
                <a:ea typeface="Calibri Light" panose="020F0302020204030204" pitchFamily="34" charset="0"/>
                <a:cs typeface="Calibri Light" panose="020F0302020204030204" pitchFamily="34" charset="0"/>
              </a:rPr>
              <a:t>GraphQL</a:t>
            </a:r>
            <a:r>
              <a:rPr lang="de-DE" sz="1200" b="1" dirty="0">
                <a:latin typeface="Calibri Light" panose="020F0302020204030204" pitchFamily="34" charset="0"/>
                <a:ea typeface="Calibri Light" panose="020F0302020204030204" pitchFamily="34" charset="0"/>
                <a:cs typeface="Calibri Light" panose="020F0302020204030204" pitchFamily="34" charset="0"/>
              </a:rPr>
              <a:t> Schema Language (GQL)</a:t>
            </a:r>
            <a:r>
              <a:rPr lang="de-DE" sz="1200" dirty="0">
                <a:latin typeface="Calibri Light" panose="020F0302020204030204" pitchFamily="34" charset="0"/>
                <a:ea typeface="Calibri Light" panose="020F0302020204030204" pitchFamily="34" charset="0"/>
                <a:cs typeface="Calibri Light" panose="020F0302020204030204" pitchFamily="34" charset="0"/>
              </a:rPr>
              <a:t>.</a:t>
            </a:r>
            <a:endParaRPr lang="fr-FR" sz="1200" dirty="0">
              <a:latin typeface="Calibri Light" panose="020F0302020204030204" pitchFamily="34" charset="0"/>
              <a:ea typeface="Calibri Light" panose="020F0302020204030204" pitchFamily="34" charset="0"/>
              <a:cs typeface="Calibri Light" panose="020F0302020204030204" pitchFamily="34" charset="0"/>
            </a:endParaRPr>
          </a:p>
        </p:txBody>
      </p:sp>
      <p:pic>
        <p:nvPicPr>
          <p:cNvPr id="10" name="Image 9">
            <a:extLst>
              <a:ext uri="{FF2B5EF4-FFF2-40B4-BE49-F238E27FC236}">
                <a16:creationId xmlns:a16="http://schemas.microsoft.com/office/drawing/2014/main" id="{40356DCA-384F-4520-71E8-F832E5CC2EF7}"/>
              </a:ext>
            </a:extLst>
          </p:cNvPr>
          <p:cNvPicPr>
            <a:picLocks noChangeAspect="1"/>
          </p:cNvPicPr>
          <p:nvPr/>
        </p:nvPicPr>
        <p:blipFill>
          <a:blip r:embed="rId2"/>
          <a:stretch>
            <a:fillRect/>
          </a:stretch>
        </p:blipFill>
        <p:spPr>
          <a:xfrm>
            <a:off x="137744" y="2612694"/>
            <a:ext cx="5232651" cy="2346033"/>
          </a:xfrm>
          <a:prstGeom prst="rect">
            <a:avLst/>
          </a:prstGeom>
          <a:ln>
            <a:solidFill>
              <a:schemeClr val="bg2">
                <a:lumMod val="50000"/>
              </a:schemeClr>
            </a:solidFill>
          </a:ln>
        </p:spPr>
      </p:pic>
      <p:pic>
        <p:nvPicPr>
          <p:cNvPr id="11" name="Image 10">
            <a:extLst>
              <a:ext uri="{FF2B5EF4-FFF2-40B4-BE49-F238E27FC236}">
                <a16:creationId xmlns:a16="http://schemas.microsoft.com/office/drawing/2014/main" id="{B17CCA02-AF8E-BA95-4B50-4E70D1315E8D}"/>
              </a:ext>
            </a:extLst>
          </p:cNvPr>
          <p:cNvPicPr>
            <a:picLocks noChangeAspect="1"/>
          </p:cNvPicPr>
          <p:nvPr/>
        </p:nvPicPr>
        <p:blipFill>
          <a:blip r:embed="rId3"/>
          <a:stretch>
            <a:fillRect/>
          </a:stretch>
        </p:blipFill>
        <p:spPr>
          <a:xfrm rot="616703">
            <a:off x="3677339" y="364321"/>
            <a:ext cx="3254198" cy="3767509"/>
          </a:xfrm>
          <a:prstGeom prst="rect">
            <a:avLst/>
          </a:prstGeom>
          <a:ln>
            <a:solidFill>
              <a:schemeClr val="bg2">
                <a:lumMod val="50000"/>
              </a:schemeClr>
            </a:solidFill>
          </a:ln>
        </p:spPr>
      </p:pic>
      <p:pic>
        <p:nvPicPr>
          <p:cNvPr id="12" name="Image 11">
            <a:extLst>
              <a:ext uri="{FF2B5EF4-FFF2-40B4-BE49-F238E27FC236}">
                <a16:creationId xmlns:a16="http://schemas.microsoft.com/office/drawing/2014/main" id="{DD13D8A6-ABAC-6B48-B06A-4E79DA4A511C}"/>
              </a:ext>
            </a:extLst>
          </p:cNvPr>
          <p:cNvPicPr>
            <a:picLocks noChangeAspect="1"/>
          </p:cNvPicPr>
          <p:nvPr/>
        </p:nvPicPr>
        <p:blipFill>
          <a:blip r:embed="rId4"/>
          <a:stretch>
            <a:fillRect/>
          </a:stretch>
        </p:blipFill>
        <p:spPr>
          <a:xfrm>
            <a:off x="5813948" y="880789"/>
            <a:ext cx="3202568" cy="4043494"/>
          </a:xfrm>
          <a:prstGeom prst="rect">
            <a:avLst/>
          </a:prstGeom>
          <a:ln>
            <a:solidFill>
              <a:schemeClr val="bg2">
                <a:lumMod val="50000"/>
              </a:schemeClr>
            </a:solidFill>
          </a:ln>
        </p:spPr>
      </p:pic>
    </p:spTree>
    <p:extLst>
      <p:ext uri="{BB962C8B-B14F-4D97-AF65-F5344CB8AC3E}">
        <p14:creationId xmlns:p14="http://schemas.microsoft.com/office/powerpoint/2010/main" val="23199902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ZoneTexte 18">
            <a:extLst>
              <a:ext uri="{FF2B5EF4-FFF2-40B4-BE49-F238E27FC236}">
                <a16:creationId xmlns:a16="http://schemas.microsoft.com/office/drawing/2014/main" id="{6FBFC6F5-D93B-8C9D-0E32-5B5D7F2B0468}"/>
              </a:ext>
            </a:extLst>
          </p:cNvPr>
          <p:cNvSpPr txBox="1"/>
          <p:nvPr/>
        </p:nvSpPr>
        <p:spPr>
          <a:xfrm>
            <a:off x="47767" y="67277"/>
            <a:ext cx="9048466" cy="5022376"/>
          </a:xfrm>
          <a:prstGeom prst="rect">
            <a:avLst/>
          </a:prstGeom>
          <a:noFill/>
          <a:ln w="12700">
            <a:solidFill>
              <a:schemeClr val="bg1">
                <a:lumMod val="10000"/>
              </a:schemeClr>
            </a:solidFill>
          </a:ln>
        </p:spPr>
        <p:txBody>
          <a:bodyPr wrap="square" rtlCol="0">
            <a:spAutoFit/>
          </a:bodyPr>
          <a:lstStyle/>
          <a:p>
            <a:endParaRPr lang="fr-FR" dirty="0"/>
          </a:p>
        </p:txBody>
      </p:sp>
      <p:pic>
        <p:nvPicPr>
          <p:cNvPr id="20" name="Image 19">
            <a:extLst>
              <a:ext uri="{FF2B5EF4-FFF2-40B4-BE49-F238E27FC236}">
                <a16:creationId xmlns:a16="http://schemas.microsoft.com/office/drawing/2014/main" id="{8FFDB271-A851-246A-AA8C-5218C8524CB6}"/>
              </a:ext>
            </a:extLst>
          </p:cNvPr>
          <p:cNvPicPr>
            <a:picLocks noChangeAspect="1"/>
          </p:cNvPicPr>
          <p:nvPr/>
        </p:nvPicPr>
        <p:blipFill>
          <a:blip r:embed="rId2"/>
          <a:stretch>
            <a:fillRect/>
          </a:stretch>
        </p:blipFill>
        <p:spPr>
          <a:xfrm>
            <a:off x="150127" y="2129052"/>
            <a:ext cx="5558775" cy="2195719"/>
          </a:xfrm>
          <a:prstGeom prst="rect">
            <a:avLst/>
          </a:prstGeom>
          <a:ln>
            <a:solidFill>
              <a:schemeClr val="bg2">
                <a:lumMod val="50000"/>
              </a:schemeClr>
            </a:solidFill>
          </a:ln>
        </p:spPr>
      </p:pic>
      <p:pic>
        <p:nvPicPr>
          <p:cNvPr id="21" name="Image 20">
            <a:extLst>
              <a:ext uri="{FF2B5EF4-FFF2-40B4-BE49-F238E27FC236}">
                <a16:creationId xmlns:a16="http://schemas.microsoft.com/office/drawing/2014/main" id="{2BA90864-091A-25D5-2296-A59738F1241D}"/>
              </a:ext>
            </a:extLst>
          </p:cNvPr>
          <p:cNvPicPr>
            <a:picLocks noChangeAspect="1"/>
          </p:cNvPicPr>
          <p:nvPr/>
        </p:nvPicPr>
        <p:blipFill>
          <a:blip r:embed="rId3"/>
          <a:stretch>
            <a:fillRect/>
          </a:stretch>
        </p:blipFill>
        <p:spPr>
          <a:xfrm>
            <a:off x="2630878" y="3665312"/>
            <a:ext cx="2146409" cy="1321383"/>
          </a:xfrm>
          <a:prstGeom prst="rect">
            <a:avLst/>
          </a:prstGeom>
          <a:ln>
            <a:solidFill>
              <a:schemeClr val="bg2">
                <a:lumMod val="50000"/>
              </a:schemeClr>
            </a:solidFill>
          </a:ln>
        </p:spPr>
      </p:pic>
      <p:pic>
        <p:nvPicPr>
          <p:cNvPr id="22" name="Image 21">
            <a:extLst>
              <a:ext uri="{FF2B5EF4-FFF2-40B4-BE49-F238E27FC236}">
                <a16:creationId xmlns:a16="http://schemas.microsoft.com/office/drawing/2014/main" id="{61C8AABF-DD62-54BC-81B1-E656F95E3EF3}"/>
              </a:ext>
            </a:extLst>
          </p:cNvPr>
          <p:cNvPicPr>
            <a:picLocks noChangeAspect="1"/>
          </p:cNvPicPr>
          <p:nvPr/>
        </p:nvPicPr>
        <p:blipFill>
          <a:blip r:embed="rId4"/>
          <a:stretch>
            <a:fillRect/>
          </a:stretch>
        </p:blipFill>
        <p:spPr>
          <a:xfrm>
            <a:off x="4011465" y="156805"/>
            <a:ext cx="4470624" cy="3025780"/>
          </a:xfrm>
          <a:prstGeom prst="rect">
            <a:avLst/>
          </a:prstGeom>
          <a:ln>
            <a:solidFill>
              <a:schemeClr val="bg2">
                <a:lumMod val="50000"/>
              </a:schemeClr>
            </a:solidFill>
          </a:ln>
        </p:spPr>
      </p:pic>
      <p:pic>
        <p:nvPicPr>
          <p:cNvPr id="23" name="Image 22">
            <a:extLst>
              <a:ext uri="{FF2B5EF4-FFF2-40B4-BE49-F238E27FC236}">
                <a16:creationId xmlns:a16="http://schemas.microsoft.com/office/drawing/2014/main" id="{5D6141BB-BA92-82AE-5020-853EB7AA8372}"/>
              </a:ext>
            </a:extLst>
          </p:cNvPr>
          <p:cNvPicPr>
            <a:picLocks noChangeAspect="1"/>
          </p:cNvPicPr>
          <p:nvPr/>
        </p:nvPicPr>
        <p:blipFill>
          <a:blip r:embed="rId5"/>
          <a:stretch>
            <a:fillRect/>
          </a:stretch>
        </p:blipFill>
        <p:spPr>
          <a:xfrm rot="19759706">
            <a:off x="5361957" y="2815153"/>
            <a:ext cx="3576263" cy="1408662"/>
          </a:xfrm>
          <a:prstGeom prst="rect">
            <a:avLst/>
          </a:prstGeom>
          <a:ln>
            <a:solidFill>
              <a:schemeClr val="bg2">
                <a:lumMod val="50000"/>
              </a:schemeClr>
            </a:solidFill>
          </a:ln>
        </p:spPr>
      </p:pic>
      <p:sp>
        <p:nvSpPr>
          <p:cNvPr id="24" name="ZoneTexte 23">
            <a:extLst>
              <a:ext uri="{FF2B5EF4-FFF2-40B4-BE49-F238E27FC236}">
                <a16:creationId xmlns:a16="http://schemas.microsoft.com/office/drawing/2014/main" id="{B9DB9779-5008-3FCB-3CFD-5F30D77C201F}"/>
              </a:ext>
            </a:extLst>
          </p:cNvPr>
          <p:cNvSpPr txBox="1"/>
          <p:nvPr/>
        </p:nvSpPr>
        <p:spPr>
          <a:xfrm>
            <a:off x="381160" y="493876"/>
            <a:ext cx="3392446" cy="1569660"/>
          </a:xfrm>
          <a:prstGeom prst="rect">
            <a:avLst/>
          </a:prstGeom>
          <a:noFill/>
          <a:ln>
            <a:solidFill>
              <a:schemeClr val="bg2">
                <a:lumMod val="50000"/>
              </a:schemeClr>
            </a:solidFill>
          </a:ln>
        </p:spPr>
        <p:txBody>
          <a:bodyPr wrap="square" rtlCol="0">
            <a:spAutoFit/>
          </a:bodyPr>
          <a:lstStyle/>
          <a:p>
            <a:r>
              <a:rPr lang="de-DE" sz="1200" dirty="0">
                <a:latin typeface="Calibri Light" panose="020F0302020204030204" pitchFamily="34" charset="0"/>
                <a:ea typeface="Calibri Light" panose="020F0302020204030204" pitchFamily="34" charset="0"/>
                <a:cs typeface="Calibri Light" panose="020F0302020204030204" pitchFamily="34" charset="0"/>
              </a:rPr>
              <a:t>Sobald das Schema definiert ist, werden sogenannte </a:t>
            </a:r>
            <a:r>
              <a:rPr lang="de-DE" sz="1200" b="1" dirty="0">
                <a:latin typeface="Calibri Light" panose="020F0302020204030204" pitchFamily="34" charset="0"/>
                <a:ea typeface="Calibri Light" panose="020F0302020204030204" pitchFamily="34" charset="0"/>
                <a:cs typeface="Calibri Light" panose="020F0302020204030204" pitchFamily="34" charset="0"/>
              </a:rPr>
              <a:t>Resolver</a:t>
            </a:r>
            <a:r>
              <a:rPr lang="de-DE" sz="1200" dirty="0">
                <a:latin typeface="Calibri Light" panose="020F0302020204030204" pitchFamily="34" charset="0"/>
                <a:ea typeface="Calibri Light" panose="020F0302020204030204" pitchFamily="34" charset="0"/>
                <a:cs typeface="Calibri Light" panose="020F0302020204030204" pitchFamily="34" charset="0"/>
              </a:rPr>
              <a:t> eingerichtet.</a:t>
            </a:r>
            <a:br>
              <a:rPr lang="de-DE" sz="1200" dirty="0">
                <a:latin typeface="Calibri Light" panose="020F0302020204030204" pitchFamily="34" charset="0"/>
                <a:ea typeface="Calibri Light" panose="020F0302020204030204" pitchFamily="34" charset="0"/>
                <a:cs typeface="Calibri Light" panose="020F0302020204030204" pitchFamily="34" charset="0"/>
              </a:rPr>
            </a:br>
            <a:r>
              <a:rPr lang="de-DE" sz="1200" dirty="0">
                <a:latin typeface="Calibri Light" panose="020F0302020204030204" pitchFamily="34" charset="0"/>
                <a:ea typeface="Calibri Light" panose="020F0302020204030204" pitchFamily="34" charset="0"/>
                <a:cs typeface="Calibri Light" panose="020F0302020204030204" pitchFamily="34" charset="0"/>
              </a:rPr>
              <a:t>Resolver sind Funktionen, die die </a:t>
            </a:r>
            <a:r>
              <a:rPr lang="de-DE" sz="1200" b="1" dirty="0">
                <a:latin typeface="Calibri Light" panose="020F0302020204030204" pitchFamily="34" charset="0"/>
                <a:ea typeface="Calibri Light" panose="020F0302020204030204" pitchFamily="34" charset="0"/>
                <a:cs typeface="Calibri Light" panose="020F0302020204030204" pitchFamily="34" charset="0"/>
              </a:rPr>
              <a:t>Daten für jedes Feld eines Datentyps abrufen</a:t>
            </a:r>
            <a:r>
              <a:rPr lang="de-DE" sz="1200" dirty="0">
                <a:latin typeface="Calibri Light" panose="020F0302020204030204" pitchFamily="34" charset="0"/>
                <a:ea typeface="Calibri Light" panose="020F0302020204030204" pitchFamily="34" charset="0"/>
                <a:cs typeface="Calibri Light" panose="020F0302020204030204" pitchFamily="34" charset="0"/>
              </a:rPr>
              <a:t>.</a:t>
            </a:r>
            <a:br>
              <a:rPr lang="de-DE" sz="1200" dirty="0">
                <a:latin typeface="Calibri Light" panose="020F0302020204030204" pitchFamily="34" charset="0"/>
                <a:ea typeface="Calibri Light" panose="020F0302020204030204" pitchFamily="34" charset="0"/>
                <a:cs typeface="Calibri Light" panose="020F0302020204030204" pitchFamily="34" charset="0"/>
              </a:rPr>
            </a:br>
            <a:r>
              <a:rPr lang="de-DE" sz="1200" dirty="0">
                <a:latin typeface="Calibri Light" panose="020F0302020204030204" pitchFamily="34" charset="0"/>
                <a:ea typeface="Calibri Light" panose="020F0302020204030204" pitchFamily="34" charset="0"/>
                <a:cs typeface="Calibri Light" panose="020F0302020204030204" pitchFamily="34" charset="0"/>
              </a:rPr>
              <a:t>Zum Beispiel: Um die Daten eines Feldes </a:t>
            </a:r>
            <a:r>
              <a:rPr lang="de-DE" sz="1200" b="1" dirty="0">
                <a:latin typeface="Calibri Light" panose="020F0302020204030204" pitchFamily="34" charset="0"/>
                <a:ea typeface="Calibri Light" panose="020F0302020204030204" pitchFamily="34" charset="0"/>
                <a:cs typeface="Calibri Light" panose="020F0302020204030204" pitchFamily="34" charset="0"/>
              </a:rPr>
              <a:t>„</a:t>
            </a:r>
            <a:r>
              <a:rPr lang="de-DE" sz="1200" b="1" dirty="0" err="1">
                <a:latin typeface="Calibri Light" panose="020F0302020204030204" pitchFamily="34" charset="0"/>
                <a:ea typeface="Calibri Light" panose="020F0302020204030204" pitchFamily="34" charset="0"/>
                <a:cs typeface="Calibri Light" panose="020F0302020204030204" pitchFamily="34" charset="0"/>
              </a:rPr>
              <a:t>price</a:t>
            </a:r>
            <a:r>
              <a:rPr lang="de-DE" sz="1200" b="1" dirty="0">
                <a:latin typeface="Calibri Light" panose="020F0302020204030204" pitchFamily="34" charset="0"/>
                <a:ea typeface="Calibri Light" panose="020F0302020204030204" pitchFamily="34" charset="0"/>
                <a:cs typeface="Calibri Light" panose="020F0302020204030204" pitchFamily="34" charset="0"/>
              </a:rPr>
              <a:t>“</a:t>
            </a:r>
            <a:r>
              <a:rPr lang="de-DE" sz="1200" dirty="0">
                <a:latin typeface="Calibri Light" panose="020F0302020204030204" pitchFamily="34" charset="0"/>
                <a:ea typeface="Calibri Light" panose="020F0302020204030204" pitchFamily="34" charset="0"/>
                <a:cs typeface="Calibri Light" panose="020F0302020204030204" pitchFamily="34" charset="0"/>
              </a:rPr>
              <a:t> des Typs </a:t>
            </a:r>
            <a:r>
              <a:rPr lang="de-DE" sz="1200" b="1" dirty="0">
                <a:latin typeface="Calibri Light" panose="020F0302020204030204" pitchFamily="34" charset="0"/>
                <a:ea typeface="Calibri Light" panose="020F0302020204030204" pitchFamily="34" charset="0"/>
                <a:cs typeface="Calibri Light" panose="020F0302020204030204" pitchFamily="34" charset="0"/>
              </a:rPr>
              <a:t>„</a:t>
            </a:r>
            <a:r>
              <a:rPr lang="de-DE" sz="1200" dirty="0">
                <a:latin typeface="Calibri Light" panose="020F0302020204030204" pitchFamily="34" charset="0"/>
                <a:ea typeface="Calibri Light" panose="020F0302020204030204" pitchFamily="34" charset="0"/>
                <a:cs typeface="Calibri Light" panose="020F0302020204030204" pitchFamily="34" charset="0"/>
              </a:rPr>
              <a:t>Currency</a:t>
            </a:r>
            <a:r>
              <a:rPr lang="de-DE" sz="1200" b="1" dirty="0">
                <a:latin typeface="Calibri Light" panose="020F0302020204030204" pitchFamily="34" charset="0"/>
                <a:ea typeface="Calibri Light" panose="020F0302020204030204" pitchFamily="34" charset="0"/>
                <a:cs typeface="Calibri Light" panose="020F0302020204030204" pitchFamily="34" charset="0"/>
              </a:rPr>
              <a:t>“</a:t>
            </a:r>
            <a:r>
              <a:rPr lang="de-DE" sz="1200" dirty="0">
                <a:latin typeface="Calibri Light" panose="020F0302020204030204" pitchFamily="34" charset="0"/>
                <a:ea typeface="Calibri Light" panose="020F0302020204030204" pitchFamily="34" charset="0"/>
                <a:cs typeface="Calibri Light" panose="020F0302020204030204" pitchFamily="34" charset="0"/>
              </a:rPr>
              <a:t> zu erhalten, wird ein Resolver eingerichtet, der die </a:t>
            </a:r>
            <a:r>
              <a:rPr lang="de-DE" sz="1200" b="1" dirty="0">
                <a:latin typeface="Calibri Light" panose="020F0302020204030204" pitchFamily="34" charset="0"/>
                <a:ea typeface="Calibri Light" panose="020F0302020204030204" pitchFamily="34" charset="0"/>
                <a:cs typeface="Calibri Light" panose="020F0302020204030204" pitchFamily="34" charset="0"/>
              </a:rPr>
              <a:t>Datenbank abfragt</a:t>
            </a:r>
            <a:r>
              <a:rPr lang="de-DE" sz="1200" dirty="0">
                <a:latin typeface="Calibri Light" panose="020F0302020204030204" pitchFamily="34" charset="0"/>
                <a:ea typeface="Calibri Light" panose="020F0302020204030204" pitchFamily="34" charset="0"/>
                <a:cs typeface="Calibri Light" panose="020F0302020204030204" pitchFamily="34" charset="0"/>
              </a:rPr>
              <a:t>, um den mit diesem </a:t>
            </a:r>
            <a:r>
              <a:rPr lang="de-DE" sz="1200" b="1" dirty="0">
                <a:latin typeface="Calibri Light" panose="020F0302020204030204" pitchFamily="34" charset="0"/>
                <a:ea typeface="Calibri Light" panose="020F0302020204030204" pitchFamily="34" charset="0"/>
                <a:cs typeface="Calibri Light" panose="020F0302020204030204" pitchFamily="34" charset="0"/>
              </a:rPr>
              <a:t>Currency</a:t>
            </a:r>
            <a:r>
              <a:rPr lang="de-DE" sz="1200" dirty="0">
                <a:latin typeface="Calibri Light" panose="020F0302020204030204" pitchFamily="34" charset="0"/>
                <a:ea typeface="Calibri Light" panose="020F0302020204030204" pitchFamily="34" charset="0"/>
                <a:cs typeface="Calibri Light" panose="020F0302020204030204" pitchFamily="34" charset="0"/>
              </a:rPr>
              <a:t> verknüpften </a:t>
            </a:r>
            <a:r>
              <a:rPr lang="de-DE" sz="1200" b="1" dirty="0" err="1">
                <a:latin typeface="Calibri Light" panose="020F0302020204030204" pitchFamily="34" charset="0"/>
                <a:ea typeface="Calibri Light" panose="020F0302020204030204" pitchFamily="34" charset="0"/>
                <a:cs typeface="Calibri Light" panose="020F0302020204030204" pitchFamily="34" charset="0"/>
              </a:rPr>
              <a:t>price</a:t>
            </a:r>
            <a:r>
              <a:rPr lang="de-DE" sz="1200" dirty="0">
                <a:latin typeface="Calibri Light" panose="020F0302020204030204" pitchFamily="34" charset="0"/>
                <a:ea typeface="Calibri Light" panose="020F0302020204030204" pitchFamily="34" charset="0"/>
                <a:cs typeface="Calibri Light" panose="020F0302020204030204" pitchFamily="34" charset="0"/>
              </a:rPr>
              <a:t> abzurufen</a:t>
            </a:r>
            <a:endParaRPr lang="fr-FR" sz="1200"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25" name="Google Shape;523;p54">
            <a:extLst>
              <a:ext uri="{FF2B5EF4-FFF2-40B4-BE49-F238E27FC236}">
                <a16:creationId xmlns:a16="http://schemas.microsoft.com/office/drawing/2014/main" id="{08EC627D-3C73-7917-4C03-0ABA95DF93E8}"/>
              </a:ext>
            </a:extLst>
          </p:cNvPr>
          <p:cNvSpPr txBox="1">
            <a:spLocks/>
          </p:cNvSpPr>
          <p:nvPr/>
        </p:nvSpPr>
        <p:spPr>
          <a:xfrm>
            <a:off x="786107" y="83219"/>
            <a:ext cx="1859590" cy="423914"/>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fr-FR" b="1" dirty="0"/>
              <a:t>GraphQL-Resolvers</a:t>
            </a:r>
          </a:p>
        </p:txBody>
      </p:sp>
    </p:spTree>
    <p:extLst>
      <p:ext uri="{BB962C8B-B14F-4D97-AF65-F5344CB8AC3E}">
        <p14:creationId xmlns:p14="http://schemas.microsoft.com/office/powerpoint/2010/main" val="13753902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ZoneTexte 12">
            <a:extLst>
              <a:ext uri="{FF2B5EF4-FFF2-40B4-BE49-F238E27FC236}">
                <a16:creationId xmlns:a16="http://schemas.microsoft.com/office/drawing/2014/main" id="{D0AC6945-35BB-8812-1E93-93762B44C9F1}"/>
              </a:ext>
            </a:extLst>
          </p:cNvPr>
          <p:cNvSpPr txBox="1"/>
          <p:nvPr/>
        </p:nvSpPr>
        <p:spPr>
          <a:xfrm>
            <a:off x="61415" y="47767"/>
            <a:ext cx="9021170" cy="5015552"/>
          </a:xfrm>
          <a:prstGeom prst="rect">
            <a:avLst/>
          </a:prstGeom>
          <a:noFill/>
          <a:ln w="12700">
            <a:solidFill>
              <a:schemeClr val="bg2">
                <a:lumMod val="50000"/>
              </a:schemeClr>
            </a:solidFill>
          </a:ln>
        </p:spPr>
        <p:txBody>
          <a:bodyPr wrap="square" rtlCol="0">
            <a:spAutoFit/>
          </a:bodyPr>
          <a:lstStyle/>
          <a:p>
            <a:endParaRPr lang="fr-FR" dirty="0"/>
          </a:p>
        </p:txBody>
      </p:sp>
      <p:sp>
        <p:nvSpPr>
          <p:cNvPr id="14" name="Google Shape;523;p54">
            <a:extLst>
              <a:ext uri="{FF2B5EF4-FFF2-40B4-BE49-F238E27FC236}">
                <a16:creationId xmlns:a16="http://schemas.microsoft.com/office/drawing/2014/main" id="{57EDDA6F-70F7-9B5E-E295-9AA94BA548E8}"/>
              </a:ext>
            </a:extLst>
          </p:cNvPr>
          <p:cNvSpPr txBox="1">
            <a:spLocks/>
          </p:cNvSpPr>
          <p:nvPr/>
        </p:nvSpPr>
        <p:spPr>
          <a:xfrm>
            <a:off x="499503" y="144099"/>
            <a:ext cx="1922975" cy="423914"/>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fr-FR" b="1" dirty="0"/>
              <a:t>Query and Mutation</a:t>
            </a:r>
          </a:p>
        </p:txBody>
      </p:sp>
      <p:sp>
        <p:nvSpPr>
          <p:cNvPr id="15" name="ZoneTexte 14">
            <a:extLst>
              <a:ext uri="{FF2B5EF4-FFF2-40B4-BE49-F238E27FC236}">
                <a16:creationId xmlns:a16="http://schemas.microsoft.com/office/drawing/2014/main" id="{450364D9-2C59-9DEA-F1B8-8EB7A8F7BE0A}"/>
              </a:ext>
            </a:extLst>
          </p:cNvPr>
          <p:cNvSpPr txBox="1"/>
          <p:nvPr/>
        </p:nvSpPr>
        <p:spPr>
          <a:xfrm>
            <a:off x="185605" y="568013"/>
            <a:ext cx="3444700" cy="4031873"/>
          </a:xfrm>
          <a:prstGeom prst="rect">
            <a:avLst/>
          </a:prstGeom>
          <a:noFill/>
          <a:ln>
            <a:solidFill>
              <a:schemeClr val="bg2">
                <a:lumMod val="50000"/>
              </a:schemeClr>
            </a:solidFill>
          </a:ln>
        </p:spPr>
        <p:txBody>
          <a:bodyPr wrap="square" rtlCol="0">
            <a:spAutoFit/>
          </a:bodyPr>
          <a:lstStyle/>
          <a:p>
            <a:pPr>
              <a:buNone/>
            </a:pPr>
            <a:r>
              <a:rPr lang="de-DE" sz="1200" b="1" dirty="0">
                <a:latin typeface="Calibri Light" panose="020F0302020204030204" pitchFamily="34" charset="0"/>
                <a:ea typeface="Calibri Light" panose="020F0302020204030204" pitchFamily="34" charset="0"/>
                <a:cs typeface="Calibri Light" panose="020F0302020204030204" pitchFamily="34" charset="0"/>
              </a:rPr>
              <a:t>Anfragen und Mutationen</a:t>
            </a:r>
            <a:r>
              <a:rPr lang="de-DE" sz="1200" dirty="0">
                <a:latin typeface="Calibri Light" panose="020F0302020204030204" pitchFamily="34" charset="0"/>
                <a:ea typeface="Calibri Light" panose="020F0302020204030204" pitchFamily="34" charset="0"/>
                <a:cs typeface="Calibri Light" panose="020F0302020204030204" pitchFamily="34" charset="0"/>
              </a:rPr>
              <a:t>:</a:t>
            </a:r>
            <a:br>
              <a:rPr lang="de-DE" sz="1200" dirty="0">
                <a:latin typeface="Calibri Light" panose="020F0302020204030204" pitchFamily="34" charset="0"/>
                <a:ea typeface="Calibri Light" panose="020F0302020204030204" pitchFamily="34" charset="0"/>
                <a:cs typeface="Calibri Light" panose="020F0302020204030204" pitchFamily="34" charset="0"/>
              </a:rPr>
            </a:br>
            <a:r>
              <a:rPr lang="de-DE" sz="1200" b="1" dirty="0" err="1">
                <a:latin typeface="Calibri Light" panose="020F0302020204030204" pitchFamily="34" charset="0"/>
                <a:ea typeface="Calibri Light" panose="020F0302020204030204" pitchFamily="34" charset="0"/>
                <a:cs typeface="Calibri Light" panose="020F0302020204030204" pitchFamily="34" charset="0"/>
              </a:rPr>
              <a:t>GraphQL</a:t>
            </a:r>
            <a:r>
              <a:rPr lang="de-DE" sz="1200" b="1" dirty="0">
                <a:latin typeface="Calibri Light" panose="020F0302020204030204" pitchFamily="34" charset="0"/>
                <a:ea typeface="Calibri Light" panose="020F0302020204030204" pitchFamily="34" charset="0"/>
                <a:cs typeface="Calibri Light" panose="020F0302020204030204" pitchFamily="34" charset="0"/>
              </a:rPr>
              <a:t>-Clients</a:t>
            </a:r>
            <a:r>
              <a:rPr lang="de-DE" sz="1200" dirty="0">
                <a:latin typeface="Calibri Light" panose="020F0302020204030204" pitchFamily="34" charset="0"/>
                <a:ea typeface="Calibri Light" panose="020F0302020204030204" pitchFamily="34" charset="0"/>
                <a:cs typeface="Calibri Light" panose="020F0302020204030204" pitchFamily="34" charset="0"/>
              </a:rPr>
              <a:t> können Anfragen stellen, um Daten von der API abzurufen. Diese Anfragen werden mit der </a:t>
            </a:r>
            <a:r>
              <a:rPr lang="de-DE" sz="1200" b="1" dirty="0" err="1">
                <a:latin typeface="Calibri Light" panose="020F0302020204030204" pitchFamily="34" charset="0"/>
                <a:ea typeface="Calibri Light" panose="020F0302020204030204" pitchFamily="34" charset="0"/>
                <a:cs typeface="Calibri Light" panose="020F0302020204030204" pitchFamily="34" charset="0"/>
              </a:rPr>
              <a:t>GraphQL</a:t>
            </a:r>
            <a:r>
              <a:rPr lang="de-DE" sz="1200" b="1" dirty="0">
                <a:latin typeface="Calibri Light" panose="020F0302020204030204" pitchFamily="34" charset="0"/>
                <a:ea typeface="Calibri Light" panose="020F0302020204030204" pitchFamily="34" charset="0"/>
                <a:cs typeface="Calibri Light" panose="020F0302020204030204" pitchFamily="34" charset="0"/>
              </a:rPr>
              <a:t>-Abfragesprache</a:t>
            </a:r>
            <a:r>
              <a:rPr lang="de-DE" sz="1200" dirty="0">
                <a:latin typeface="Calibri Light" panose="020F0302020204030204" pitchFamily="34" charset="0"/>
                <a:ea typeface="Calibri Light" panose="020F0302020204030204" pitchFamily="34" charset="0"/>
                <a:cs typeface="Calibri Light" panose="020F0302020204030204" pitchFamily="34" charset="0"/>
              </a:rPr>
              <a:t> formuliert, die es den Clients ermöglicht, genau die Daten anzugeben, die sie benötigen. Die Anfragen können auch Argumente enthalten, um die Ergebnisse zu filtern, zu sortieren oder zu paginieren. Neben Anfragen können Clients auch Mutationen durchführen, um Daten auf der Serverseite zu erstellen, zu aktualisieren oder zu löschen.</a:t>
            </a:r>
          </a:p>
          <a:p>
            <a:pPr>
              <a:buNone/>
            </a:pPr>
            <a:endParaRPr lang="de-DE" sz="1200" dirty="0">
              <a:latin typeface="Calibri Light" panose="020F0302020204030204" pitchFamily="34" charset="0"/>
              <a:ea typeface="Calibri Light" panose="020F0302020204030204" pitchFamily="34" charset="0"/>
              <a:cs typeface="Calibri Light" panose="020F0302020204030204" pitchFamily="34" charset="0"/>
            </a:endParaRPr>
          </a:p>
          <a:p>
            <a:pPr>
              <a:buNone/>
            </a:pPr>
            <a:r>
              <a:rPr lang="fr-FR" sz="1200" b="1" dirty="0"/>
              <a:t>Allgemeine Struktur einer GraphQL-Anfrage:</a:t>
            </a:r>
            <a:br>
              <a:rPr lang="fr-FR" sz="1200" dirty="0"/>
            </a:br>
            <a:r>
              <a:rPr lang="fr-FR" sz="1200" dirty="0">
                <a:latin typeface="Calibri Light" panose="020F0302020204030204" pitchFamily="34" charset="0"/>
                <a:ea typeface="Calibri Light" panose="020F0302020204030204" pitchFamily="34" charset="0"/>
                <a:cs typeface="Calibri Light" panose="020F0302020204030204" pitchFamily="34" charset="0"/>
              </a:rPr>
              <a:t>Eine GraphQL-Anfrage besteht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aus</a:t>
            </a:r>
            <a:r>
              <a:rPr lang="fr-FR" sz="1200" dirty="0">
                <a:latin typeface="Calibri Light" panose="020F0302020204030204" pitchFamily="34" charset="0"/>
                <a:ea typeface="Calibri Light" panose="020F0302020204030204" pitchFamily="34" charset="0"/>
                <a:cs typeface="Calibri Light" panose="020F0302020204030204" pitchFamily="34" charset="0"/>
              </a:rPr>
              <a:t> vier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Hauptbestandteilen</a:t>
            </a:r>
            <a:r>
              <a:rPr lang="fr-FR" sz="1200" dirty="0">
                <a:latin typeface="Calibri Light" panose="020F0302020204030204" pitchFamily="34" charset="0"/>
                <a:ea typeface="Calibri Light" panose="020F0302020204030204" pitchFamily="34" charset="0"/>
                <a:cs typeface="Calibri Light" panose="020F0302020204030204" pitchFamily="34" charset="0"/>
              </a:rPr>
              <a:t>:</a:t>
            </a:r>
            <a:br>
              <a:rPr lang="fr-FR" sz="1200" dirty="0">
                <a:latin typeface="Calibri Light" panose="020F0302020204030204" pitchFamily="34" charset="0"/>
                <a:ea typeface="Calibri Light" panose="020F0302020204030204" pitchFamily="34" charset="0"/>
                <a:cs typeface="Calibri Light" panose="020F0302020204030204" pitchFamily="34" charset="0"/>
              </a:rPr>
            </a:br>
            <a:br>
              <a:rPr lang="fr-FR" sz="1200" dirty="0">
                <a:latin typeface="Calibri Light" panose="020F0302020204030204" pitchFamily="34" charset="0"/>
                <a:ea typeface="Calibri Light" panose="020F0302020204030204" pitchFamily="34" charset="0"/>
                <a:cs typeface="Calibri Light" panose="020F0302020204030204" pitchFamily="34" charset="0"/>
              </a:rPr>
            </a:br>
            <a:r>
              <a:rPr lang="fr-FR" sz="1200" dirty="0">
                <a:latin typeface="Calibri Light" panose="020F0302020204030204" pitchFamily="34" charset="0"/>
                <a:ea typeface="Calibri Light" panose="020F0302020204030204" pitchFamily="34" charset="0"/>
                <a:cs typeface="Calibri Light" panose="020F0302020204030204" pitchFamily="34" charset="0"/>
              </a:rPr>
              <a:t>[1] </a:t>
            </a:r>
            <a:r>
              <a:rPr lang="fr-FR" sz="1200" b="1" dirty="0">
                <a:latin typeface="Calibri Light" panose="020F0302020204030204" pitchFamily="34" charset="0"/>
                <a:ea typeface="Calibri Light" panose="020F0302020204030204" pitchFamily="34" charset="0"/>
                <a:cs typeface="Calibri Light" panose="020F0302020204030204" pitchFamily="34" charset="0"/>
              </a:rPr>
              <a:t>Operationstyp</a:t>
            </a:r>
            <a:r>
              <a:rPr lang="fr-FR" sz="1200" dirty="0">
                <a:latin typeface="Calibri Light" panose="020F0302020204030204" pitchFamily="34" charset="0"/>
                <a:ea typeface="Calibri Light" panose="020F0302020204030204" pitchFamily="34" charset="0"/>
                <a:cs typeface="Calibri Light" panose="020F0302020204030204" pitchFamily="34" charset="0"/>
              </a:rPr>
              <a:t> (query, mutation)</a:t>
            </a:r>
            <a:br>
              <a:rPr lang="fr-FR" sz="1200" dirty="0">
                <a:latin typeface="Calibri Light" panose="020F0302020204030204" pitchFamily="34" charset="0"/>
                <a:ea typeface="Calibri Light" panose="020F0302020204030204" pitchFamily="34" charset="0"/>
                <a:cs typeface="Calibri Light" panose="020F0302020204030204" pitchFamily="34" charset="0"/>
              </a:rPr>
            </a:br>
            <a:r>
              <a:rPr lang="fr-FR" sz="1200" dirty="0">
                <a:latin typeface="Calibri Light" panose="020F0302020204030204" pitchFamily="34" charset="0"/>
                <a:ea typeface="Calibri Light" panose="020F0302020204030204" pitchFamily="34" charset="0"/>
                <a:cs typeface="Calibri Light" panose="020F0302020204030204" pitchFamily="34" charset="0"/>
              </a:rPr>
              <a:t>[2] </a:t>
            </a:r>
            <a:r>
              <a:rPr lang="fr-FR" sz="1200" b="1" dirty="0">
                <a:latin typeface="Calibri Light" panose="020F0302020204030204" pitchFamily="34" charset="0"/>
                <a:ea typeface="Calibri Light" panose="020F0302020204030204" pitchFamily="34" charset="0"/>
                <a:cs typeface="Calibri Light" panose="020F0302020204030204" pitchFamily="34" charset="0"/>
              </a:rPr>
              <a:t>Name der Operation</a:t>
            </a:r>
            <a:r>
              <a:rPr lang="fr-FR" sz="1200" dirty="0">
                <a:latin typeface="Calibri Light" panose="020F0302020204030204" pitchFamily="34" charset="0"/>
                <a:ea typeface="Calibri Light" panose="020F0302020204030204" pitchFamily="34" charset="0"/>
                <a:cs typeface="Calibri Light" panose="020F0302020204030204" pitchFamily="34" charset="0"/>
              </a:rPr>
              <a:t> (z. B. </a:t>
            </a:r>
            <a:r>
              <a:rPr lang="fr-FR" sz="1200" i="1" dirty="0" err="1">
                <a:latin typeface="Calibri Light" panose="020F0302020204030204" pitchFamily="34" charset="0"/>
                <a:ea typeface="Calibri Light" panose="020F0302020204030204" pitchFamily="34" charset="0"/>
                <a:cs typeface="Calibri Light" panose="020F0302020204030204" pitchFamily="34" charset="0"/>
              </a:rPr>
              <a:t>getListTransaactions</a:t>
            </a:r>
            <a:r>
              <a:rPr lang="fr-FR" sz="1200" dirty="0">
                <a:latin typeface="Calibri Light" panose="020F0302020204030204" pitchFamily="34" charset="0"/>
                <a:ea typeface="Calibri Light" panose="020F0302020204030204" pitchFamily="34" charset="0"/>
                <a:cs typeface="Calibri Light" panose="020F0302020204030204" pitchFamily="34" charset="0"/>
              </a:rPr>
              <a:t>)</a:t>
            </a:r>
            <a:br>
              <a:rPr lang="fr-FR" sz="1200" dirty="0">
                <a:latin typeface="Calibri Light" panose="020F0302020204030204" pitchFamily="34" charset="0"/>
                <a:ea typeface="Calibri Light" panose="020F0302020204030204" pitchFamily="34" charset="0"/>
                <a:cs typeface="Calibri Light" panose="020F0302020204030204" pitchFamily="34" charset="0"/>
              </a:rPr>
            </a:br>
            <a:r>
              <a:rPr lang="fr-FR" sz="1200" dirty="0">
                <a:latin typeface="Calibri Light" panose="020F0302020204030204" pitchFamily="34" charset="0"/>
                <a:ea typeface="Calibri Light" panose="020F0302020204030204" pitchFamily="34" charset="0"/>
                <a:cs typeface="Calibri Light" panose="020F0302020204030204" pitchFamily="34" charset="0"/>
              </a:rPr>
              <a:t>[3] </a:t>
            </a:r>
            <a:r>
              <a:rPr lang="fr-FR" sz="1200" b="1" dirty="0">
                <a:latin typeface="Calibri Light" panose="020F0302020204030204" pitchFamily="34" charset="0"/>
                <a:ea typeface="Calibri Light" panose="020F0302020204030204" pitchFamily="34" charset="0"/>
                <a:cs typeface="Calibri Light" panose="020F0302020204030204" pitchFamily="34" charset="0"/>
              </a:rPr>
              <a:t>Argumente </a:t>
            </a:r>
            <a:r>
              <a:rPr lang="fr-FR" sz="1200" b="1" dirty="0" err="1">
                <a:latin typeface="Calibri Light" panose="020F0302020204030204" pitchFamily="34" charset="0"/>
                <a:ea typeface="Calibri Light" panose="020F0302020204030204" pitchFamily="34" charset="0"/>
                <a:cs typeface="Calibri Light" panose="020F0302020204030204" pitchFamily="34" charset="0"/>
              </a:rPr>
              <a:t>falls</a:t>
            </a:r>
            <a:r>
              <a:rPr lang="fr-FR" sz="1200" b="1" dirty="0">
                <a:latin typeface="Calibri Light" panose="020F0302020204030204" pitchFamily="34" charset="0"/>
                <a:ea typeface="Calibri Light" panose="020F0302020204030204" pitchFamily="34" charset="0"/>
                <a:cs typeface="Calibri Light" panose="020F0302020204030204" pitchFamily="34" charset="0"/>
              </a:rPr>
              <a:t> es </a:t>
            </a:r>
            <a:r>
              <a:rPr lang="fr-FR" sz="1200" b="1" dirty="0" err="1">
                <a:latin typeface="Calibri Light" panose="020F0302020204030204" pitchFamily="34" charset="0"/>
                <a:ea typeface="Calibri Light" panose="020F0302020204030204" pitchFamily="34" charset="0"/>
                <a:cs typeface="Calibri Light" panose="020F0302020204030204" pitchFamily="34" charset="0"/>
              </a:rPr>
              <a:t>gibt</a:t>
            </a:r>
            <a:r>
              <a:rPr lang="fr-FR" sz="1200" dirty="0">
                <a:latin typeface="Calibri Light" panose="020F0302020204030204" pitchFamily="34" charset="0"/>
                <a:ea typeface="Calibri Light" panose="020F0302020204030204" pitchFamily="34" charset="0"/>
                <a:cs typeface="Calibri Light" panose="020F0302020204030204" pitchFamily="34" charset="0"/>
              </a:rPr>
              <a:t> (z. B. </a:t>
            </a:r>
            <a:r>
              <a:rPr lang="fr-FR" sz="1200" i="1" dirty="0">
                <a:latin typeface="Calibri Light" panose="020F0302020204030204" pitchFamily="34" charset="0"/>
                <a:ea typeface="Calibri Light" panose="020F0302020204030204" pitchFamily="34" charset="0"/>
                <a:cs typeface="Calibri Light" panose="020F0302020204030204" pitchFamily="34" charset="0"/>
              </a:rPr>
              <a:t>id</a:t>
            </a:r>
            <a:r>
              <a:rPr lang="fr-FR" sz="1200" dirty="0">
                <a:latin typeface="Calibri Light" panose="020F0302020204030204" pitchFamily="34" charset="0"/>
                <a:ea typeface="Calibri Light" panose="020F0302020204030204" pitchFamily="34" charset="0"/>
                <a:cs typeface="Calibri Light" panose="020F0302020204030204" pitchFamily="34" charset="0"/>
              </a:rPr>
              <a:t>, </a:t>
            </a:r>
            <a:r>
              <a:rPr lang="fr-FR" sz="1200" i="1" dirty="0">
                <a:latin typeface="Calibri Light" panose="020F0302020204030204" pitchFamily="34" charset="0"/>
                <a:ea typeface="Calibri Light" panose="020F0302020204030204" pitchFamily="34" charset="0"/>
                <a:cs typeface="Calibri Light" panose="020F0302020204030204" pitchFamily="34" charset="0"/>
              </a:rPr>
              <a:t>input</a:t>
            </a:r>
            <a:r>
              <a:rPr lang="fr-FR" sz="1200" dirty="0">
                <a:latin typeface="Calibri Light" panose="020F0302020204030204" pitchFamily="34" charset="0"/>
                <a:ea typeface="Calibri Light" panose="020F0302020204030204" pitchFamily="34" charset="0"/>
                <a:cs typeface="Calibri Light" panose="020F0302020204030204" pitchFamily="34" charset="0"/>
              </a:rPr>
              <a:t>)</a:t>
            </a:r>
          </a:p>
          <a:p>
            <a:pPr>
              <a:buNone/>
            </a:pPr>
            <a:r>
              <a:rPr lang="de-DE" sz="1200" dirty="0">
                <a:latin typeface="Calibri Light" panose="020F0302020204030204" pitchFamily="34" charset="0"/>
                <a:ea typeface="Calibri Light" panose="020F0302020204030204" pitchFamily="34" charset="0"/>
                <a:cs typeface="Calibri Light" panose="020F0302020204030204" pitchFamily="34" charset="0"/>
              </a:rPr>
              <a:t>[4] </a:t>
            </a:r>
            <a:r>
              <a:rPr lang="de-DE" sz="1200" b="1" dirty="0">
                <a:latin typeface="Calibri Light" panose="020F0302020204030204" pitchFamily="34" charset="0"/>
                <a:ea typeface="Calibri Light" panose="020F0302020204030204" pitchFamily="34" charset="0"/>
                <a:cs typeface="Calibri Light" panose="020F0302020204030204" pitchFamily="34" charset="0"/>
              </a:rPr>
              <a:t>Projektion</a:t>
            </a:r>
            <a:r>
              <a:rPr lang="de-DE" sz="1200" dirty="0">
                <a:latin typeface="Calibri Light" panose="020F0302020204030204" pitchFamily="34" charset="0"/>
                <a:ea typeface="Calibri Light" panose="020F0302020204030204" pitchFamily="34" charset="0"/>
                <a:cs typeface="Calibri Light" panose="020F0302020204030204" pitchFamily="34" charset="0"/>
              </a:rPr>
              <a:t> (die Felder, die man als Antwort erhalten möchte)</a:t>
            </a:r>
            <a:endParaRPr lang="fr-FR" sz="1200" dirty="0">
              <a:latin typeface="Calibri Light" panose="020F0302020204030204" pitchFamily="34" charset="0"/>
              <a:ea typeface="Calibri Light" panose="020F0302020204030204" pitchFamily="34" charset="0"/>
              <a:cs typeface="Calibri Light" panose="020F0302020204030204" pitchFamily="34" charset="0"/>
            </a:endParaRPr>
          </a:p>
        </p:txBody>
      </p:sp>
      <p:pic>
        <p:nvPicPr>
          <p:cNvPr id="16" name="Image 15">
            <a:extLst>
              <a:ext uri="{FF2B5EF4-FFF2-40B4-BE49-F238E27FC236}">
                <a16:creationId xmlns:a16="http://schemas.microsoft.com/office/drawing/2014/main" id="{B2233AA8-05B1-96AC-CB66-4C727E803EDB}"/>
              </a:ext>
            </a:extLst>
          </p:cNvPr>
          <p:cNvPicPr>
            <a:picLocks noChangeAspect="1"/>
          </p:cNvPicPr>
          <p:nvPr/>
        </p:nvPicPr>
        <p:blipFill>
          <a:blip r:embed="rId2"/>
          <a:stretch>
            <a:fillRect/>
          </a:stretch>
        </p:blipFill>
        <p:spPr>
          <a:xfrm>
            <a:off x="3685303" y="1005558"/>
            <a:ext cx="2955451" cy="2886719"/>
          </a:xfrm>
          <a:prstGeom prst="rect">
            <a:avLst/>
          </a:prstGeom>
          <a:ln>
            <a:solidFill>
              <a:schemeClr val="bg2">
                <a:lumMod val="50000"/>
              </a:schemeClr>
            </a:solidFill>
          </a:ln>
        </p:spPr>
      </p:pic>
      <p:pic>
        <p:nvPicPr>
          <p:cNvPr id="17" name="Image 16">
            <a:extLst>
              <a:ext uri="{FF2B5EF4-FFF2-40B4-BE49-F238E27FC236}">
                <a16:creationId xmlns:a16="http://schemas.microsoft.com/office/drawing/2014/main" id="{57A9357D-3683-12E1-9D42-035F3CA5FE7F}"/>
              </a:ext>
            </a:extLst>
          </p:cNvPr>
          <p:cNvPicPr>
            <a:picLocks noChangeAspect="1"/>
          </p:cNvPicPr>
          <p:nvPr/>
        </p:nvPicPr>
        <p:blipFill>
          <a:blip r:embed="rId3"/>
          <a:stretch>
            <a:fillRect/>
          </a:stretch>
        </p:blipFill>
        <p:spPr>
          <a:xfrm>
            <a:off x="5337869" y="2401150"/>
            <a:ext cx="3246401" cy="2461473"/>
          </a:xfrm>
          <a:prstGeom prst="rect">
            <a:avLst/>
          </a:prstGeom>
          <a:ln>
            <a:solidFill>
              <a:schemeClr val="bg2">
                <a:lumMod val="50000"/>
              </a:schemeClr>
            </a:solidFill>
          </a:ln>
        </p:spPr>
      </p:pic>
      <p:pic>
        <p:nvPicPr>
          <p:cNvPr id="18" name="Image 17">
            <a:extLst>
              <a:ext uri="{FF2B5EF4-FFF2-40B4-BE49-F238E27FC236}">
                <a16:creationId xmlns:a16="http://schemas.microsoft.com/office/drawing/2014/main" id="{2B548704-8176-4CBC-BEB4-85D351CFAD18}"/>
              </a:ext>
            </a:extLst>
          </p:cNvPr>
          <p:cNvPicPr>
            <a:picLocks noChangeAspect="1"/>
          </p:cNvPicPr>
          <p:nvPr/>
        </p:nvPicPr>
        <p:blipFill>
          <a:blip r:embed="rId4"/>
          <a:stretch>
            <a:fillRect/>
          </a:stretch>
        </p:blipFill>
        <p:spPr>
          <a:xfrm>
            <a:off x="6872359" y="294757"/>
            <a:ext cx="1950919" cy="1944372"/>
          </a:xfrm>
          <a:prstGeom prst="rect">
            <a:avLst/>
          </a:prstGeom>
          <a:ln>
            <a:solidFill>
              <a:schemeClr val="bg2">
                <a:lumMod val="50000"/>
              </a:schemeClr>
            </a:solidFill>
          </a:ln>
        </p:spPr>
      </p:pic>
    </p:spTree>
    <p:extLst>
      <p:ext uri="{BB962C8B-B14F-4D97-AF65-F5344CB8AC3E}">
        <p14:creationId xmlns:p14="http://schemas.microsoft.com/office/powerpoint/2010/main" val="15950966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22">
          <a:extLst>
            <a:ext uri="{FF2B5EF4-FFF2-40B4-BE49-F238E27FC236}">
              <a16:creationId xmlns:a16="http://schemas.microsoft.com/office/drawing/2014/main" id="{6893BAD0-4125-1081-86B7-B1D5C2DE91AA}"/>
            </a:ext>
          </a:extLst>
        </p:cNvPr>
        <p:cNvGrpSpPr/>
        <p:nvPr/>
      </p:nvGrpSpPr>
      <p:grpSpPr>
        <a:xfrm>
          <a:off x="0" y="0"/>
          <a:ext cx="0" cy="0"/>
          <a:chOff x="0" y="0"/>
          <a:chExt cx="0" cy="0"/>
        </a:xfrm>
      </p:grpSpPr>
      <p:sp>
        <p:nvSpPr>
          <p:cNvPr id="523" name="Google Shape;523;p54">
            <a:extLst>
              <a:ext uri="{FF2B5EF4-FFF2-40B4-BE49-F238E27FC236}">
                <a16:creationId xmlns:a16="http://schemas.microsoft.com/office/drawing/2014/main" id="{3AC36F05-B03D-11F0-C344-B94D113C7608}"/>
              </a:ext>
            </a:extLst>
          </p:cNvPr>
          <p:cNvSpPr txBox="1">
            <a:spLocks noGrp="1"/>
          </p:cNvSpPr>
          <p:nvPr>
            <p:ph type="title"/>
          </p:nvPr>
        </p:nvSpPr>
        <p:spPr>
          <a:xfrm>
            <a:off x="1347633" y="77458"/>
            <a:ext cx="5029365"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800" dirty="0"/>
              <a:t>Vor- und Nachteile</a:t>
            </a:r>
            <a:endParaRPr dirty="0"/>
          </a:p>
        </p:txBody>
      </p:sp>
      <p:sp>
        <p:nvSpPr>
          <p:cNvPr id="3" name="ZoneTexte 2">
            <a:extLst>
              <a:ext uri="{FF2B5EF4-FFF2-40B4-BE49-F238E27FC236}">
                <a16:creationId xmlns:a16="http://schemas.microsoft.com/office/drawing/2014/main" id="{A319591D-8F14-E221-D5EF-827341E664AB}"/>
              </a:ext>
            </a:extLst>
          </p:cNvPr>
          <p:cNvSpPr txBox="1"/>
          <p:nvPr/>
        </p:nvSpPr>
        <p:spPr>
          <a:xfrm>
            <a:off x="634625" y="702857"/>
            <a:ext cx="3951027" cy="4185761"/>
          </a:xfrm>
          <a:prstGeom prst="rect">
            <a:avLst/>
          </a:prstGeom>
          <a:noFill/>
        </p:spPr>
        <p:txBody>
          <a:bodyPr wrap="square" rtlCol="0">
            <a:spAutoFit/>
          </a:bodyPr>
          <a:lstStyle/>
          <a:p>
            <a:r>
              <a:rPr lang="de-DE" sz="1200" b="1" dirty="0">
                <a:latin typeface="Calibri Light" panose="020F0302020204030204" pitchFamily="34" charset="0"/>
                <a:ea typeface="Calibri Light" panose="020F0302020204030204" pitchFamily="34" charset="0"/>
                <a:cs typeface="Calibri Light" panose="020F0302020204030204" pitchFamily="34" charset="0"/>
              </a:rPr>
              <a:t>Vorteile von </a:t>
            </a:r>
            <a:r>
              <a:rPr lang="de-DE" sz="1200" b="1" dirty="0" err="1">
                <a:latin typeface="Calibri Light" panose="020F0302020204030204" pitchFamily="34" charset="0"/>
                <a:ea typeface="Calibri Light" panose="020F0302020204030204" pitchFamily="34" charset="0"/>
                <a:cs typeface="Calibri Light" panose="020F0302020204030204" pitchFamily="34" charset="0"/>
              </a:rPr>
              <a:t>GraphQL</a:t>
            </a:r>
            <a:br>
              <a:rPr lang="de-DE" sz="1200" b="1" dirty="0">
                <a:latin typeface="Calibri Light" panose="020F0302020204030204" pitchFamily="34" charset="0"/>
                <a:ea typeface="Calibri Light" panose="020F0302020204030204" pitchFamily="34" charset="0"/>
                <a:cs typeface="Calibri Light" panose="020F0302020204030204" pitchFamily="34" charset="0"/>
              </a:rPr>
            </a:br>
            <a:endParaRPr lang="de-DE" sz="1200" dirty="0">
              <a:latin typeface="Calibri Light" panose="020F0302020204030204" pitchFamily="34" charset="0"/>
              <a:ea typeface="Calibri Light" panose="020F0302020204030204" pitchFamily="34" charset="0"/>
              <a:cs typeface="Calibri Light" panose="020F0302020204030204" pitchFamily="34" charset="0"/>
            </a:endParaRPr>
          </a:p>
          <a:p>
            <a:r>
              <a:rPr lang="de-DE" sz="1200" b="1" dirty="0">
                <a:latin typeface="Calibri Light" panose="020F0302020204030204" pitchFamily="34" charset="0"/>
                <a:ea typeface="Calibri Light" panose="020F0302020204030204" pitchFamily="34" charset="0"/>
                <a:cs typeface="Calibri Light" panose="020F0302020204030204" pitchFamily="34" charset="0"/>
              </a:rPr>
              <a:t>1. Flexibilität der Abfragen</a:t>
            </a:r>
            <a:br>
              <a:rPr lang="de-DE" sz="1200" b="1" dirty="0">
                <a:latin typeface="Calibri Light" panose="020F0302020204030204" pitchFamily="34" charset="0"/>
                <a:ea typeface="Calibri Light" panose="020F0302020204030204" pitchFamily="34" charset="0"/>
                <a:cs typeface="Calibri Light" panose="020F0302020204030204" pitchFamily="34" charset="0"/>
              </a:rPr>
            </a:br>
            <a:r>
              <a:rPr lang="de-DE" sz="1200" dirty="0">
                <a:latin typeface="Calibri Light" panose="020F0302020204030204" pitchFamily="34" charset="0"/>
                <a:ea typeface="Calibri Light" panose="020F0302020204030204" pitchFamily="34" charset="0"/>
                <a:cs typeface="Calibri Light" panose="020F0302020204030204" pitchFamily="34" charset="0"/>
              </a:rPr>
              <a:t>Der Client wählt genau die Felder aus, die er abrufen möchte – nicht mehr und nicht weniger.</a:t>
            </a:r>
            <a:br>
              <a:rPr lang="de-DE" sz="1200" dirty="0">
                <a:latin typeface="Calibri Light" panose="020F0302020204030204" pitchFamily="34" charset="0"/>
                <a:ea typeface="Calibri Light" panose="020F0302020204030204" pitchFamily="34" charset="0"/>
                <a:cs typeface="Calibri Light" panose="020F0302020204030204" pitchFamily="34" charset="0"/>
              </a:rPr>
            </a:br>
            <a:endParaRPr lang="de-DE" sz="1200" dirty="0">
              <a:latin typeface="Calibri Light" panose="020F0302020204030204" pitchFamily="34" charset="0"/>
              <a:ea typeface="Calibri Light" panose="020F0302020204030204" pitchFamily="34" charset="0"/>
              <a:cs typeface="Calibri Light" panose="020F0302020204030204" pitchFamily="34" charset="0"/>
            </a:endParaRPr>
          </a:p>
          <a:p>
            <a:r>
              <a:rPr lang="de-DE" sz="1200" b="1" dirty="0">
                <a:latin typeface="Calibri Light" panose="020F0302020204030204" pitchFamily="34" charset="0"/>
                <a:ea typeface="Calibri Light" panose="020F0302020204030204" pitchFamily="34" charset="0"/>
                <a:cs typeface="Calibri Light" panose="020F0302020204030204" pitchFamily="34" charset="0"/>
              </a:rPr>
              <a:t>2. Reduzierung von Over-</a:t>
            </a:r>
            <a:r>
              <a:rPr lang="de-DE" sz="1200" b="1" dirty="0" err="1">
                <a:latin typeface="Calibri Light" panose="020F0302020204030204" pitchFamily="34" charset="0"/>
                <a:ea typeface="Calibri Light" panose="020F0302020204030204" pitchFamily="34" charset="0"/>
                <a:cs typeface="Calibri Light" panose="020F0302020204030204" pitchFamily="34" charset="0"/>
              </a:rPr>
              <a:t>Fetching</a:t>
            </a:r>
            <a:br>
              <a:rPr lang="de-DE" sz="1200" dirty="0">
                <a:latin typeface="Calibri Light" panose="020F0302020204030204" pitchFamily="34" charset="0"/>
                <a:ea typeface="Calibri Light" panose="020F0302020204030204" pitchFamily="34" charset="0"/>
                <a:cs typeface="Calibri Light" panose="020F0302020204030204" pitchFamily="34" charset="0"/>
              </a:rPr>
            </a:br>
            <a:r>
              <a:rPr lang="de-DE" sz="1200" dirty="0">
                <a:latin typeface="Calibri Light" panose="020F0302020204030204" pitchFamily="34" charset="0"/>
                <a:ea typeface="Calibri Light" panose="020F0302020204030204" pitchFamily="34" charset="0"/>
                <a:cs typeface="Calibri Light" panose="020F0302020204030204" pitchFamily="34" charset="0"/>
              </a:rPr>
              <a:t>Weniger unnötige Daten werden übertragen im Vergleich zu REST, das oft komplette Strukturen zurückgibt.</a:t>
            </a:r>
            <a:br>
              <a:rPr lang="de-DE" sz="1200" dirty="0">
                <a:latin typeface="Calibri Light" panose="020F0302020204030204" pitchFamily="34" charset="0"/>
                <a:ea typeface="Calibri Light" panose="020F0302020204030204" pitchFamily="34" charset="0"/>
                <a:cs typeface="Calibri Light" panose="020F0302020204030204" pitchFamily="34" charset="0"/>
              </a:rPr>
            </a:br>
            <a:endParaRPr lang="de-DE" sz="1200" dirty="0">
              <a:latin typeface="Calibri Light" panose="020F0302020204030204" pitchFamily="34" charset="0"/>
              <a:ea typeface="Calibri Light" panose="020F0302020204030204" pitchFamily="34" charset="0"/>
              <a:cs typeface="Calibri Light" panose="020F0302020204030204" pitchFamily="34" charset="0"/>
            </a:endParaRPr>
          </a:p>
          <a:p>
            <a:r>
              <a:rPr lang="de-DE" sz="1200" b="1" dirty="0">
                <a:latin typeface="Calibri Light" panose="020F0302020204030204" pitchFamily="34" charset="0"/>
                <a:ea typeface="Calibri Light" panose="020F0302020204030204" pitchFamily="34" charset="0"/>
                <a:cs typeface="Calibri Light" panose="020F0302020204030204" pitchFamily="34" charset="0"/>
              </a:rPr>
              <a:t>3. Einzelner Endpunkt (Single </a:t>
            </a:r>
            <a:r>
              <a:rPr lang="de-DE" sz="1200" b="1" dirty="0" err="1">
                <a:latin typeface="Calibri Light" panose="020F0302020204030204" pitchFamily="34" charset="0"/>
                <a:ea typeface="Calibri Light" panose="020F0302020204030204" pitchFamily="34" charset="0"/>
                <a:cs typeface="Calibri Light" panose="020F0302020204030204" pitchFamily="34" charset="0"/>
              </a:rPr>
              <a:t>Endpoint</a:t>
            </a:r>
            <a:r>
              <a:rPr lang="de-DE" sz="1200" b="1" dirty="0">
                <a:latin typeface="Calibri Light" panose="020F0302020204030204" pitchFamily="34" charset="0"/>
                <a:ea typeface="Calibri Light" panose="020F0302020204030204" pitchFamily="34" charset="0"/>
                <a:cs typeface="Calibri Light" panose="020F0302020204030204" pitchFamily="34" charset="0"/>
              </a:rPr>
              <a:t>)</a:t>
            </a:r>
            <a:br>
              <a:rPr lang="de-DE" sz="1200" dirty="0">
                <a:latin typeface="Calibri Light" panose="020F0302020204030204" pitchFamily="34" charset="0"/>
                <a:ea typeface="Calibri Light" panose="020F0302020204030204" pitchFamily="34" charset="0"/>
                <a:cs typeface="Calibri Light" panose="020F0302020204030204" pitchFamily="34" charset="0"/>
              </a:rPr>
            </a:br>
            <a:r>
              <a:rPr lang="de-DE" sz="1200" dirty="0">
                <a:latin typeface="Calibri Light" panose="020F0302020204030204" pitchFamily="34" charset="0"/>
                <a:ea typeface="Calibri Light" panose="020F0302020204030204" pitchFamily="34" charset="0"/>
                <a:cs typeface="Calibri Light" panose="020F0302020204030204" pitchFamily="34" charset="0"/>
              </a:rPr>
              <a:t>Nur eine einzige URL für alle Anfragen – es ist nicht nötig, mehrere Routen wie bei REST zu definieren.</a:t>
            </a:r>
            <a:br>
              <a:rPr lang="de-DE" sz="1200" dirty="0">
                <a:latin typeface="Calibri Light" panose="020F0302020204030204" pitchFamily="34" charset="0"/>
                <a:ea typeface="Calibri Light" panose="020F0302020204030204" pitchFamily="34" charset="0"/>
                <a:cs typeface="Calibri Light" panose="020F0302020204030204" pitchFamily="34" charset="0"/>
              </a:rPr>
            </a:br>
            <a:endParaRPr lang="de-DE" sz="1200" dirty="0">
              <a:latin typeface="Calibri Light" panose="020F0302020204030204" pitchFamily="34" charset="0"/>
              <a:ea typeface="Calibri Light" panose="020F0302020204030204" pitchFamily="34" charset="0"/>
              <a:cs typeface="Calibri Light" panose="020F0302020204030204" pitchFamily="34" charset="0"/>
            </a:endParaRPr>
          </a:p>
          <a:p>
            <a:r>
              <a:rPr lang="de-DE" sz="1200" b="1" dirty="0">
                <a:latin typeface="Calibri Light" panose="020F0302020204030204" pitchFamily="34" charset="0"/>
                <a:ea typeface="Calibri Light" panose="020F0302020204030204" pitchFamily="34" charset="0"/>
                <a:cs typeface="Calibri Light" panose="020F0302020204030204" pitchFamily="34" charset="0"/>
              </a:rPr>
              <a:t>4. Introspektion</a:t>
            </a:r>
            <a:br>
              <a:rPr lang="de-DE" sz="1200" dirty="0">
                <a:latin typeface="Calibri Light" panose="020F0302020204030204" pitchFamily="34" charset="0"/>
                <a:ea typeface="Calibri Light" panose="020F0302020204030204" pitchFamily="34" charset="0"/>
                <a:cs typeface="Calibri Light" panose="020F0302020204030204" pitchFamily="34" charset="0"/>
              </a:rPr>
            </a:br>
            <a:r>
              <a:rPr lang="de-DE" sz="1200" dirty="0" err="1">
                <a:latin typeface="Calibri Light" panose="020F0302020204030204" pitchFamily="34" charset="0"/>
                <a:ea typeface="Calibri Light" panose="020F0302020204030204" pitchFamily="34" charset="0"/>
                <a:cs typeface="Calibri Light" panose="020F0302020204030204" pitchFamily="34" charset="0"/>
              </a:rPr>
              <a:t>GraphQL</a:t>
            </a:r>
            <a:r>
              <a:rPr lang="de-DE" sz="1200" dirty="0">
                <a:latin typeface="Calibri Light" panose="020F0302020204030204" pitchFamily="34" charset="0"/>
                <a:ea typeface="Calibri Light" panose="020F0302020204030204" pitchFamily="34" charset="0"/>
                <a:cs typeface="Calibri Light" panose="020F0302020204030204" pitchFamily="34" charset="0"/>
              </a:rPr>
              <a:t> erlaubt es, automatisch die Struktur der verfügbaren Daten im API zu entdecken.</a:t>
            </a:r>
            <a:br>
              <a:rPr lang="de-DE" sz="1200" dirty="0">
                <a:latin typeface="Calibri Light" panose="020F0302020204030204" pitchFamily="34" charset="0"/>
                <a:ea typeface="Calibri Light" panose="020F0302020204030204" pitchFamily="34" charset="0"/>
                <a:cs typeface="Calibri Light" panose="020F0302020204030204" pitchFamily="34" charset="0"/>
              </a:rPr>
            </a:br>
            <a:endParaRPr lang="de-DE" sz="1200" dirty="0">
              <a:latin typeface="Calibri Light" panose="020F0302020204030204" pitchFamily="34" charset="0"/>
              <a:ea typeface="Calibri Light" panose="020F0302020204030204" pitchFamily="34" charset="0"/>
              <a:cs typeface="Calibri Light" panose="020F0302020204030204" pitchFamily="34" charset="0"/>
            </a:endParaRPr>
          </a:p>
          <a:p>
            <a:r>
              <a:rPr lang="de-DE" sz="1200" b="1" dirty="0">
                <a:latin typeface="Calibri Light" panose="020F0302020204030204" pitchFamily="34" charset="0"/>
                <a:ea typeface="Calibri Light" panose="020F0302020204030204" pitchFamily="34" charset="0"/>
                <a:cs typeface="Calibri Light" panose="020F0302020204030204" pitchFamily="34" charset="0"/>
              </a:rPr>
              <a:t>5. Aggregation aus mehreren Quellen</a:t>
            </a:r>
            <a:br>
              <a:rPr lang="de-DE" sz="1200" dirty="0">
                <a:latin typeface="Calibri Light" panose="020F0302020204030204" pitchFamily="34" charset="0"/>
                <a:ea typeface="Calibri Light" panose="020F0302020204030204" pitchFamily="34" charset="0"/>
                <a:cs typeface="Calibri Light" panose="020F0302020204030204" pitchFamily="34" charset="0"/>
              </a:rPr>
            </a:br>
            <a:r>
              <a:rPr lang="de-DE" sz="1200" dirty="0">
                <a:latin typeface="Calibri Light" panose="020F0302020204030204" pitchFamily="34" charset="0"/>
                <a:ea typeface="Calibri Light" panose="020F0302020204030204" pitchFamily="34" charset="0"/>
                <a:cs typeface="Calibri Light" panose="020F0302020204030204" pitchFamily="34" charset="0"/>
              </a:rPr>
              <a:t>Ermöglicht das Kombinieren von Daten aus mehreren Datenbanken oder APIs in einer einzigen Antwort.</a:t>
            </a:r>
          </a:p>
          <a:p>
            <a:endParaRPr lang="fr-FR" dirty="0"/>
          </a:p>
        </p:txBody>
      </p:sp>
      <p:sp>
        <p:nvSpPr>
          <p:cNvPr id="5" name="ZoneTexte 4">
            <a:extLst>
              <a:ext uri="{FF2B5EF4-FFF2-40B4-BE49-F238E27FC236}">
                <a16:creationId xmlns:a16="http://schemas.microsoft.com/office/drawing/2014/main" id="{BF512891-7D9A-D122-34F2-3685C1950E41}"/>
              </a:ext>
            </a:extLst>
          </p:cNvPr>
          <p:cNvSpPr txBox="1"/>
          <p:nvPr/>
        </p:nvSpPr>
        <p:spPr>
          <a:xfrm>
            <a:off x="4728948" y="771099"/>
            <a:ext cx="3623481" cy="4185761"/>
          </a:xfrm>
          <a:prstGeom prst="rect">
            <a:avLst/>
          </a:prstGeom>
          <a:noFill/>
        </p:spPr>
        <p:txBody>
          <a:bodyPr wrap="square" rtlCol="0">
            <a:spAutoFit/>
          </a:bodyPr>
          <a:lstStyle/>
          <a:p>
            <a:r>
              <a:rPr lang="de-DE" sz="1200" b="1" dirty="0">
                <a:latin typeface="Calibri Light" panose="020F0302020204030204" pitchFamily="34" charset="0"/>
                <a:ea typeface="Calibri Light" panose="020F0302020204030204" pitchFamily="34" charset="0"/>
                <a:cs typeface="Calibri Light" panose="020F0302020204030204" pitchFamily="34" charset="0"/>
              </a:rPr>
              <a:t>Nachteile von </a:t>
            </a:r>
            <a:r>
              <a:rPr lang="de-DE" sz="1200" b="1" dirty="0" err="1">
                <a:latin typeface="Calibri Light" panose="020F0302020204030204" pitchFamily="34" charset="0"/>
                <a:ea typeface="Calibri Light" panose="020F0302020204030204" pitchFamily="34" charset="0"/>
                <a:cs typeface="Calibri Light" panose="020F0302020204030204" pitchFamily="34" charset="0"/>
              </a:rPr>
              <a:t>GraphQL</a:t>
            </a:r>
            <a:br>
              <a:rPr lang="de-DE" sz="1200" b="1" dirty="0">
                <a:latin typeface="Calibri Light" panose="020F0302020204030204" pitchFamily="34" charset="0"/>
                <a:ea typeface="Calibri Light" panose="020F0302020204030204" pitchFamily="34" charset="0"/>
                <a:cs typeface="Calibri Light" panose="020F0302020204030204" pitchFamily="34" charset="0"/>
              </a:rPr>
            </a:br>
            <a:endParaRPr lang="de-DE" sz="1200" dirty="0">
              <a:latin typeface="Calibri Light" panose="020F0302020204030204" pitchFamily="34" charset="0"/>
              <a:ea typeface="Calibri Light" panose="020F0302020204030204" pitchFamily="34" charset="0"/>
              <a:cs typeface="Calibri Light" panose="020F0302020204030204" pitchFamily="34" charset="0"/>
            </a:endParaRPr>
          </a:p>
          <a:p>
            <a:r>
              <a:rPr lang="de-DE" sz="1200" b="1" dirty="0">
                <a:latin typeface="Calibri Light" panose="020F0302020204030204" pitchFamily="34" charset="0"/>
                <a:ea typeface="Calibri Light" panose="020F0302020204030204" pitchFamily="34" charset="0"/>
                <a:cs typeface="Calibri Light" panose="020F0302020204030204" pitchFamily="34" charset="0"/>
              </a:rPr>
              <a:t>1. Komplexität auf Serverseite</a:t>
            </a:r>
            <a:br>
              <a:rPr lang="de-DE" sz="1200" dirty="0">
                <a:latin typeface="Calibri Light" panose="020F0302020204030204" pitchFamily="34" charset="0"/>
                <a:ea typeface="Calibri Light" panose="020F0302020204030204" pitchFamily="34" charset="0"/>
                <a:cs typeface="Calibri Light" panose="020F0302020204030204" pitchFamily="34" charset="0"/>
              </a:rPr>
            </a:br>
            <a:r>
              <a:rPr lang="de-DE" sz="1200" dirty="0">
                <a:latin typeface="Calibri Light" panose="020F0302020204030204" pitchFamily="34" charset="0"/>
                <a:ea typeface="Calibri Light" panose="020F0302020204030204" pitchFamily="34" charset="0"/>
                <a:cs typeface="Calibri Light" panose="020F0302020204030204" pitchFamily="34" charset="0"/>
              </a:rPr>
              <a:t>Man muss für jedes Feld oder jeden Typ eigene Resolver entwickeln.</a:t>
            </a:r>
            <a:br>
              <a:rPr lang="de-DE" sz="1200" dirty="0">
                <a:latin typeface="Calibri Light" panose="020F0302020204030204" pitchFamily="34" charset="0"/>
                <a:ea typeface="Calibri Light" panose="020F0302020204030204" pitchFamily="34" charset="0"/>
                <a:cs typeface="Calibri Light" panose="020F0302020204030204" pitchFamily="34" charset="0"/>
              </a:rPr>
            </a:br>
            <a:endParaRPr lang="de-DE" sz="1200" dirty="0">
              <a:latin typeface="Calibri Light" panose="020F0302020204030204" pitchFamily="34" charset="0"/>
              <a:ea typeface="Calibri Light" panose="020F0302020204030204" pitchFamily="34" charset="0"/>
              <a:cs typeface="Calibri Light" panose="020F0302020204030204" pitchFamily="34" charset="0"/>
            </a:endParaRPr>
          </a:p>
          <a:p>
            <a:r>
              <a:rPr lang="de-DE" sz="1200" b="1" dirty="0">
                <a:latin typeface="Calibri Light" panose="020F0302020204030204" pitchFamily="34" charset="0"/>
                <a:ea typeface="Calibri Light" panose="020F0302020204030204" pitchFamily="34" charset="0"/>
                <a:cs typeface="Calibri Light" panose="020F0302020204030204" pitchFamily="34" charset="0"/>
              </a:rPr>
              <a:t>2. Weniger geeignet für Caching</a:t>
            </a:r>
            <a:br>
              <a:rPr lang="de-DE" sz="1200" dirty="0">
                <a:latin typeface="Calibri Light" panose="020F0302020204030204" pitchFamily="34" charset="0"/>
                <a:ea typeface="Calibri Light" panose="020F0302020204030204" pitchFamily="34" charset="0"/>
                <a:cs typeface="Calibri Light" panose="020F0302020204030204" pitchFamily="34" charset="0"/>
              </a:rPr>
            </a:br>
            <a:r>
              <a:rPr lang="de-DE" sz="1200" dirty="0">
                <a:latin typeface="Calibri Light" panose="020F0302020204030204" pitchFamily="34" charset="0"/>
                <a:ea typeface="Calibri Light" panose="020F0302020204030204" pitchFamily="34" charset="0"/>
                <a:cs typeface="Calibri Light" panose="020F0302020204030204" pitchFamily="34" charset="0"/>
              </a:rPr>
              <a:t>Da jede Anfrage unterschiedlich sein kann, ist das Caching auf Serverseite schwieriger umzusetzen.</a:t>
            </a:r>
            <a:br>
              <a:rPr lang="de-DE" sz="1200" dirty="0">
                <a:latin typeface="Calibri Light" panose="020F0302020204030204" pitchFamily="34" charset="0"/>
                <a:ea typeface="Calibri Light" panose="020F0302020204030204" pitchFamily="34" charset="0"/>
                <a:cs typeface="Calibri Light" panose="020F0302020204030204" pitchFamily="34" charset="0"/>
              </a:rPr>
            </a:br>
            <a:endParaRPr lang="de-DE" sz="1200" dirty="0">
              <a:latin typeface="Calibri Light" panose="020F0302020204030204" pitchFamily="34" charset="0"/>
              <a:ea typeface="Calibri Light" panose="020F0302020204030204" pitchFamily="34" charset="0"/>
              <a:cs typeface="Calibri Light" panose="020F0302020204030204" pitchFamily="34" charset="0"/>
            </a:endParaRPr>
          </a:p>
          <a:p>
            <a:r>
              <a:rPr lang="de-DE" sz="1200" b="1" dirty="0">
                <a:latin typeface="Calibri Light" panose="020F0302020204030204" pitchFamily="34" charset="0"/>
                <a:ea typeface="Calibri Light" panose="020F0302020204030204" pitchFamily="34" charset="0"/>
                <a:cs typeface="Calibri Light" panose="020F0302020204030204" pitchFamily="34" charset="0"/>
              </a:rPr>
              <a:t>3. Kann sehr wortreich sein (Verbose)</a:t>
            </a:r>
            <a:br>
              <a:rPr lang="de-DE" sz="1200" dirty="0">
                <a:latin typeface="Calibri Light" panose="020F0302020204030204" pitchFamily="34" charset="0"/>
                <a:ea typeface="Calibri Light" panose="020F0302020204030204" pitchFamily="34" charset="0"/>
                <a:cs typeface="Calibri Light" panose="020F0302020204030204" pitchFamily="34" charset="0"/>
              </a:rPr>
            </a:br>
            <a:r>
              <a:rPr lang="de-DE" sz="1200" dirty="0">
                <a:latin typeface="Calibri Light" panose="020F0302020204030204" pitchFamily="34" charset="0"/>
                <a:ea typeface="Calibri Light" panose="020F0302020204030204" pitchFamily="34" charset="0"/>
                <a:cs typeface="Calibri Light" panose="020F0302020204030204" pitchFamily="34" charset="0"/>
              </a:rPr>
              <a:t>Die Abfragen können lang und schwer lesbar werden, besonders bei vielen verschachtelten Feldern.</a:t>
            </a:r>
            <a:br>
              <a:rPr lang="de-DE" sz="1200" dirty="0">
                <a:latin typeface="Calibri Light" panose="020F0302020204030204" pitchFamily="34" charset="0"/>
                <a:ea typeface="Calibri Light" panose="020F0302020204030204" pitchFamily="34" charset="0"/>
                <a:cs typeface="Calibri Light" panose="020F0302020204030204" pitchFamily="34" charset="0"/>
              </a:rPr>
            </a:br>
            <a:endParaRPr lang="de-DE" sz="1200" dirty="0">
              <a:latin typeface="Calibri Light" panose="020F0302020204030204" pitchFamily="34" charset="0"/>
              <a:ea typeface="Calibri Light" panose="020F0302020204030204" pitchFamily="34" charset="0"/>
              <a:cs typeface="Calibri Light" panose="020F0302020204030204" pitchFamily="34" charset="0"/>
            </a:endParaRPr>
          </a:p>
          <a:p>
            <a:r>
              <a:rPr lang="de-DE" sz="1200" b="1" dirty="0">
                <a:latin typeface="Calibri Light" panose="020F0302020204030204" pitchFamily="34" charset="0"/>
                <a:ea typeface="Calibri Light" panose="020F0302020204030204" pitchFamily="34" charset="0"/>
                <a:cs typeface="Calibri Light" panose="020F0302020204030204" pitchFamily="34" charset="0"/>
              </a:rPr>
              <a:t>4. Anspruchsvollere Sicherheit</a:t>
            </a:r>
            <a:br>
              <a:rPr lang="de-DE" sz="1200" dirty="0">
                <a:latin typeface="Calibri Light" panose="020F0302020204030204" pitchFamily="34" charset="0"/>
                <a:ea typeface="Calibri Light" panose="020F0302020204030204" pitchFamily="34" charset="0"/>
                <a:cs typeface="Calibri Light" panose="020F0302020204030204" pitchFamily="34" charset="0"/>
              </a:rPr>
            </a:br>
            <a:r>
              <a:rPr lang="de-DE" sz="1200" dirty="0">
                <a:latin typeface="Calibri Light" panose="020F0302020204030204" pitchFamily="34" charset="0"/>
                <a:ea typeface="Calibri Light" panose="020F0302020204030204" pitchFamily="34" charset="0"/>
                <a:cs typeface="Calibri Light" panose="020F0302020204030204" pitchFamily="34" charset="0"/>
              </a:rPr>
              <a:t>Es muss genau gefiltert und validiert werden, was der Client abfragen darf.</a:t>
            </a:r>
            <a:br>
              <a:rPr lang="de-DE" sz="1200" dirty="0">
                <a:latin typeface="Calibri Light" panose="020F0302020204030204" pitchFamily="34" charset="0"/>
                <a:ea typeface="Calibri Light" panose="020F0302020204030204" pitchFamily="34" charset="0"/>
                <a:cs typeface="Calibri Light" panose="020F0302020204030204" pitchFamily="34" charset="0"/>
              </a:rPr>
            </a:br>
            <a:endParaRPr lang="de-DE" sz="1200" dirty="0">
              <a:latin typeface="Calibri Light" panose="020F0302020204030204" pitchFamily="34" charset="0"/>
              <a:ea typeface="Calibri Light" panose="020F0302020204030204" pitchFamily="34" charset="0"/>
              <a:cs typeface="Calibri Light" panose="020F0302020204030204" pitchFamily="34" charset="0"/>
            </a:endParaRPr>
          </a:p>
          <a:p>
            <a:r>
              <a:rPr lang="de-DE" sz="1200" b="1" dirty="0">
                <a:latin typeface="Calibri Light" panose="020F0302020204030204" pitchFamily="34" charset="0"/>
                <a:ea typeface="Calibri Light" panose="020F0302020204030204" pitchFamily="34" charset="0"/>
                <a:cs typeface="Calibri Light" panose="020F0302020204030204" pitchFamily="34" charset="0"/>
              </a:rPr>
              <a:t>5. Höhere Lernkurve</a:t>
            </a:r>
            <a:br>
              <a:rPr lang="de-DE" sz="1200" dirty="0">
                <a:latin typeface="Calibri Light" panose="020F0302020204030204" pitchFamily="34" charset="0"/>
                <a:ea typeface="Calibri Light" panose="020F0302020204030204" pitchFamily="34" charset="0"/>
                <a:cs typeface="Calibri Light" panose="020F0302020204030204" pitchFamily="34" charset="0"/>
              </a:rPr>
            </a:br>
            <a:r>
              <a:rPr lang="de-DE" sz="1200" dirty="0">
                <a:latin typeface="Calibri Light" panose="020F0302020204030204" pitchFamily="34" charset="0"/>
                <a:ea typeface="Calibri Light" panose="020F0302020204030204" pitchFamily="34" charset="0"/>
                <a:cs typeface="Calibri Light" panose="020F0302020204030204" pitchFamily="34" charset="0"/>
              </a:rPr>
              <a:t>Das Konzept von Schema, Resolvern usw. ist neu für Entwickler, die an REST gewöhnt sind.</a:t>
            </a:r>
          </a:p>
          <a:p>
            <a:endParaRPr lang="fr-FR" dirty="0"/>
          </a:p>
        </p:txBody>
      </p:sp>
    </p:spTree>
    <p:extLst>
      <p:ext uri="{BB962C8B-B14F-4D97-AF65-F5344CB8AC3E}">
        <p14:creationId xmlns:p14="http://schemas.microsoft.com/office/powerpoint/2010/main" val="22143365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22">
          <a:extLst>
            <a:ext uri="{FF2B5EF4-FFF2-40B4-BE49-F238E27FC236}">
              <a16:creationId xmlns:a16="http://schemas.microsoft.com/office/drawing/2014/main" id="{A34ADA97-14F8-6FFD-052D-FED214050E9F}"/>
            </a:ext>
          </a:extLst>
        </p:cNvPr>
        <p:cNvGrpSpPr/>
        <p:nvPr/>
      </p:nvGrpSpPr>
      <p:grpSpPr>
        <a:xfrm>
          <a:off x="0" y="0"/>
          <a:ext cx="0" cy="0"/>
          <a:chOff x="0" y="0"/>
          <a:chExt cx="0" cy="0"/>
        </a:xfrm>
      </p:grpSpPr>
      <p:sp>
        <p:nvSpPr>
          <p:cNvPr id="3" name="Google Shape;523;p54">
            <a:extLst>
              <a:ext uri="{FF2B5EF4-FFF2-40B4-BE49-F238E27FC236}">
                <a16:creationId xmlns:a16="http://schemas.microsoft.com/office/drawing/2014/main" id="{4480225C-0CF8-8025-C713-F3A1EEFE7234}"/>
              </a:ext>
            </a:extLst>
          </p:cNvPr>
          <p:cNvSpPr txBox="1">
            <a:spLocks noGrp="1"/>
          </p:cNvSpPr>
          <p:nvPr>
            <p:ph type="title"/>
          </p:nvPr>
        </p:nvSpPr>
        <p:spPr>
          <a:xfrm>
            <a:off x="1347633" y="77458"/>
            <a:ext cx="5029365"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800" dirty="0"/>
              <a:t>Fallstudien von GraphQL</a:t>
            </a:r>
            <a:endParaRPr dirty="0"/>
          </a:p>
        </p:txBody>
      </p:sp>
      <p:sp>
        <p:nvSpPr>
          <p:cNvPr id="5" name="ZoneTexte 4">
            <a:extLst>
              <a:ext uri="{FF2B5EF4-FFF2-40B4-BE49-F238E27FC236}">
                <a16:creationId xmlns:a16="http://schemas.microsoft.com/office/drawing/2014/main" id="{629E50CD-F6DF-70F0-F765-248DE2EAC38D}"/>
              </a:ext>
            </a:extLst>
          </p:cNvPr>
          <p:cNvSpPr txBox="1"/>
          <p:nvPr/>
        </p:nvSpPr>
        <p:spPr>
          <a:xfrm>
            <a:off x="4572000" y="770621"/>
            <a:ext cx="3971499" cy="4154984"/>
          </a:xfrm>
          <a:prstGeom prst="rect">
            <a:avLst/>
          </a:prstGeom>
          <a:noFill/>
        </p:spPr>
        <p:txBody>
          <a:bodyPr wrap="square" rtlCol="0">
            <a:spAutoFit/>
          </a:bodyPr>
          <a:lstStyle/>
          <a:p>
            <a:r>
              <a:rPr lang="de-DE" sz="1200" b="1" dirty="0">
                <a:latin typeface="Calibri Light" panose="020F0302020204030204" pitchFamily="34" charset="0"/>
                <a:ea typeface="Calibri Light" panose="020F0302020204030204" pitchFamily="34" charset="0"/>
                <a:cs typeface="Calibri Light" panose="020F0302020204030204" pitchFamily="34" charset="0"/>
              </a:rPr>
              <a:t>Twitter verwendet </a:t>
            </a:r>
            <a:r>
              <a:rPr lang="de-DE" sz="1200" b="1" dirty="0" err="1">
                <a:latin typeface="Calibri Light" panose="020F0302020204030204" pitchFamily="34" charset="0"/>
                <a:ea typeface="Calibri Light" panose="020F0302020204030204" pitchFamily="34" charset="0"/>
                <a:cs typeface="Calibri Light" panose="020F0302020204030204" pitchFamily="34" charset="0"/>
              </a:rPr>
              <a:t>GraphQL</a:t>
            </a:r>
            <a:r>
              <a:rPr lang="de-DE" sz="1200" b="1" dirty="0">
                <a:latin typeface="Calibri Light" panose="020F0302020204030204" pitchFamily="34" charset="0"/>
                <a:ea typeface="Calibri Light" panose="020F0302020204030204" pitchFamily="34" charset="0"/>
                <a:cs typeface="Calibri Light" panose="020F0302020204030204" pitchFamily="34" charset="0"/>
              </a:rPr>
              <a:t>, um den Datenzugriff über alle seine Plattformen hinweg zu vereinheitlichen (Web, iOS, Android und öffentliche API):</a:t>
            </a:r>
            <a:br>
              <a:rPr lang="de-DE" sz="1200" b="1" dirty="0">
                <a:latin typeface="Calibri Light" panose="020F0302020204030204" pitchFamily="34" charset="0"/>
                <a:ea typeface="Calibri Light" panose="020F0302020204030204" pitchFamily="34" charset="0"/>
                <a:cs typeface="Calibri Light" panose="020F0302020204030204" pitchFamily="34" charset="0"/>
              </a:rPr>
            </a:br>
            <a:endParaRPr lang="de-DE" sz="1200" dirty="0">
              <a:latin typeface="Calibri Light" panose="020F0302020204030204" pitchFamily="34" charset="0"/>
              <a:ea typeface="Calibri Light" panose="020F0302020204030204" pitchFamily="34" charset="0"/>
              <a:cs typeface="Calibri Light" panose="020F0302020204030204" pitchFamily="34" charset="0"/>
            </a:endParaRPr>
          </a:p>
          <a:p>
            <a:r>
              <a:rPr lang="de-DE" sz="1200" b="1" dirty="0">
                <a:latin typeface="Calibri Light" panose="020F0302020204030204" pitchFamily="34" charset="0"/>
                <a:ea typeface="Calibri Light" panose="020F0302020204030204" pitchFamily="34" charset="0"/>
                <a:cs typeface="Calibri Light" panose="020F0302020204030204" pitchFamily="34" charset="0"/>
              </a:rPr>
              <a:t>Ursprüngliches Problem:</a:t>
            </a:r>
            <a:r>
              <a:rPr lang="de-DE" sz="1200" dirty="0">
                <a:latin typeface="Calibri Light" panose="020F0302020204030204" pitchFamily="34" charset="0"/>
                <a:ea typeface="Calibri Light" panose="020F0302020204030204" pitchFamily="34" charset="0"/>
                <a:cs typeface="Calibri Light" panose="020F0302020204030204" pitchFamily="34" charset="0"/>
              </a:rPr>
              <a:t> Die alte API v1.1 basierte auf zahlreichen REST-Mikrodiensten, was zu einem fragmentierten und schwer wartbaren System führte.</a:t>
            </a:r>
            <a:br>
              <a:rPr lang="de-DE" sz="1200" dirty="0">
                <a:latin typeface="Calibri Light" panose="020F0302020204030204" pitchFamily="34" charset="0"/>
                <a:ea typeface="Calibri Light" panose="020F0302020204030204" pitchFamily="34" charset="0"/>
                <a:cs typeface="Calibri Light" panose="020F0302020204030204" pitchFamily="34" charset="0"/>
              </a:rPr>
            </a:br>
            <a:endParaRPr lang="de-DE" sz="1200" dirty="0">
              <a:latin typeface="Calibri Light" panose="020F0302020204030204" pitchFamily="34" charset="0"/>
              <a:ea typeface="Calibri Light" panose="020F0302020204030204" pitchFamily="34" charset="0"/>
              <a:cs typeface="Calibri Light" panose="020F0302020204030204" pitchFamily="34" charset="0"/>
            </a:endParaRPr>
          </a:p>
          <a:p>
            <a:r>
              <a:rPr lang="de-DE" sz="1200" b="1" dirty="0">
                <a:latin typeface="Calibri Light" panose="020F0302020204030204" pitchFamily="34" charset="0"/>
                <a:ea typeface="Calibri Light" panose="020F0302020204030204" pitchFamily="34" charset="0"/>
                <a:cs typeface="Calibri Light" panose="020F0302020204030204" pitchFamily="34" charset="0"/>
              </a:rPr>
              <a:t>Lösung mit </a:t>
            </a:r>
            <a:r>
              <a:rPr lang="de-DE" sz="1200" b="1" dirty="0" err="1">
                <a:latin typeface="Calibri Light" panose="020F0302020204030204" pitchFamily="34" charset="0"/>
                <a:ea typeface="Calibri Light" panose="020F0302020204030204" pitchFamily="34" charset="0"/>
                <a:cs typeface="Calibri Light" panose="020F0302020204030204" pitchFamily="34" charset="0"/>
              </a:rPr>
              <a:t>GraphQL</a:t>
            </a:r>
            <a:r>
              <a:rPr lang="de-DE" sz="1200" b="1" dirty="0">
                <a:latin typeface="Calibri Light" panose="020F0302020204030204" pitchFamily="34" charset="0"/>
                <a:ea typeface="Calibri Light" panose="020F0302020204030204" pitchFamily="34" charset="0"/>
                <a:cs typeface="Calibri Light" panose="020F0302020204030204" pitchFamily="34" charset="0"/>
              </a:rPr>
              <a:t>:</a:t>
            </a:r>
            <a:r>
              <a:rPr lang="de-DE" sz="1200" dirty="0">
                <a:latin typeface="Calibri Light" panose="020F0302020204030204" pitchFamily="34" charset="0"/>
                <a:ea typeface="Calibri Light" panose="020F0302020204030204" pitchFamily="34" charset="0"/>
                <a:cs typeface="Calibri Light" panose="020F0302020204030204" pitchFamily="34" charset="0"/>
              </a:rPr>
              <a:t> Twitter entwickelte eine einheitliche Datenschicht mit </a:t>
            </a:r>
            <a:r>
              <a:rPr lang="de-DE" sz="1200" dirty="0" err="1">
                <a:latin typeface="Calibri Light" panose="020F0302020204030204" pitchFamily="34" charset="0"/>
                <a:ea typeface="Calibri Light" panose="020F0302020204030204" pitchFamily="34" charset="0"/>
                <a:cs typeface="Calibri Light" panose="020F0302020204030204" pitchFamily="34" charset="0"/>
              </a:rPr>
              <a:t>GraphQL</a:t>
            </a:r>
            <a:r>
              <a:rPr lang="de-DE" sz="1200" dirty="0">
                <a:latin typeface="Calibri Light" panose="020F0302020204030204" pitchFamily="34" charset="0"/>
                <a:ea typeface="Calibri Light" panose="020F0302020204030204" pitchFamily="34" charset="0"/>
                <a:cs typeface="Calibri Light" panose="020F0302020204030204" pitchFamily="34" charset="0"/>
              </a:rPr>
              <a:t>, die sowohl von internen Clients (Twitter-Apps) als auch von der öffentlichen API genutzt wird.</a:t>
            </a:r>
            <a:br>
              <a:rPr lang="de-DE" sz="1200" dirty="0">
                <a:latin typeface="Calibri Light" panose="020F0302020204030204" pitchFamily="34" charset="0"/>
                <a:ea typeface="Calibri Light" panose="020F0302020204030204" pitchFamily="34" charset="0"/>
                <a:cs typeface="Calibri Light" panose="020F0302020204030204" pitchFamily="34" charset="0"/>
              </a:rPr>
            </a:br>
            <a:endParaRPr lang="de-DE" sz="1200" dirty="0">
              <a:latin typeface="Calibri Light" panose="020F0302020204030204" pitchFamily="34" charset="0"/>
              <a:ea typeface="Calibri Light" panose="020F0302020204030204" pitchFamily="34" charset="0"/>
              <a:cs typeface="Calibri Light" panose="020F0302020204030204" pitchFamily="34" charset="0"/>
            </a:endParaRPr>
          </a:p>
          <a:p>
            <a:r>
              <a:rPr lang="de-DE" sz="1200" b="1" dirty="0">
                <a:latin typeface="Calibri Light" panose="020F0302020204030204" pitchFamily="34" charset="0"/>
                <a:ea typeface="Calibri Light" panose="020F0302020204030204" pitchFamily="34" charset="0"/>
                <a:cs typeface="Calibri Light" panose="020F0302020204030204" pitchFamily="34" charset="0"/>
              </a:rPr>
              <a:t>Hauptvorteil:</a:t>
            </a:r>
            <a:r>
              <a:rPr lang="de-DE" sz="1200" dirty="0">
                <a:latin typeface="Calibri Light" panose="020F0302020204030204" pitchFamily="34" charset="0"/>
                <a:ea typeface="Calibri Light" panose="020F0302020204030204" pitchFamily="34" charset="0"/>
                <a:cs typeface="Calibri Light" panose="020F0302020204030204" pitchFamily="34" charset="0"/>
              </a:rPr>
              <a:t> Dieser Ansatz ermöglicht es den Teams, deklarativ auf Daten zuzugreifen, ohne sich mit der komplexen Logik von HTTP-Services auseinandersetzen zu müssen. Außerdem wird das Einführen neuer Funktionen erleichtert, da die Daten bereits über </a:t>
            </a:r>
            <a:r>
              <a:rPr lang="de-DE" sz="1200" dirty="0" err="1">
                <a:latin typeface="Calibri Light" panose="020F0302020204030204" pitchFamily="34" charset="0"/>
                <a:ea typeface="Calibri Light" panose="020F0302020204030204" pitchFamily="34" charset="0"/>
                <a:cs typeface="Calibri Light" panose="020F0302020204030204" pitchFamily="34" charset="0"/>
              </a:rPr>
              <a:t>GraphQL</a:t>
            </a:r>
            <a:r>
              <a:rPr lang="de-DE" sz="1200" dirty="0">
                <a:latin typeface="Calibri Light" panose="020F0302020204030204" pitchFamily="34" charset="0"/>
                <a:ea typeface="Calibri Light" panose="020F0302020204030204" pitchFamily="34" charset="0"/>
                <a:cs typeface="Calibri Light" panose="020F0302020204030204" pitchFamily="34" charset="0"/>
              </a:rPr>
              <a:t> verfügbar sind.</a:t>
            </a:r>
            <a:br>
              <a:rPr lang="de-DE" sz="1200" dirty="0">
                <a:latin typeface="Calibri Light" panose="020F0302020204030204" pitchFamily="34" charset="0"/>
                <a:ea typeface="Calibri Light" panose="020F0302020204030204" pitchFamily="34" charset="0"/>
                <a:cs typeface="Calibri Light" panose="020F0302020204030204" pitchFamily="34" charset="0"/>
              </a:rPr>
            </a:br>
            <a:endParaRPr lang="de-DE" sz="1200" dirty="0">
              <a:latin typeface="Calibri Light" panose="020F0302020204030204" pitchFamily="34" charset="0"/>
              <a:ea typeface="Calibri Light" panose="020F0302020204030204" pitchFamily="34" charset="0"/>
              <a:cs typeface="Calibri Light" panose="020F0302020204030204" pitchFamily="34" charset="0"/>
            </a:endParaRPr>
          </a:p>
          <a:p>
            <a:r>
              <a:rPr lang="de-DE" sz="1200" b="1" dirty="0">
                <a:latin typeface="Calibri Light" panose="020F0302020204030204" pitchFamily="34" charset="0"/>
                <a:ea typeface="Calibri Light" panose="020F0302020204030204" pitchFamily="34" charset="0"/>
                <a:cs typeface="Calibri Light" panose="020F0302020204030204" pitchFamily="34" charset="0"/>
              </a:rPr>
              <a:t>Ergebnis:</a:t>
            </a:r>
            <a:r>
              <a:rPr lang="de-DE" sz="1200" dirty="0">
                <a:latin typeface="Calibri Light" panose="020F0302020204030204" pitchFamily="34" charset="0"/>
                <a:ea typeface="Calibri Light" panose="020F0302020204030204" pitchFamily="34" charset="0"/>
                <a:cs typeface="Calibri Light" panose="020F0302020204030204" pitchFamily="34" charset="0"/>
              </a:rPr>
              <a:t> Mehr Konsistenz in der API, weniger spezifische Logik pro </a:t>
            </a:r>
            <a:r>
              <a:rPr lang="de-DE" sz="1200" dirty="0" err="1">
                <a:latin typeface="Calibri Light" panose="020F0302020204030204" pitchFamily="34" charset="0"/>
                <a:ea typeface="Calibri Light" panose="020F0302020204030204" pitchFamily="34" charset="0"/>
                <a:cs typeface="Calibri Light" panose="020F0302020204030204" pitchFamily="34" charset="0"/>
              </a:rPr>
              <a:t>Endpoint</a:t>
            </a:r>
            <a:r>
              <a:rPr lang="de-DE" sz="1200" dirty="0">
                <a:latin typeface="Calibri Light" panose="020F0302020204030204" pitchFamily="34" charset="0"/>
                <a:ea typeface="Calibri Light" panose="020F0302020204030204" pitchFamily="34" charset="0"/>
                <a:cs typeface="Calibri Light" panose="020F0302020204030204" pitchFamily="34" charset="0"/>
              </a:rPr>
              <a:t> und ein System, das leichter weiterentwickelt werden kann.</a:t>
            </a:r>
          </a:p>
        </p:txBody>
      </p:sp>
      <p:pic>
        <p:nvPicPr>
          <p:cNvPr id="2052" name="Picture 4">
            <a:extLst>
              <a:ext uri="{FF2B5EF4-FFF2-40B4-BE49-F238E27FC236}">
                <a16:creationId xmlns:a16="http://schemas.microsoft.com/office/drawing/2014/main" id="{D12E5B14-6A02-D13A-69BF-0F4633B00F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083" y="1344475"/>
            <a:ext cx="4233081" cy="2857330"/>
          </a:xfrm>
          <a:prstGeom prst="rect">
            <a:avLst/>
          </a:prstGeom>
          <a:noFill/>
          <a:ln>
            <a:solidFill>
              <a:schemeClr val="bg2">
                <a:lumMod val="50000"/>
              </a:schemeClr>
            </a:solidFill>
          </a:ln>
          <a:extLst>
            <a:ext uri="{909E8E84-426E-40DD-AFC4-6F175D3DCCD1}">
              <a14:hiddenFill xmlns:a14="http://schemas.microsoft.com/office/drawing/2010/main">
                <a:solidFill>
                  <a:srgbClr val="FFFFFF"/>
                </a:solidFill>
              </a14:hiddenFill>
            </a:ext>
          </a:extLst>
        </p:spPr>
      </p:pic>
      <p:sp>
        <p:nvSpPr>
          <p:cNvPr id="10" name="ZoneTexte 9">
            <a:extLst>
              <a:ext uri="{FF2B5EF4-FFF2-40B4-BE49-F238E27FC236}">
                <a16:creationId xmlns:a16="http://schemas.microsoft.com/office/drawing/2014/main" id="{9780406D-C68F-9D42-7005-904650D18D7A}"/>
              </a:ext>
            </a:extLst>
          </p:cNvPr>
          <p:cNvSpPr txBox="1"/>
          <p:nvPr/>
        </p:nvSpPr>
        <p:spPr>
          <a:xfrm>
            <a:off x="100083" y="4326340"/>
            <a:ext cx="4280848" cy="430887"/>
          </a:xfrm>
          <a:prstGeom prst="rect">
            <a:avLst/>
          </a:prstGeom>
          <a:noFill/>
        </p:spPr>
        <p:txBody>
          <a:bodyPr wrap="square" rtlCol="0">
            <a:spAutoFit/>
          </a:bodyPr>
          <a:lstStyle/>
          <a:p>
            <a:r>
              <a:rPr lang="fr-FR" sz="1100" dirty="0"/>
              <a:t>https://blog.x.com/engineering/en_us/topics/infrastructure/2020/rebuild_twitter_public_api_2020</a:t>
            </a:r>
            <a:endParaRPr lang="fr-FR" dirty="0"/>
          </a:p>
        </p:txBody>
      </p:sp>
      <p:sp>
        <p:nvSpPr>
          <p:cNvPr id="11" name="Google Shape;523;p54">
            <a:extLst>
              <a:ext uri="{FF2B5EF4-FFF2-40B4-BE49-F238E27FC236}">
                <a16:creationId xmlns:a16="http://schemas.microsoft.com/office/drawing/2014/main" id="{F5AB04B4-4747-4825-456A-5D35CD8045B4}"/>
              </a:ext>
            </a:extLst>
          </p:cNvPr>
          <p:cNvSpPr txBox="1">
            <a:spLocks/>
          </p:cNvSpPr>
          <p:nvPr/>
        </p:nvSpPr>
        <p:spPr>
          <a:xfrm>
            <a:off x="-383358" y="933590"/>
            <a:ext cx="5029365"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1pPr>
            <a:lvl2pPr marR="0" lvl="1" algn="ctr"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2pPr>
            <a:lvl3pPr marR="0" lvl="2" algn="ctr"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3pPr>
            <a:lvl4pPr marR="0" lvl="3" algn="ctr"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4pPr>
            <a:lvl5pPr marR="0" lvl="4" algn="ctr"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5pPr>
            <a:lvl6pPr marR="0" lvl="5" algn="ctr"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6pPr>
            <a:lvl7pPr marR="0" lvl="6" algn="ctr"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7pPr>
            <a:lvl8pPr marR="0" lvl="7" algn="ctr"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8pPr>
            <a:lvl9pPr marR="0" lvl="8" algn="ctr"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9pPr>
          </a:lstStyle>
          <a:p>
            <a:r>
              <a:rPr lang="fr-FR" sz="1800" dirty="0"/>
              <a:t>twitter</a:t>
            </a:r>
            <a:endParaRPr lang="fr-FR" dirty="0"/>
          </a:p>
        </p:txBody>
      </p:sp>
    </p:spTree>
    <p:extLst>
      <p:ext uri="{BB962C8B-B14F-4D97-AF65-F5344CB8AC3E}">
        <p14:creationId xmlns:p14="http://schemas.microsoft.com/office/powerpoint/2010/main" val="12903983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22">
          <a:extLst>
            <a:ext uri="{FF2B5EF4-FFF2-40B4-BE49-F238E27FC236}">
              <a16:creationId xmlns:a16="http://schemas.microsoft.com/office/drawing/2014/main" id="{B7B1949B-748E-A9F5-69C5-0490257728D6}"/>
            </a:ext>
          </a:extLst>
        </p:cNvPr>
        <p:cNvGrpSpPr/>
        <p:nvPr/>
      </p:nvGrpSpPr>
      <p:grpSpPr>
        <a:xfrm>
          <a:off x="0" y="0"/>
          <a:ext cx="0" cy="0"/>
          <a:chOff x="0" y="0"/>
          <a:chExt cx="0" cy="0"/>
        </a:xfrm>
      </p:grpSpPr>
      <p:sp>
        <p:nvSpPr>
          <p:cNvPr id="3" name="Google Shape;523;p54">
            <a:extLst>
              <a:ext uri="{FF2B5EF4-FFF2-40B4-BE49-F238E27FC236}">
                <a16:creationId xmlns:a16="http://schemas.microsoft.com/office/drawing/2014/main" id="{B507AAAC-846B-3057-9DFD-5826BDBF6071}"/>
              </a:ext>
            </a:extLst>
          </p:cNvPr>
          <p:cNvSpPr txBox="1">
            <a:spLocks noGrp="1"/>
          </p:cNvSpPr>
          <p:nvPr>
            <p:ph type="title"/>
          </p:nvPr>
        </p:nvSpPr>
        <p:spPr>
          <a:xfrm>
            <a:off x="1347633" y="77458"/>
            <a:ext cx="5029365"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800" dirty="0"/>
              <a:t>Fallstudien von GraphQL</a:t>
            </a:r>
            <a:endParaRPr dirty="0"/>
          </a:p>
        </p:txBody>
      </p:sp>
      <p:sp>
        <p:nvSpPr>
          <p:cNvPr id="5" name="ZoneTexte 4">
            <a:extLst>
              <a:ext uri="{FF2B5EF4-FFF2-40B4-BE49-F238E27FC236}">
                <a16:creationId xmlns:a16="http://schemas.microsoft.com/office/drawing/2014/main" id="{0CE2EBB1-1E00-851E-F73A-E63B42D73739}"/>
              </a:ext>
            </a:extLst>
          </p:cNvPr>
          <p:cNvSpPr txBox="1"/>
          <p:nvPr/>
        </p:nvSpPr>
        <p:spPr>
          <a:xfrm>
            <a:off x="4572000" y="541727"/>
            <a:ext cx="3971499" cy="4524315"/>
          </a:xfrm>
          <a:prstGeom prst="rect">
            <a:avLst/>
          </a:prstGeom>
          <a:noFill/>
        </p:spPr>
        <p:txBody>
          <a:bodyPr wrap="square" rtlCol="0">
            <a:spAutoFit/>
          </a:bodyPr>
          <a:lstStyle/>
          <a:p>
            <a:r>
              <a:rPr lang="de-DE" sz="1200" b="1" dirty="0">
                <a:latin typeface="Calibri Light" panose="020F0302020204030204" pitchFamily="34" charset="0"/>
                <a:ea typeface="Calibri Light" panose="020F0302020204030204" pitchFamily="34" charset="0"/>
                <a:cs typeface="Calibri Light" panose="020F0302020204030204" pitchFamily="34" charset="0"/>
              </a:rPr>
              <a:t>Netflix – Revolutionierung der Inhaltsbereitstellung mit </a:t>
            </a:r>
            <a:r>
              <a:rPr lang="de-DE" sz="1200" b="1" dirty="0" err="1">
                <a:latin typeface="Calibri Light" panose="020F0302020204030204" pitchFamily="34" charset="0"/>
                <a:ea typeface="Calibri Light" panose="020F0302020204030204" pitchFamily="34" charset="0"/>
                <a:cs typeface="Calibri Light" panose="020F0302020204030204" pitchFamily="34" charset="0"/>
              </a:rPr>
              <a:t>GraphQL</a:t>
            </a:r>
            <a:endParaRPr lang="de-DE" sz="1200" dirty="0">
              <a:latin typeface="Calibri Light" panose="020F0302020204030204" pitchFamily="34" charset="0"/>
              <a:ea typeface="Calibri Light" panose="020F0302020204030204" pitchFamily="34" charset="0"/>
              <a:cs typeface="Calibri Light" panose="020F0302020204030204" pitchFamily="34" charset="0"/>
            </a:endParaRPr>
          </a:p>
          <a:p>
            <a:r>
              <a:rPr lang="de-DE" sz="1200" b="1" dirty="0">
                <a:latin typeface="Calibri Light" panose="020F0302020204030204" pitchFamily="34" charset="0"/>
                <a:ea typeface="Calibri Light" panose="020F0302020204030204" pitchFamily="34" charset="0"/>
                <a:cs typeface="Calibri Light" panose="020F0302020204030204" pitchFamily="34" charset="0"/>
              </a:rPr>
              <a:t>Ausgangssituation (2018)</a:t>
            </a:r>
            <a:r>
              <a:rPr lang="de-DE" sz="1200" dirty="0">
                <a:latin typeface="Calibri Light" panose="020F0302020204030204" pitchFamily="34" charset="0"/>
                <a:ea typeface="Calibri Light" panose="020F0302020204030204" pitchFamily="34" charset="0"/>
                <a:cs typeface="Calibri Light" panose="020F0302020204030204" pitchFamily="34" charset="0"/>
              </a:rPr>
              <a:t>:</a:t>
            </a:r>
            <a:br>
              <a:rPr lang="de-DE" sz="1200" dirty="0">
                <a:latin typeface="Calibri Light" panose="020F0302020204030204" pitchFamily="34" charset="0"/>
                <a:ea typeface="Calibri Light" panose="020F0302020204030204" pitchFamily="34" charset="0"/>
                <a:cs typeface="Calibri Light" panose="020F0302020204030204" pitchFamily="34" charset="0"/>
              </a:rPr>
            </a:br>
            <a:r>
              <a:rPr lang="de-DE" sz="1200" dirty="0">
                <a:latin typeface="Calibri Light" panose="020F0302020204030204" pitchFamily="34" charset="0"/>
                <a:ea typeface="Calibri Light" panose="020F0302020204030204" pitchFamily="34" charset="0"/>
                <a:cs typeface="Calibri Light" panose="020F0302020204030204" pitchFamily="34" charset="0"/>
              </a:rPr>
              <a:t>Netflix nutzte eine interne REST-API für eine App namens </a:t>
            </a:r>
            <a:r>
              <a:rPr lang="de-DE" sz="1200" i="1" dirty="0">
                <a:latin typeface="Calibri Light" panose="020F0302020204030204" pitchFamily="34" charset="0"/>
                <a:ea typeface="Calibri Light" panose="020F0302020204030204" pitchFamily="34" charset="0"/>
                <a:cs typeface="Calibri Light" panose="020F0302020204030204" pitchFamily="34" charset="0"/>
              </a:rPr>
              <a:t>Monet</a:t>
            </a:r>
            <a:r>
              <a:rPr lang="de-DE" sz="1200" dirty="0">
                <a:latin typeface="Calibri Light" panose="020F0302020204030204" pitchFamily="34" charset="0"/>
                <a:ea typeface="Calibri Light" panose="020F0302020204030204" pitchFamily="34" charset="0"/>
                <a:cs typeface="Calibri Light" panose="020F0302020204030204" pitchFamily="34" charset="0"/>
              </a:rPr>
              <a:t>. Die Entwickler entschieden sich für </a:t>
            </a:r>
            <a:r>
              <a:rPr lang="de-DE" sz="1200" b="1" dirty="0" err="1">
                <a:latin typeface="Calibri Light" panose="020F0302020204030204" pitchFamily="34" charset="0"/>
                <a:ea typeface="Calibri Light" panose="020F0302020204030204" pitchFamily="34" charset="0"/>
                <a:cs typeface="Calibri Light" panose="020F0302020204030204" pitchFamily="34" charset="0"/>
              </a:rPr>
              <a:t>GraphQL</a:t>
            </a:r>
            <a:r>
              <a:rPr lang="de-DE" sz="1200" dirty="0">
                <a:latin typeface="Calibri Light" panose="020F0302020204030204" pitchFamily="34" charset="0"/>
                <a:ea typeface="Calibri Light" panose="020F0302020204030204" pitchFamily="34" charset="0"/>
                <a:cs typeface="Calibri Light" panose="020F0302020204030204" pitchFamily="34" charset="0"/>
              </a:rPr>
              <a:t>, um die Datenabfrage aus verschiedenen Quellen zu verbessern.</a:t>
            </a:r>
          </a:p>
          <a:p>
            <a:r>
              <a:rPr lang="de-DE" sz="1200" b="1" dirty="0">
                <a:latin typeface="Calibri Light" panose="020F0302020204030204" pitchFamily="34" charset="0"/>
                <a:ea typeface="Calibri Light" panose="020F0302020204030204" pitchFamily="34" charset="0"/>
                <a:cs typeface="Calibri Light" panose="020F0302020204030204" pitchFamily="34" charset="0"/>
              </a:rPr>
              <a:t>Warum </a:t>
            </a:r>
            <a:r>
              <a:rPr lang="de-DE" sz="1200" b="1" dirty="0" err="1">
                <a:latin typeface="Calibri Light" panose="020F0302020204030204" pitchFamily="34" charset="0"/>
                <a:ea typeface="Calibri Light" panose="020F0302020204030204" pitchFamily="34" charset="0"/>
                <a:cs typeface="Calibri Light" panose="020F0302020204030204" pitchFamily="34" charset="0"/>
              </a:rPr>
              <a:t>GraphQL</a:t>
            </a:r>
            <a:r>
              <a:rPr lang="de-DE" sz="1200" b="1" dirty="0">
                <a:latin typeface="Calibri Light" panose="020F0302020204030204" pitchFamily="34" charset="0"/>
                <a:ea typeface="Calibri Light" panose="020F0302020204030204" pitchFamily="34" charset="0"/>
                <a:cs typeface="Calibri Light" panose="020F0302020204030204" pitchFamily="34" charset="0"/>
              </a:rPr>
              <a:t>?</a:t>
            </a:r>
            <a:br>
              <a:rPr lang="de-DE" sz="1200" dirty="0">
                <a:latin typeface="Calibri Light" panose="020F0302020204030204" pitchFamily="34" charset="0"/>
                <a:ea typeface="Calibri Light" panose="020F0302020204030204" pitchFamily="34" charset="0"/>
                <a:cs typeface="Calibri Light" panose="020F0302020204030204" pitchFamily="34" charset="0"/>
              </a:rPr>
            </a:br>
            <a:r>
              <a:rPr lang="de-DE" sz="1200" dirty="0">
                <a:latin typeface="Calibri Light" panose="020F0302020204030204" pitchFamily="34" charset="0"/>
                <a:ea typeface="Calibri Light" panose="020F0302020204030204" pitchFamily="34" charset="0"/>
                <a:cs typeface="Calibri Light" panose="020F0302020204030204" pitchFamily="34" charset="0"/>
              </a:rPr>
              <a:t>➤ Um </a:t>
            </a:r>
            <a:r>
              <a:rPr lang="de-DE" sz="1200" b="1" dirty="0" err="1">
                <a:latin typeface="Calibri Light" panose="020F0302020204030204" pitchFamily="34" charset="0"/>
                <a:ea typeface="Calibri Light" panose="020F0302020204030204" pitchFamily="34" charset="0"/>
                <a:cs typeface="Calibri Light" panose="020F0302020204030204" pitchFamily="34" charset="0"/>
              </a:rPr>
              <a:t>Overfetching</a:t>
            </a:r>
            <a:r>
              <a:rPr lang="de-DE" sz="1200" dirty="0">
                <a:latin typeface="Calibri Light" panose="020F0302020204030204" pitchFamily="34" charset="0"/>
                <a:ea typeface="Calibri Light" panose="020F0302020204030204" pitchFamily="34" charset="0"/>
                <a:cs typeface="Calibri Light" panose="020F0302020204030204" pitchFamily="34" charset="0"/>
              </a:rPr>
              <a:t> (das Abrufen unnötiger Daten) zu vermeiden,</a:t>
            </a:r>
            <a:br>
              <a:rPr lang="de-DE" sz="1200" dirty="0">
                <a:latin typeface="Calibri Light" panose="020F0302020204030204" pitchFamily="34" charset="0"/>
                <a:ea typeface="Calibri Light" panose="020F0302020204030204" pitchFamily="34" charset="0"/>
                <a:cs typeface="Calibri Light" panose="020F0302020204030204" pitchFamily="34" charset="0"/>
              </a:rPr>
            </a:br>
            <a:r>
              <a:rPr lang="de-DE" sz="1200" dirty="0">
                <a:latin typeface="Calibri Light" panose="020F0302020204030204" pitchFamily="34" charset="0"/>
                <a:ea typeface="Calibri Light" panose="020F0302020204030204" pitchFamily="34" charset="0"/>
                <a:cs typeface="Calibri Light" panose="020F0302020204030204" pitchFamily="34" charset="0"/>
              </a:rPr>
              <a:t>➤ Die </a:t>
            </a:r>
            <a:r>
              <a:rPr lang="de-DE" sz="1200" b="1" dirty="0">
                <a:latin typeface="Calibri Light" panose="020F0302020204030204" pitchFamily="34" charset="0"/>
                <a:ea typeface="Calibri Light" panose="020F0302020204030204" pitchFamily="34" charset="0"/>
                <a:cs typeface="Calibri Light" panose="020F0302020204030204" pitchFamily="34" charset="0"/>
              </a:rPr>
              <a:t>Bandbreite</a:t>
            </a:r>
            <a:r>
              <a:rPr lang="de-DE" sz="1200" dirty="0">
                <a:latin typeface="Calibri Light" panose="020F0302020204030204" pitchFamily="34" charset="0"/>
                <a:ea typeface="Calibri Light" panose="020F0302020204030204" pitchFamily="34" charset="0"/>
                <a:cs typeface="Calibri Light" panose="020F0302020204030204" pitchFamily="34" charset="0"/>
              </a:rPr>
              <a:t> zu reduzieren,</a:t>
            </a:r>
            <a:br>
              <a:rPr lang="de-DE" sz="1200" dirty="0">
                <a:latin typeface="Calibri Light" panose="020F0302020204030204" pitchFamily="34" charset="0"/>
                <a:ea typeface="Calibri Light" panose="020F0302020204030204" pitchFamily="34" charset="0"/>
                <a:cs typeface="Calibri Light" panose="020F0302020204030204" pitchFamily="34" charset="0"/>
              </a:rPr>
            </a:br>
            <a:r>
              <a:rPr lang="de-DE" sz="1200" dirty="0">
                <a:latin typeface="Calibri Light" panose="020F0302020204030204" pitchFamily="34" charset="0"/>
                <a:ea typeface="Calibri Light" panose="020F0302020204030204" pitchFamily="34" charset="0"/>
                <a:cs typeface="Calibri Light" panose="020F0302020204030204" pitchFamily="34" charset="0"/>
              </a:rPr>
              <a:t>➤ Nur die wirklich </a:t>
            </a:r>
            <a:r>
              <a:rPr lang="de-DE" sz="1200" b="1" dirty="0">
                <a:latin typeface="Calibri Light" panose="020F0302020204030204" pitchFamily="34" charset="0"/>
                <a:ea typeface="Calibri Light" panose="020F0302020204030204" pitchFamily="34" charset="0"/>
                <a:cs typeface="Calibri Light" panose="020F0302020204030204" pitchFamily="34" charset="0"/>
              </a:rPr>
              <a:t>benötigten Daten</a:t>
            </a:r>
            <a:r>
              <a:rPr lang="de-DE" sz="1200" dirty="0">
                <a:latin typeface="Calibri Light" panose="020F0302020204030204" pitchFamily="34" charset="0"/>
                <a:ea typeface="Calibri Light" panose="020F0302020204030204" pitchFamily="34" charset="0"/>
                <a:cs typeface="Calibri Light" panose="020F0302020204030204" pitchFamily="34" charset="0"/>
              </a:rPr>
              <a:t> mit gezielten Anfragen abzurufen.</a:t>
            </a:r>
          </a:p>
          <a:p>
            <a:r>
              <a:rPr lang="de-DE" sz="1200" b="1" dirty="0">
                <a:latin typeface="Calibri Light" panose="020F0302020204030204" pitchFamily="34" charset="0"/>
                <a:ea typeface="Calibri Light" panose="020F0302020204030204" pitchFamily="34" charset="0"/>
                <a:cs typeface="Calibri Light" panose="020F0302020204030204" pitchFamily="34" charset="0"/>
              </a:rPr>
              <a:t>Umstellung im Jahr 2022</a:t>
            </a:r>
            <a:r>
              <a:rPr lang="de-DE" sz="1200" dirty="0">
                <a:latin typeface="Calibri Light" panose="020F0302020204030204" pitchFamily="34" charset="0"/>
                <a:ea typeface="Calibri Light" panose="020F0302020204030204" pitchFamily="34" charset="0"/>
                <a:cs typeface="Calibri Light" panose="020F0302020204030204" pitchFamily="34" charset="0"/>
              </a:rPr>
              <a:t>:</a:t>
            </a:r>
            <a:br>
              <a:rPr lang="de-DE" sz="1200" dirty="0">
                <a:latin typeface="Calibri Light" panose="020F0302020204030204" pitchFamily="34" charset="0"/>
                <a:ea typeface="Calibri Light" panose="020F0302020204030204" pitchFamily="34" charset="0"/>
                <a:cs typeface="Calibri Light" panose="020F0302020204030204" pitchFamily="34" charset="0"/>
              </a:rPr>
            </a:br>
            <a:r>
              <a:rPr lang="de-DE" sz="1200" dirty="0">
                <a:latin typeface="Calibri Light" panose="020F0302020204030204" pitchFamily="34" charset="0"/>
                <a:ea typeface="Calibri Light" panose="020F0302020204030204" pitchFamily="34" charset="0"/>
                <a:cs typeface="Calibri Light" panose="020F0302020204030204" pitchFamily="34" charset="0"/>
              </a:rPr>
              <a:t>Netflix migrierte seine </a:t>
            </a:r>
            <a:r>
              <a:rPr lang="de-DE" sz="1200" b="1" dirty="0">
                <a:latin typeface="Calibri Light" panose="020F0302020204030204" pitchFamily="34" charset="0"/>
                <a:ea typeface="Calibri Light" panose="020F0302020204030204" pitchFamily="34" charset="0"/>
                <a:cs typeface="Calibri Light" panose="020F0302020204030204" pitchFamily="34" charset="0"/>
              </a:rPr>
              <a:t>mobilen iOS-/Android-Apps</a:t>
            </a:r>
            <a:r>
              <a:rPr lang="de-DE" sz="1200" dirty="0">
                <a:latin typeface="Calibri Light" panose="020F0302020204030204" pitchFamily="34" charset="0"/>
                <a:ea typeface="Calibri Light" panose="020F0302020204030204" pitchFamily="34" charset="0"/>
                <a:cs typeface="Calibri Light" panose="020F0302020204030204" pitchFamily="34" charset="0"/>
              </a:rPr>
              <a:t> auf </a:t>
            </a:r>
            <a:r>
              <a:rPr lang="de-DE" sz="1200" b="1" dirty="0">
                <a:latin typeface="Calibri Light" panose="020F0302020204030204" pitchFamily="34" charset="0"/>
                <a:ea typeface="Calibri Light" panose="020F0302020204030204" pitchFamily="34" charset="0"/>
                <a:cs typeface="Calibri Light" panose="020F0302020204030204" pitchFamily="34" charset="0"/>
              </a:rPr>
              <a:t>föderiertes </a:t>
            </a:r>
            <a:r>
              <a:rPr lang="de-DE" sz="1200" b="1" dirty="0" err="1">
                <a:latin typeface="Calibri Light" panose="020F0302020204030204" pitchFamily="34" charset="0"/>
                <a:ea typeface="Calibri Light" panose="020F0302020204030204" pitchFamily="34" charset="0"/>
                <a:cs typeface="Calibri Light" panose="020F0302020204030204" pitchFamily="34" charset="0"/>
              </a:rPr>
              <a:t>GraphQL</a:t>
            </a:r>
            <a:r>
              <a:rPr lang="de-DE" sz="1200" dirty="0">
                <a:latin typeface="Calibri Light" panose="020F0302020204030204" pitchFamily="34" charset="0"/>
                <a:ea typeface="Calibri Light" panose="020F0302020204030204" pitchFamily="34" charset="0"/>
                <a:cs typeface="Calibri Light" panose="020F0302020204030204" pitchFamily="34" charset="0"/>
              </a:rPr>
              <a:t>, </a:t>
            </a:r>
            <a:r>
              <a:rPr lang="de-DE" sz="1200" b="1" dirty="0">
                <a:latin typeface="Calibri Light" panose="020F0302020204030204" pitchFamily="34" charset="0"/>
                <a:ea typeface="Calibri Light" panose="020F0302020204030204" pitchFamily="34" charset="0"/>
                <a:cs typeface="Calibri Light" panose="020F0302020204030204" pitchFamily="34" charset="0"/>
              </a:rPr>
              <a:t>ohne Ausfallzeiten</a:t>
            </a:r>
            <a:r>
              <a:rPr lang="de-DE" sz="1200" dirty="0">
                <a:latin typeface="Calibri Light" panose="020F0302020204030204" pitchFamily="34" charset="0"/>
                <a:ea typeface="Calibri Light" panose="020F0302020204030204" pitchFamily="34" charset="0"/>
                <a:cs typeface="Calibri Light" panose="020F0302020204030204" pitchFamily="34" charset="0"/>
              </a:rPr>
              <a:t>, für </a:t>
            </a:r>
            <a:r>
              <a:rPr lang="de-DE" sz="1200" b="1" dirty="0">
                <a:latin typeface="Calibri Light" panose="020F0302020204030204" pitchFamily="34" charset="0"/>
                <a:ea typeface="Calibri Light" panose="020F0302020204030204" pitchFamily="34" charset="0"/>
                <a:cs typeface="Calibri Light" panose="020F0302020204030204" pitchFamily="34" charset="0"/>
              </a:rPr>
              <a:t>Hunderte Millionen Nutzer</a:t>
            </a:r>
            <a:r>
              <a:rPr lang="de-DE" sz="1200" dirty="0">
                <a:latin typeface="Calibri Light" panose="020F0302020204030204" pitchFamily="34" charset="0"/>
                <a:ea typeface="Calibri Light" panose="020F0302020204030204" pitchFamily="34" charset="0"/>
                <a:cs typeface="Calibri Light" panose="020F0302020204030204" pitchFamily="34" charset="0"/>
              </a:rPr>
              <a:t>.</a:t>
            </a:r>
            <a:br>
              <a:rPr lang="de-DE" sz="1200" dirty="0">
                <a:latin typeface="Calibri Light" panose="020F0302020204030204" pitchFamily="34" charset="0"/>
                <a:ea typeface="Calibri Light" panose="020F0302020204030204" pitchFamily="34" charset="0"/>
                <a:cs typeface="Calibri Light" panose="020F0302020204030204" pitchFamily="34" charset="0"/>
              </a:rPr>
            </a:br>
            <a:r>
              <a:rPr lang="de-DE" sz="1200" dirty="0">
                <a:latin typeface="Calibri Light" panose="020F0302020204030204" pitchFamily="34" charset="0"/>
                <a:ea typeface="Calibri Light" panose="020F0302020204030204" pitchFamily="34" charset="0"/>
                <a:cs typeface="Calibri Light" panose="020F0302020204030204" pitchFamily="34" charset="0"/>
              </a:rPr>
              <a:t>➤ Dabei wurde das alte interne Framework </a:t>
            </a:r>
            <a:r>
              <a:rPr lang="de-DE" sz="1200" b="1" dirty="0" err="1">
                <a:latin typeface="Calibri Light" panose="020F0302020204030204" pitchFamily="34" charset="0"/>
                <a:ea typeface="Calibri Light" panose="020F0302020204030204" pitchFamily="34" charset="0"/>
                <a:cs typeface="Calibri Light" panose="020F0302020204030204" pitchFamily="34" charset="0"/>
              </a:rPr>
              <a:t>Falcor</a:t>
            </a:r>
            <a:r>
              <a:rPr lang="de-DE" sz="1200" dirty="0">
                <a:latin typeface="Calibri Light" panose="020F0302020204030204" pitchFamily="34" charset="0"/>
                <a:ea typeface="Calibri Light" panose="020F0302020204030204" pitchFamily="34" charset="0"/>
                <a:cs typeface="Calibri Light" panose="020F0302020204030204" pitchFamily="34" charset="0"/>
              </a:rPr>
              <a:t> ersetzt.</a:t>
            </a:r>
            <a:br>
              <a:rPr lang="de-DE" sz="1200" dirty="0">
                <a:latin typeface="Calibri Light" panose="020F0302020204030204" pitchFamily="34" charset="0"/>
                <a:ea typeface="Calibri Light" panose="020F0302020204030204" pitchFamily="34" charset="0"/>
                <a:cs typeface="Calibri Light" panose="020F0302020204030204" pitchFamily="34" charset="0"/>
              </a:rPr>
            </a:br>
            <a:r>
              <a:rPr lang="de-DE" sz="1200" dirty="0">
                <a:latin typeface="Calibri Light" panose="020F0302020204030204" pitchFamily="34" charset="0"/>
                <a:ea typeface="Calibri Light" panose="020F0302020204030204" pitchFamily="34" charset="0"/>
                <a:cs typeface="Calibri Light" panose="020F0302020204030204" pitchFamily="34" charset="0"/>
              </a:rPr>
              <a:t>➤ Jedes </a:t>
            </a:r>
            <a:r>
              <a:rPr lang="de-DE" sz="1200" b="1" dirty="0">
                <a:latin typeface="Calibri Light" panose="020F0302020204030204" pitchFamily="34" charset="0"/>
                <a:ea typeface="Calibri Light" panose="020F0302020204030204" pitchFamily="34" charset="0"/>
                <a:cs typeface="Calibri Light" panose="020F0302020204030204" pitchFamily="34" charset="0"/>
              </a:rPr>
              <a:t>Domänenteam</a:t>
            </a:r>
            <a:r>
              <a:rPr lang="de-DE" sz="1200" dirty="0">
                <a:latin typeface="Calibri Light" panose="020F0302020204030204" pitchFamily="34" charset="0"/>
                <a:ea typeface="Calibri Light" panose="020F0302020204030204" pitchFamily="34" charset="0"/>
                <a:cs typeface="Calibri Light" panose="020F0302020204030204" pitchFamily="34" charset="0"/>
              </a:rPr>
              <a:t> kann nun </a:t>
            </a:r>
            <a:r>
              <a:rPr lang="de-DE" sz="1200" b="1" dirty="0">
                <a:latin typeface="Calibri Light" panose="020F0302020204030204" pitchFamily="34" charset="0"/>
                <a:ea typeface="Calibri Light" panose="020F0302020204030204" pitchFamily="34" charset="0"/>
                <a:cs typeface="Calibri Light" panose="020F0302020204030204" pitchFamily="34" charset="0"/>
              </a:rPr>
              <a:t>eigenständig</a:t>
            </a:r>
            <a:r>
              <a:rPr lang="de-DE" sz="1200" dirty="0">
                <a:latin typeface="Calibri Light" panose="020F0302020204030204" pitchFamily="34" charset="0"/>
                <a:ea typeface="Calibri Light" panose="020F0302020204030204" pitchFamily="34" charset="0"/>
                <a:cs typeface="Calibri Light" panose="020F0302020204030204" pitchFamily="34" charset="0"/>
              </a:rPr>
              <a:t> seinen API-Bereich verwalten – dank der föderierten Architektur.</a:t>
            </a:r>
          </a:p>
          <a:p>
            <a:r>
              <a:rPr lang="de-DE" sz="1200" b="1" dirty="0">
                <a:latin typeface="Calibri Light" panose="020F0302020204030204" pitchFamily="34" charset="0"/>
                <a:ea typeface="Calibri Light" panose="020F0302020204030204" pitchFamily="34" charset="0"/>
                <a:cs typeface="Calibri Light" panose="020F0302020204030204" pitchFamily="34" charset="0"/>
              </a:rPr>
              <a:t>Wichtige Vorteile</a:t>
            </a:r>
            <a:r>
              <a:rPr lang="de-DE" sz="1200" dirty="0">
                <a:latin typeface="Calibri Light" panose="020F0302020204030204" pitchFamily="34" charset="0"/>
                <a:ea typeface="Calibri Light" panose="020F0302020204030204" pitchFamily="34" charset="0"/>
                <a:cs typeface="Calibri Light" panose="020F0302020204030204" pitchFamily="34" charset="0"/>
              </a:rPr>
              <a:t>:</a:t>
            </a:r>
            <a:br>
              <a:rPr lang="de-DE" sz="1200" dirty="0">
                <a:latin typeface="Calibri Light" panose="020F0302020204030204" pitchFamily="34" charset="0"/>
                <a:ea typeface="Calibri Light" panose="020F0302020204030204" pitchFamily="34" charset="0"/>
                <a:cs typeface="Calibri Light" panose="020F0302020204030204" pitchFamily="34" charset="0"/>
              </a:rPr>
            </a:br>
            <a:r>
              <a:rPr lang="de-DE" sz="1200" dirty="0">
                <a:latin typeface="Calibri Light" panose="020F0302020204030204" pitchFamily="34" charset="0"/>
                <a:ea typeface="Calibri Light" panose="020F0302020204030204" pitchFamily="34" charset="0"/>
                <a:cs typeface="Calibri Light" panose="020F0302020204030204" pitchFamily="34" charset="0"/>
              </a:rPr>
              <a:t>✔ Effizientere Datenabfragen</a:t>
            </a:r>
            <a:br>
              <a:rPr lang="de-DE" sz="1200" dirty="0">
                <a:latin typeface="Calibri Light" panose="020F0302020204030204" pitchFamily="34" charset="0"/>
                <a:ea typeface="Calibri Light" panose="020F0302020204030204" pitchFamily="34" charset="0"/>
                <a:cs typeface="Calibri Light" panose="020F0302020204030204" pitchFamily="34" charset="0"/>
              </a:rPr>
            </a:br>
            <a:r>
              <a:rPr lang="de-DE" sz="1200" dirty="0">
                <a:latin typeface="Calibri Light" panose="020F0302020204030204" pitchFamily="34" charset="0"/>
                <a:ea typeface="Calibri Light" panose="020F0302020204030204" pitchFamily="34" charset="0"/>
                <a:cs typeface="Calibri Light" panose="020F0302020204030204" pitchFamily="34" charset="0"/>
              </a:rPr>
              <a:t>✔ Weniger Netzwerklast</a:t>
            </a:r>
            <a:br>
              <a:rPr lang="de-DE" sz="1200" dirty="0">
                <a:latin typeface="Calibri Light" panose="020F0302020204030204" pitchFamily="34" charset="0"/>
                <a:ea typeface="Calibri Light" panose="020F0302020204030204" pitchFamily="34" charset="0"/>
                <a:cs typeface="Calibri Light" panose="020F0302020204030204" pitchFamily="34" charset="0"/>
              </a:rPr>
            </a:br>
            <a:r>
              <a:rPr lang="de-DE" sz="1200" dirty="0">
                <a:latin typeface="Calibri Light" panose="020F0302020204030204" pitchFamily="34" charset="0"/>
                <a:ea typeface="Calibri Light" panose="020F0302020204030204" pitchFamily="34" charset="0"/>
                <a:cs typeface="Calibri Light" panose="020F0302020204030204" pitchFamily="34" charset="0"/>
              </a:rPr>
              <a:t>✔ Bessere Skalierbarkeit durch eine verteilte API-Architektur</a:t>
            </a:r>
            <a:br>
              <a:rPr lang="de-DE" sz="1200" dirty="0">
                <a:latin typeface="Calibri Light" panose="020F0302020204030204" pitchFamily="34" charset="0"/>
                <a:ea typeface="Calibri Light" panose="020F0302020204030204" pitchFamily="34" charset="0"/>
                <a:cs typeface="Calibri Light" panose="020F0302020204030204" pitchFamily="34" charset="0"/>
              </a:rPr>
            </a:br>
            <a:r>
              <a:rPr lang="de-DE" sz="1200" dirty="0">
                <a:latin typeface="Calibri Light" panose="020F0302020204030204" pitchFamily="34" charset="0"/>
                <a:ea typeface="Calibri Light" panose="020F0302020204030204" pitchFamily="34" charset="0"/>
                <a:cs typeface="Calibri Light" panose="020F0302020204030204" pitchFamily="34" charset="0"/>
              </a:rPr>
              <a:t>✔ Reibungslose Migration </a:t>
            </a:r>
            <a:r>
              <a:rPr lang="de-DE" sz="1200" b="1" dirty="0">
                <a:latin typeface="Calibri Light" panose="020F0302020204030204" pitchFamily="34" charset="0"/>
                <a:ea typeface="Calibri Light" panose="020F0302020204030204" pitchFamily="34" charset="0"/>
                <a:cs typeface="Calibri Light" panose="020F0302020204030204" pitchFamily="34" charset="0"/>
              </a:rPr>
              <a:t>ohne Downtime</a:t>
            </a:r>
            <a:endParaRPr lang="de-DE" sz="1200"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10" name="ZoneTexte 9">
            <a:extLst>
              <a:ext uri="{FF2B5EF4-FFF2-40B4-BE49-F238E27FC236}">
                <a16:creationId xmlns:a16="http://schemas.microsoft.com/office/drawing/2014/main" id="{7256A132-1486-CF15-310B-65A4F9CBE860}"/>
              </a:ext>
            </a:extLst>
          </p:cNvPr>
          <p:cNvSpPr txBox="1"/>
          <p:nvPr/>
        </p:nvSpPr>
        <p:spPr>
          <a:xfrm>
            <a:off x="291152" y="3948300"/>
            <a:ext cx="3339152" cy="261610"/>
          </a:xfrm>
          <a:prstGeom prst="rect">
            <a:avLst/>
          </a:prstGeom>
          <a:noFill/>
        </p:spPr>
        <p:txBody>
          <a:bodyPr wrap="square" rtlCol="0">
            <a:spAutoFit/>
          </a:bodyPr>
          <a:lstStyle/>
          <a:p>
            <a:r>
              <a:rPr lang="fr-FR" sz="1100" dirty="0"/>
              <a:t>https://hygraph.com/blog/products-using-graphql</a:t>
            </a:r>
            <a:endParaRPr lang="fr-FR" dirty="0"/>
          </a:p>
        </p:txBody>
      </p:sp>
      <p:sp>
        <p:nvSpPr>
          <p:cNvPr id="11" name="Google Shape;523;p54">
            <a:extLst>
              <a:ext uri="{FF2B5EF4-FFF2-40B4-BE49-F238E27FC236}">
                <a16:creationId xmlns:a16="http://schemas.microsoft.com/office/drawing/2014/main" id="{B5DF2C65-44A4-895A-6EA3-17AAC80547A3}"/>
              </a:ext>
            </a:extLst>
          </p:cNvPr>
          <p:cNvSpPr txBox="1">
            <a:spLocks/>
          </p:cNvSpPr>
          <p:nvPr/>
        </p:nvSpPr>
        <p:spPr>
          <a:xfrm>
            <a:off x="600501" y="722058"/>
            <a:ext cx="1433015"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1pPr>
            <a:lvl2pPr marR="0" lvl="1" algn="ctr"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2pPr>
            <a:lvl3pPr marR="0" lvl="2" algn="ctr"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3pPr>
            <a:lvl4pPr marR="0" lvl="3" algn="ctr"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4pPr>
            <a:lvl5pPr marR="0" lvl="4" algn="ctr"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5pPr>
            <a:lvl6pPr marR="0" lvl="5" algn="ctr"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6pPr>
            <a:lvl7pPr marR="0" lvl="6" algn="ctr"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7pPr>
            <a:lvl8pPr marR="0" lvl="7" algn="ctr"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8pPr>
            <a:lvl9pPr marR="0" lvl="8" algn="ctr"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9pPr>
          </a:lstStyle>
          <a:p>
            <a:r>
              <a:rPr lang="fr-FR" sz="1800" dirty="0"/>
              <a:t>Netflix</a:t>
            </a:r>
            <a:endParaRPr lang="fr-FR" dirty="0"/>
          </a:p>
        </p:txBody>
      </p:sp>
      <p:pic>
        <p:nvPicPr>
          <p:cNvPr id="8" name="Image 7">
            <a:extLst>
              <a:ext uri="{FF2B5EF4-FFF2-40B4-BE49-F238E27FC236}">
                <a16:creationId xmlns:a16="http://schemas.microsoft.com/office/drawing/2014/main" id="{4F216ED2-5984-E466-2895-79B522040E3A}"/>
              </a:ext>
            </a:extLst>
          </p:cNvPr>
          <p:cNvPicPr>
            <a:picLocks noChangeAspect="1"/>
          </p:cNvPicPr>
          <p:nvPr/>
        </p:nvPicPr>
        <p:blipFill>
          <a:blip r:embed="rId3"/>
          <a:stretch>
            <a:fillRect/>
          </a:stretch>
        </p:blipFill>
        <p:spPr>
          <a:xfrm>
            <a:off x="170597" y="1366658"/>
            <a:ext cx="4071692" cy="2405339"/>
          </a:xfrm>
          <a:prstGeom prst="rect">
            <a:avLst/>
          </a:prstGeom>
          <a:ln>
            <a:solidFill>
              <a:schemeClr val="bg2">
                <a:lumMod val="50000"/>
              </a:schemeClr>
            </a:solidFill>
          </a:ln>
        </p:spPr>
      </p:pic>
    </p:spTree>
    <p:extLst>
      <p:ext uri="{BB962C8B-B14F-4D97-AF65-F5344CB8AC3E}">
        <p14:creationId xmlns:p14="http://schemas.microsoft.com/office/powerpoint/2010/main" val="28175827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22">
          <a:extLst>
            <a:ext uri="{FF2B5EF4-FFF2-40B4-BE49-F238E27FC236}">
              <a16:creationId xmlns:a16="http://schemas.microsoft.com/office/drawing/2014/main" id="{F93CBACA-FDC4-9B7F-A267-4C9435BAA89A}"/>
            </a:ext>
          </a:extLst>
        </p:cNvPr>
        <p:cNvGrpSpPr/>
        <p:nvPr/>
      </p:nvGrpSpPr>
      <p:grpSpPr>
        <a:xfrm>
          <a:off x="0" y="0"/>
          <a:ext cx="0" cy="0"/>
          <a:chOff x="0" y="0"/>
          <a:chExt cx="0" cy="0"/>
        </a:xfrm>
      </p:grpSpPr>
      <p:sp>
        <p:nvSpPr>
          <p:cNvPr id="4" name="Titre 3">
            <a:extLst>
              <a:ext uri="{FF2B5EF4-FFF2-40B4-BE49-F238E27FC236}">
                <a16:creationId xmlns:a16="http://schemas.microsoft.com/office/drawing/2014/main" id="{4F282E1B-56DE-25E8-B27E-7DBEA59A5DD9}"/>
              </a:ext>
            </a:extLst>
          </p:cNvPr>
          <p:cNvSpPr>
            <a:spLocks noGrp="1"/>
          </p:cNvSpPr>
          <p:nvPr>
            <p:ph type="title"/>
          </p:nvPr>
        </p:nvSpPr>
        <p:spPr>
          <a:xfrm>
            <a:off x="4503842" y="1516373"/>
            <a:ext cx="3544926" cy="1179059"/>
          </a:xfrm>
        </p:spPr>
        <p:txBody>
          <a:bodyPr/>
          <a:lstStyle/>
          <a:p>
            <a:r>
              <a:rPr lang="fr-FR" sz="6600" dirty="0"/>
              <a:t>????</a:t>
            </a:r>
            <a:endParaRPr lang="fr-FR" dirty="0"/>
          </a:p>
        </p:txBody>
      </p:sp>
      <p:pic>
        <p:nvPicPr>
          <p:cNvPr id="5124" name="Picture 4" descr="gRPC – CNCF Store | Get stickers, t-shirts, hoodies, and more.">
            <a:extLst>
              <a:ext uri="{FF2B5EF4-FFF2-40B4-BE49-F238E27FC236}">
                <a16:creationId xmlns:a16="http://schemas.microsoft.com/office/drawing/2014/main" id="{8A369F95-C475-1F6B-F25E-EB0F62C0F2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5232" y="-169746"/>
            <a:ext cx="3783842" cy="47298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629221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ZoneTexte 55">
            <a:extLst>
              <a:ext uri="{FF2B5EF4-FFF2-40B4-BE49-F238E27FC236}">
                <a16:creationId xmlns:a16="http://schemas.microsoft.com/office/drawing/2014/main" id="{E1796861-1103-BF58-ABCB-5056F319B882}"/>
              </a:ext>
            </a:extLst>
          </p:cNvPr>
          <p:cNvSpPr txBox="1"/>
          <p:nvPr/>
        </p:nvSpPr>
        <p:spPr>
          <a:xfrm>
            <a:off x="48444" y="23680"/>
            <a:ext cx="3984228" cy="5095596"/>
          </a:xfrm>
          <a:prstGeom prst="rect">
            <a:avLst/>
          </a:prstGeom>
          <a:noFill/>
          <a:ln>
            <a:solidFill>
              <a:srgbClr val="002060"/>
            </a:solidFill>
          </a:ln>
        </p:spPr>
        <p:txBody>
          <a:bodyPr wrap="square" rtlCol="0">
            <a:spAutoFit/>
          </a:bodyPr>
          <a:lstStyle/>
          <a:p>
            <a:pPr algn="ctr">
              <a:buNone/>
            </a:pPr>
            <a:r>
              <a:rPr lang="de-DE" sz="1200" b="1" dirty="0">
                <a:latin typeface="Calibri Light" panose="020F0302020204030204" pitchFamily="34" charset="0"/>
                <a:ea typeface="Calibri Light" panose="020F0302020204030204" pitchFamily="34" charset="0"/>
                <a:cs typeface="Calibri Light" panose="020F0302020204030204" pitchFamily="34" charset="0"/>
              </a:rPr>
              <a:t>GRPC : GOOGLE REMOTE PROCEDURE CALL</a:t>
            </a:r>
          </a:p>
          <a:p>
            <a:pPr>
              <a:buNone/>
            </a:pPr>
            <a:r>
              <a:rPr lang="de-DE" sz="1200" b="1" i="1" dirty="0">
                <a:latin typeface="Calibri Light" panose="020F0302020204030204" pitchFamily="34" charset="0"/>
                <a:ea typeface="Calibri Light" panose="020F0302020204030204" pitchFamily="34" charset="0"/>
                <a:cs typeface="Calibri Light" panose="020F0302020204030204" pitchFamily="34" charset="0"/>
              </a:rPr>
              <a:t>gRPC</a:t>
            </a:r>
            <a:r>
              <a:rPr lang="de-DE" sz="1200" dirty="0">
                <a:latin typeface="Calibri Light" panose="020F0302020204030204" pitchFamily="34" charset="0"/>
                <a:ea typeface="Calibri Light" panose="020F0302020204030204" pitchFamily="34" charset="0"/>
                <a:cs typeface="Calibri Light" panose="020F0302020204030204" pitchFamily="34" charset="0"/>
              </a:rPr>
              <a:t> ist ein Framework, das es ermöglicht, die Funktionalitäten eines Dienstes für einen Fernzugriff über </a:t>
            </a:r>
            <a:r>
              <a:rPr lang="de-DE" sz="1200" b="1" i="1" dirty="0">
                <a:latin typeface="Calibri Light" panose="020F0302020204030204" pitchFamily="34" charset="0"/>
                <a:ea typeface="Calibri Light" panose="020F0302020204030204" pitchFamily="34" charset="0"/>
                <a:cs typeface="Calibri Light" panose="020F0302020204030204" pitchFamily="34" charset="0"/>
              </a:rPr>
              <a:t>HTTP/2 </a:t>
            </a:r>
            <a:r>
              <a:rPr lang="de-DE" sz="1200" dirty="0">
                <a:latin typeface="Calibri Light" panose="020F0302020204030204" pitchFamily="34" charset="0"/>
                <a:ea typeface="Calibri Light" panose="020F0302020204030204" pitchFamily="34" charset="0"/>
                <a:cs typeface="Calibri Light" panose="020F0302020204030204" pitchFamily="34" charset="0"/>
              </a:rPr>
              <a:t>bereitzustellen.</a:t>
            </a:r>
          </a:p>
          <a:p>
            <a:pPr>
              <a:buNone/>
            </a:pPr>
            <a:r>
              <a:rPr lang="de-DE" sz="1200" dirty="0">
                <a:latin typeface="Calibri Light" panose="020F0302020204030204" pitchFamily="34" charset="0"/>
                <a:ea typeface="Calibri Light" panose="020F0302020204030204" pitchFamily="34" charset="0"/>
                <a:cs typeface="Calibri Light" panose="020F0302020204030204" pitchFamily="34" charset="0"/>
              </a:rPr>
              <a:t>Es erfüllt denselben Zweck wie seine Vorgänger: </a:t>
            </a:r>
            <a:r>
              <a:rPr lang="de-DE" sz="1200" b="1" i="1" dirty="0">
                <a:latin typeface="Calibri Light" panose="020F0302020204030204" pitchFamily="34" charset="0"/>
                <a:ea typeface="Calibri Light" panose="020F0302020204030204" pitchFamily="34" charset="0"/>
                <a:cs typeface="Calibri Light" panose="020F0302020204030204" pitchFamily="34" charset="0"/>
              </a:rPr>
              <a:t>RPC, CORBA, RMI, SOAP, REST und </a:t>
            </a:r>
            <a:r>
              <a:rPr lang="de-DE" sz="1200" b="1" i="1" dirty="0" err="1">
                <a:latin typeface="Calibri Light" panose="020F0302020204030204" pitchFamily="34" charset="0"/>
                <a:ea typeface="Calibri Light" panose="020F0302020204030204" pitchFamily="34" charset="0"/>
                <a:cs typeface="Calibri Light" panose="020F0302020204030204" pitchFamily="34" charset="0"/>
              </a:rPr>
              <a:t>GraphQL</a:t>
            </a:r>
            <a:r>
              <a:rPr lang="de-DE" sz="1200" b="1" i="1" dirty="0">
                <a:latin typeface="Calibri Light" panose="020F0302020204030204" pitchFamily="34" charset="0"/>
                <a:ea typeface="Calibri Light" panose="020F0302020204030204" pitchFamily="34" charset="0"/>
                <a:cs typeface="Calibri Light" panose="020F0302020204030204" pitchFamily="34" charset="0"/>
              </a:rPr>
              <a:t>.</a:t>
            </a:r>
          </a:p>
          <a:p>
            <a:pPr>
              <a:buNone/>
            </a:pPr>
            <a:r>
              <a:rPr lang="de-DE" sz="1200" dirty="0">
                <a:latin typeface="Calibri Light" panose="020F0302020204030204" pitchFamily="34" charset="0"/>
                <a:ea typeface="Calibri Light" panose="020F0302020204030204" pitchFamily="34" charset="0"/>
                <a:cs typeface="Calibri Light" panose="020F0302020204030204" pitchFamily="34" charset="0"/>
              </a:rPr>
              <a:t>Ähnlich wie </a:t>
            </a:r>
            <a:r>
              <a:rPr lang="de-DE" sz="1200" b="1" i="1" dirty="0">
                <a:latin typeface="Calibri Light" panose="020F0302020204030204" pitchFamily="34" charset="0"/>
                <a:ea typeface="Calibri Light" panose="020F0302020204030204" pitchFamily="34" charset="0"/>
                <a:cs typeface="Calibri Light" panose="020F0302020204030204" pitchFamily="34" charset="0"/>
              </a:rPr>
              <a:t>CORBA</a:t>
            </a:r>
            <a:r>
              <a:rPr lang="de-DE" sz="1200" dirty="0">
                <a:latin typeface="Calibri Light" panose="020F0302020204030204" pitchFamily="34" charset="0"/>
                <a:ea typeface="Calibri Light" panose="020F0302020204030204" pitchFamily="34" charset="0"/>
                <a:cs typeface="Calibri Light" panose="020F0302020204030204" pitchFamily="34" charset="0"/>
              </a:rPr>
              <a:t> ermöglicht </a:t>
            </a:r>
            <a:r>
              <a:rPr lang="de-DE" sz="1200" b="1" i="1" dirty="0">
                <a:latin typeface="Calibri Light" panose="020F0302020204030204" pitchFamily="34" charset="0"/>
                <a:ea typeface="Calibri Light" panose="020F0302020204030204" pitchFamily="34" charset="0"/>
                <a:cs typeface="Calibri Light" panose="020F0302020204030204" pitchFamily="34" charset="0"/>
              </a:rPr>
              <a:t>gRPC</a:t>
            </a:r>
            <a:r>
              <a:rPr lang="de-DE" sz="1200" dirty="0">
                <a:latin typeface="Calibri Light" panose="020F0302020204030204" pitchFamily="34" charset="0"/>
                <a:ea typeface="Calibri Light" panose="020F0302020204030204" pitchFamily="34" charset="0"/>
                <a:cs typeface="Calibri Light" panose="020F0302020204030204" pitchFamily="34" charset="0"/>
              </a:rPr>
              <a:t> die Kommunikation zwischen mehreren verteilten Anwendungen, die verschiedene Programmiersprachen und Plattformen verwenden.</a:t>
            </a:r>
          </a:p>
          <a:p>
            <a:pPr>
              <a:buNone/>
            </a:pPr>
            <a:r>
              <a:rPr lang="de-DE" sz="1200" dirty="0">
                <a:latin typeface="Calibri Light" panose="020F0302020204030204" pitchFamily="34" charset="0"/>
                <a:ea typeface="Calibri Light" panose="020F0302020204030204" pitchFamily="34" charset="0"/>
                <a:cs typeface="Calibri Light" panose="020F0302020204030204" pitchFamily="34" charset="0"/>
              </a:rPr>
              <a:t>Es verwendet Protocol Buffers (</a:t>
            </a:r>
            <a:r>
              <a:rPr lang="de-DE" sz="1200" b="1" i="1" dirty="0" err="1">
                <a:latin typeface="Calibri Light" panose="020F0302020204030204" pitchFamily="34" charset="0"/>
                <a:ea typeface="Calibri Light" panose="020F0302020204030204" pitchFamily="34" charset="0"/>
                <a:cs typeface="Calibri Light" panose="020F0302020204030204" pitchFamily="34" charset="0"/>
              </a:rPr>
              <a:t>ProtoBuff</a:t>
            </a:r>
            <a:r>
              <a:rPr lang="de-DE" sz="1200" dirty="0">
                <a:latin typeface="Calibri Light" panose="020F0302020204030204" pitchFamily="34" charset="0"/>
                <a:ea typeface="Calibri Light" panose="020F0302020204030204" pitchFamily="34" charset="0"/>
                <a:cs typeface="Calibri Light" panose="020F0302020204030204" pitchFamily="34" charset="0"/>
              </a:rPr>
              <a:t>) als bevorzugten </a:t>
            </a:r>
            <a:r>
              <a:rPr lang="de-DE" sz="1200" dirty="0" err="1">
                <a:latin typeface="Calibri Light" panose="020F0302020204030204" pitchFamily="34" charset="0"/>
                <a:ea typeface="Calibri Light" panose="020F0302020204030204" pitchFamily="34" charset="0"/>
                <a:cs typeface="Calibri Light" panose="020F0302020204030204" pitchFamily="34" charset="0"/>
              </a:rPr>
              <a:t>Serialisierungsmechanismus</a:t>
            </a:r>
            <a:r>
              <a:rPr lang="de-DE" sz="1200" dirty="0">
                <a:latin typeface="Calibri Light" panose="020F0302020204030204" pitchFamily="34" charset="0"/>
                <a:ea typeface="Calibri Light" panose="020F0302020204030204" pitchFamily="34" charset="0"/>
                <a:cs typeface="Calibri Light" panose="020F0302020204030204" pitchFamily="34" charset="0"/>
              </a:rPr>
              <a:t> – entwickelt von Google als leistungsfähigere Alternative zu </a:t>
            </a:r>
            <a:r>
              <a:rPr lang="de-DE" sz="1200" b="1" i="1" dirty="0">
                <a:latin typeface="Calibri Light" panose="020F0302020204030204" pitchFamily="34" charset="0"/>
                <a:ea typeface="Calibri Light" panose="020F0302020204030204" pitchFamily="34" charset="0"/>
                <a:cs typeface="Calibri Light" panose="020F0302020204030204" pitchFamily="34" charset="0"/>
              </a:rPr>
              <a:t>IDL, XML </a:t>
            </a:r>
            <a:r>
              <a:rPr lang="de-DE" sz="1200" dirty="0">
                <a:latin typeface="Calibri Light" panose="020F0302020204030204" pitchFamily="34" charset="0"/>
                <a:ea typeface="Calibri Light" panose="020F0302020204030204" pitchFamily="34" charset="0"/>
                <a:cs typeface="Calibri Light" panose="020F0302020204030204" pitchFamily="34" charset="0"/>
              </a:rPr>
              <a:t>und </a:t>
            </a:r>
            <a:r>
              <a:rPr lang="de-DE" sz="1200" b="1" i="1" dirty="0">
                <a:latin typeface="Calibri Light" panose="020F0302020204030204" pitchFamily="34" charset="0"/>
                <a:ea typeface="Calibri Light" panose="020F0302020204030204" pitchFamily="34" charset="0"/>
                <a:cs typeface="Calibri Light" panose="020F0302020204030204" pitchFamily="34" charset="0"/>
              </a:rPr>
              <a:t>JSON</a:t>
            </a:r>
            <a:r>
              <a:rPr lang="de-DE" sz="1200" dirty="0">
                <a:latin typeface="Calibri Light" panose="020F0302020204030204" pitchFamily="34" charset="0"/>
                <a:ea typeface="Calibri Light" panose="020F0302020204030204" pitchFamily="34" charset="0"/>
                <a:cs typeface="Calibri Light" panose="020F0302020204030204" pitchFamily="34" charset="0"/>
              </a:rPr>
              <a:t>.</a:t>
            </a:r>
          </a:p>
          <a:p>
            <a:pPr>
              <a:buNone/>
            </a:pPr>
            <a:r>
              <a:rPr lang="de-DE" sz="1200" dirty="0">
                <a:latin typeface="Calibri Light" panose="020F0302020204030204" pitchFamily="34" charset="0"/>
                <a:ea typeface="Calibri Light" panose="020F0302020204030204" pitchFamily="34" charset="0"/>
                <a:cs typeface="Calibri Light" panose="020F0302020204030204" pitchFamily="34" charset="0"/>
              </a:rPr>
              <a:t>gRPC profitiert von den Vorteilen des </a:t>
            </a:r>
            <a:r>
              <a:rPr lang="de-DE" sz="1200" b="1" i="1" dirty="0">
                <a:latin typeface="Calibri Light" panose="020F0302020204030204" pitchFamily="34" charset="0"/>
                <a:ea typeface="Calibri Light" panose="020F0302020204030204" pitchFamily="34" charset="0"/>
                <a:cs typeface="Calibri Light" panose="020F0302020204030204" pitchFamily="34" charset="0"/>
              </a:rPr>
              <a:t>HTTP/2-Protokolls</a:t>
            </a:r>
            <a:r>
              <a:rPr lang="de-DE" sz="1200" dirty="0">
                <a:latin typeface="Calibri Light" panose="020F0302020204030204" pitchFamily="34" charset="0"/>
                <a:ea typeface="Calibri Light" panose="020F0302020204030204" pitchFamily="34" charset="0"/>
                <a:cs typeface="Calibri Light" panose="020F0302020204030204" pitchFamily="34" charset="0"/>
              </a:rPr>
              <a:t>, insbesondere:</a:t>
            </a:r>
          </a:p>
          <a:p>
            <a:pPr>
              <a:buNone/>
            </a:pPr>
            <a:r>
              <a:rPr lang="de-DE" dirty="0">
                <a:solidFill>
                  <a:srgbClr val="FF0000"/>
                </a:solidFill>
              </a:rPr>
              <a:t>- </a:t>
            </a:r>
            <a:r>
              <a:rPr lang="de-DE" sz="1200" dirty="0">
                <a:latin typeface="Calibri Light" panose="020F0302020204030204" pitchFamily="34" charset="0"/>
                <a:ea typeface="Calibri Light" panose="020F0302020204030204" pitchFamily="34" charset="0"/>
                <a:cs typeface="Calibri Light" panose="020F0302020204030204" pitchFamily="34" charset="0"/>
              </a:rPr>
              <a:t>Bidirektionale Kommunikation (</a:t>
            </a:r>
            <a:r>
              <a:rPr lang="de-DE" sz="1200" b="1" i="1" dirty="0" err="1">
                <a:latin typeface="Calibri Light" panose="020F0302020204030204" pitchFamily="34" charset="0"/>
                <a:ea typeface="Calibri Light" panose="020F0302020204030204" pitchFamily="34" charset="0"/>
                <a:cs typeface="Calibri Light" panose="020F0302020204030204" pitchFamily="34" charset="0"/>
              </a:rPr>
              <a:t>Full</a:t>
            </a:r>
            <a:r>
              <a:rPr lang="de-DE" sz="1200" b="1" i="1" dirty="0">
                <a:latin typeface="Calibri Light" panose="020F0302020204030204" pitchFamily="34" charset="0"/>
                <a:ea typeface="Calibri Light" panose="020F0302020204030204" pitchFamily="34" charset="0"/>
                <a:cs typeface="Calibri Light" panose="020F0302020204030204" pitchFamily="34" charset="0"/>
              </a:rPr>
              <a:t> Duplex</a:t>
            </a:r>
            <a:r>
              <a:rPr lang="de-DE" sz="1200" dirty="0">
                <a:latin typeface="Calibri Light" panose="020F0302020204030204" pitchFamily="34" charset="0"/>
                <a:ea typeface="Calibri Light" panose="020F0302020204030204" pitchFamily="34" charset="0"/>
                <a:cs typeface="Calibri Light" panose="020F0302020204030204" pitchFamily="34" charset="0"/>
              </a:rPr>
              <a:t>) zwischen Client und Server, was die Entwicklung reaktiver verteilter Anwendungen ermöglicht.</a:t>
            </a:r>
          </a:p>
          <a:p>
            <a:pPr>
              <a:buNone/>
            </a:pPr>
            <a:r>
              <a:rPr lang="de-DE" dirty="0">
                <a:solidFill>
                  <a:srgbClr val="FF0000"/>
                </a:solidFill>
              </a:rPr>
              <a:t>- </a:t>
            </a:r>
            <a:r>
              <a:rPr lang="de-DE" sz="1200" dirty="0">
                <a:latin typeface="Calibri Light" panose="020F0302020204030204" pitchFamily="34" charset="0"/>
                <a:ea typeface="Calibri Light" panose="020F0302020204030204" pitchFamily="34" charset="0"/>
                <a:cs typeface="Calibri Light" panose="020F0302020204030204" pitchFamily="34" charset="0"/>
              </a:rPr>
              <a:t>Dauerhafte Verbindung während der gesamten Kommunikation (mehrere Anfragen können gleichzeitig über eine einzige </a:t>
            </a:r>
            <a:r>
              <a:rPr lang="de-DE" sz="1200" b="1" i="1" dirty="0">
                <a:latin typeface="Calibri Light" panose="020F0302020204030204" pitchFamily="34" charset="0"/>
                <a:ea typeface="Calibri Light" panose="020F0302020204030204" pitchFamily="34" charset="0"/>
                <a:cs typeface="Calibri Light" panose="020F0302020204030204" pitchFamily="34" charset="0"/>
              </a:rPr>
              <a:t>TCP-Verbindung</a:t>
            </a:r>
            <a:r>
              <a:rPr lang="de-DE" sz="1200" dirty="0">
                <a:latin typeface="Calibri Light" panose="020F0302020204030204" pitchFamily="34" charset="0"/>
                <a:ea typeface="Calibri Light" panose="020F0302020204030204" pitchFamily="34" charset="0"/>
                <a:cs typeface="Calibri Light" panose="020F0302020204030204" pitchFamily="34" charset="0"/>
              </a:rPr>
              <a:t> gesendet werden).</a:t>
            </a:r>
          </a:p>
          <a:p>
            <a:pPr>
              <a:buNone/>
            </a:pPr>
            <a:r>
              <a:rPr lang="de-DE" dirty="0">
                <a:solidFill>
                  <a:srgbClr val="FF0000"/>
                </a:solidFill>
              </a:rPr>
              <a:t>- </a:t>
            </a:r>
            <a:r>
              <a:rPr lang="de-DE" sz="1200" dirty="0">
                <a:latin typeface="Calibri Light" panose="020F0302020204030204" pitchFamily="34" charset="0"/>
                <a:ea typeface="Calibri Light" panose="020F0302020204030204" pitchFamily="34" charset="0"/>
                <a:cs typeface="Calibri Light" panose="020F0302020204030204" pitchFamily="34" charset="0"/>
              </a:rPr>
              <a:t>Optimierung des ausgetauschten Inhalts.</a:t>
            </a:r>
          </a:p>
          <a:p>
            <a:r>
              <a:rPr lang="de-DE" dirty="0">
                <a:solidFill>
                  <a:srgbClr val="FF0000"/>
                </a:solidFill>
              </a:rPr>
              <a:t>- </a:t>
            </a:r>
            <a:r>
              <a:rPr lang="de-DE" sz="1200" dirty="0">
                <a:latin typeface="Calibri Light" panose="020F0302020204030204" pitchFamily="34" charset="0"/>
                <a:ea typeface="Calibri Light" panose="020F0302020204030204" pitchFamily="34" charset="0"/>
                <a:cs typeface="Calibri Light" panose="020F0302020204030204" pitchFamily="34" charset="0"/>
              </a:rPr>
              <a:t>Client und Server können Daten kontinuierlich übertragen, was den Bedarf an neuen Anfragen oder zusätzlichen Verbindungen reduziert.</a:t>
            </a:r>
          </a:p>
          <a:p>
            <a:endParaRPr lang="fr-FR" dirty="0"/>
          </a:p>
        </p:txBody>
      </p:sp>
      <p:sp>
        <p:nvSpPr>
          <p:cNvPr id="57" name="ZoneTexte 56">
            <a:extLst>
              <a:ext uri="{FF2B5EF4-FFF2-40B4-BE49-F238E27FC236}">
                <a16:creationId xmlns:a16="http://schemas.microsoft.com/office/drawing/2014/main" id="{73CDACC4-4034-13BE-2AFB-AAC8AB4ABAE7}"/>
              </a:ext>
            </a:extLst>
          </p:cNvPr>
          <p:cNvSpPr txBox="1"/>
          <p:nvPr/>
        </p:nvSpPr>
        <p:spPr>
          <a:xfrm>
            <a:off x="4081495" y="17624"/>
            <a:ext cx="5014061" cy="5101652"/>
          </a:xfrm>
          <a:prstGeom prst="rect">
            <a:avLst/>
          </a:prstGeom>
          <a:noFill/>
          <a:ln>
            <a:solidFill>
              <a:srgbClr val="002060"/>
            </a:solidFill>
          </a:ln>
        </p:spPr>
        <p:txBody>
          <a:bodyPr wrap="square" rtlCol="0">
            <a:spAutoFit/>
          </a:bodyPr>
          <a:lstStyle/>
          <a:p>
            <a:endParaRPr lang="fr-FR" dirty="0"/>
          </a:p>
        </p:txBody>
      </p:sp>
      <p:sp>
        <p:nvSpPr>
          <p:cNvPr id="58" name="Rectangle 57">
            <a:extLst>
              <a:ext uri="{FF2B5EF4-FFF2-40B4-BE49-F238E27FC236}">
                <a16:creationId xmlns:a16="http://schemas.microsoft.com/office/drawing/2014/main" id="{F5E003B3-CA98-0E40-10A5-DD0804AE613E}"/>
              </a:ext>
            </a:extLst>
          </p:cNvPr>
          <p:cNvSpPr/>
          <p:nvPr/>
        </p:nvSpPr>
        <p:spPr>
          <a:xfrm rot="16200000">
            <a:off x="4563249" y="2385259"/>
            <a:ext cx="4975018" cy="372979"/>
          </a:xfrm>
          <a:prstGeom prst="rect">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ln>
                  <a:solidFill>
                    <a:schemeClr val="bg1"/>
                  </a:solidFill>
                </a:ln>
              </a:rPr>
              <a:t>GRPC Server(http2)</a:t>
            </a:r>
          </a:p>
        </p:txBody>
      </p:sp>
      <p:sp>
        <p:nvSpPr>
          <p:cNvPr id="59" name="Rectangle 58">
            <a:extLst>
              <a:ext uri="{FF2B5EF4-FFF2-40B4-BE49-F238E27FC236}">
                <a16:creationId xmlns:a16="http://schemas.microsoft.com/office/drawing/2014/main" id="{E3321F84-033F-7E5F-983E-1AB1C762C1B6}"/>
              </a:ext>
            </a:extLst>
          </p:cNvPr>
          <p:cNvSpPr/>
          <p:nvPr/>
        </p:nvSpPr>
        <p:spPr>
          <a:xfrm>
            <a:off x="7238916" y="84242"/>
            <a:ext cx="1790033" cy="4975017"/>
          </a:xfrm>
          <a:prstGeom prst="rect">
            <a:avLst/>
          </a:prstGeom>
          <a:solidFill>
            <a:schemeClr val="tx2">
              <a:lumMod val="50000"/>
            </a:schemeClr>
          </a:solidFill>
          <a:ln w="3175">
            <a:solidFill>
              <a:schemeClr val="bg1">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0" name="Rectangle 59">
            <a:extLst>
              <a:ext uri="{FF2B5EF4-FFF2-40B4-BE49-F238E27FC236}">
                <a16:creationId xmlns:a16="http://schemas.microsoft.com/office/drawing/2014/main" id="{B05FE3CD-8318-9BBC-5794-8C879230AE62}"/>
              </a:ext>
            </a:extLst>
          </p:cNvPr>
          <p:cNvSpPr/>
          <p:nvPr/>
        </p:nvSpPr>
        <p:spPr>
          <a:xfrm>
            <a:off x="7848105" y="1114238"/>
            <a:ext cx="1035513" cy="24222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fr-FR" sz="1100" dirty="0" err="1">
                <a:solidFill>
                  <a:schemeClr val="bg1">
                    <a:lumMod val="10000"/>
                  </a:schemeClr>
                </a:solidFill>
              </a:rPr>
              <a:t>bank.proto</a:t>
            </a:r>
            <a:endParaRPr lang="fr-FR" dirty="0">
              <a:solidFill>
                <a:schemeClr val="bg1">
                  <a:lumMod val="10000"/>
                </a:schemeClr>
              </a:solidFill>
            </a:endParaRPr>
          </a:p>
        </p:txBody>
      </p:sp>
      <p:sp>
        <p:nvSpPr>
          <p:cNvPr id="61" name="Rectangle 60">
            <a:extLst>
              <a:ext uri="{FF2B5EF4-FFF2-40B4-BE49-F238E27FC236}">
                <a16:creationId xmlns:a16="http://schemas.microsoft.com/office/drawing/2014/main" id="{B4D9B089-2D06-83BB-71E7-6578D64CE8E7}"/>
              </a:ext>
            </a:extLst>
          </p:cNvPr>
          <p:cNvSpPr/>
          <p:nvPr/>
        </p:nvSpPr>
        <p:spPr>
          <a:xfrm>
            <a:off x="7848104" y="1696588"/>
            <a:ext cx="1035513" cy="24222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fr-FR" sz="1100" dirty="0" err="1">
                <a:solidFill>
                  <a:schemeClr val="bg1">
                    <a:lumMod val="10000"/>
                  </a:schemeClr>
                </a:solidFill>
              </a:rPr>
              <a:t>gRPC</a:t>
            </a:r>
            <a:r>
              <a:rPr lang="fr-FR" sz="1100" dirty="0">
                <a:solidFill>
                  <a:schemeClr val="bg1">
                    <a:lumMod val="10000"/>
                  </a:schemeClr>
                </a:solidFill>
              </a:rPr>
              <a:t> STUB</a:t>
            </a:r>
            <a:endParaRPr lang="fr-FR" dirty="0">
              <a:solidFill>
                <a:schemeClr val="bg1">
                  <a:lumMod val="10000"/>
                </a:schemeClr>
              </a:solidFill>
            </a:endParaRPr>
          </a:p>
        </p:txBody>
      </p:sp>
      <p:sp>
        <p:nvSpPr>
          <p:cNvPr id="62" name="Rectangle 61">
            <a:extLst>
              <a:ext uri="{FF2B5EF4-FFF2-40B4-BE49-F238E27FC236}">
                <a16:creationId xmlns:a16="http://schemas.microsoft.com/office/drawing/2014/main" id="{44C20D20-20D7-4A05-DB58-BFE0C5D35427}"/>
              </a:ext>
            </a:extLst>
          </p:cNvPr>
          <p:cNvSpPr/>
          <p:nvPr/>
        </p:nvSpPr>
        <p:spPr>
          <a:xfrm rot="16200000">
            <a:off x="6983459" y="1422953"/>
            <a:ext cx="1035513" cy="242225"/>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solidFill>
              <a:schemeClr val="bg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fr-FR" sz="1100" dirty="0">
                <a:solidFill>
                  <a:schemeClr val="accent2"/>
                </a:solidFill>
              </a:rPr>
              <a:t>Protoc-</a:t>
            </a:r>
            <a:r>
              <a:rPr lang="fr-FR" sz="1100" dirty="0" err="1">
                <a:solidFill>
                  <a:schemeClr val="accent2"/>
                </a:solidFill>
              </a:rPr>
              <a:t>gen</a:t>
            </a:r>
            <a:endParaRPr lang="fr-FR" dirty="0">
              <a:solidFill>
                <a:schemeClr val="accent2"/>
              </a:solidFill>
            </a:endParaRPr>
          </a:p>
        </p:txBody>
      </p:sp>
      <p:cxnSp>
        <p:nvCxnSpPr>
          <p:cNvPr id="63" name="Connecteur droit avec flèche 62">
            <a:extLst>
              <a:ext uri="{FF2B5EF4-FFF2-40B4-BE49-F238E27FC236}">
                <a16:creationId xmlns:a16="http://schemas.microsoft.com/office/drawing/2014/main" id="{3F8A7624-F29B-74A2-9E46-9BC36C6B64BF}"/>
              </a:ext>
            </a:extLst>
          </p:cNvPr>
          <p:cNvCxnSpPr>
            <a:stCxn id="60" idx="1"/>
          </p:cNvCxnSpPr>
          <p:nvPr/>
        </p:nvCxnSpPr>
        <p:spPr>
          <a:xfrm flipH="1" flipV="1">
            <a:off x="7630096" y="1235350"/>
            <a:ext cx="218009"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Connecteur droit avec flèche 63">
            <a:extLst>
              <a:ext uri="{FF2B5EF4-FFF2-40B4-BE49-F238E27FC236}">
                <a16:creationId xmlns:a16="http://schemas.microsoft.com/office/drawing/2014/main" id="{6324663E-4228-2169-007C-57123FAEE40D}"/>
              </a:ext>
            </a:extLst>
          </p:cNvPr>
          <p:cNvCxnSpPr>
            <a:endCxn id="61" idx="1"/>
          </p:cNvCxnSpPr>
          <p:nvPr/>
        </p:nvCxnSpPr>
        <p:spPr>
          <a:xfrm>
            <a:off x="7622329" y="1817700"/>
            <a:ext cx="225775"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5" name="Rectangle 64">
            <a:extLst>
              <a:ext uri="{FF2B5EF4-FFF2-40B4-BE49-F238E27FC236}">
                <a16:creationId xmlns:a16="http://schemas.microsoft.com/office/drawing/2014/main" id="{F96FE394-986E-C2AE-510C-A74CECA1839E}"/>
              </a:ext>
            </a:extLst>
          </p:cNvPr>
          <p:cNvSpPr/>
          <p:nvPr/>
        </p:nvSpPr>
        <p:spPr>
          <a:xfrm>
            <a:off x="7309149" y="2706159"/>
            <a:ext cx="1628960" cy="593224"/>
          </a:xfrm>
          <a:prstGeom prst="rect">
            <a:avLst/>
          </a:prstGeom>
          <a:ln>
            <a:solidFill>
              <a:schemeClr val="bg1"/>
            </a:solidFill>
          </a:ln>
        </p:spPr>
        <p:style>
          <a:lnRef idx="1">
            <a:schemeClr val="dk1"/>
          </a:lnRef>
          <a:fillRef idx="2">
            <a:schemeClr val="dk1"/>
          </a:fillRef>
          <a:effectRef idx="1">
            <a:schemeClr val="dk1"/>
          </a:effectRef>
          <a:fontRef idx="minor">
            <a:schemeClr val="dk1"/>
          </a:fontRef>
        </p:style>
        <p:txBody>
          <a:bodyPr rtlCol="0" anchor="ctr"/>
          <a:lstStyle/>
          <a:p>
            <a:pPr algn="ctr"/>
            <a:r>
              <a:rPr lang="fr-FR" sz="1100" dirty="0">
                <a:solidFill>
                  <a:schemeClr val="bg1">
                    <a:lumMod val="10000"/>
                  </a:schemeClr>
                </a:solidFill>
              </a:rPr>
              <a:t>+</a:t>
            </a:r>
            <a:r>
              <a:rPr lang="fr-FR" sz="1100" dirty="0" err="1">
                <a:solidFill>
                  <a:schemeClr val="bg1">
                    <a:lumMod val="10000"/>
                  </a:schemeClr>
                </a:solidFill>
              </a:rPr>
              <a:t>getListAccounts</a:t>
            </a:r>
            <a:r>
              <a:rPr lang="fr-FR" sz="1100" dirty="0">
                <a:solidFill>
                  <a:schemeClr val="bg1">
                    <a:lumMod val="10000"/>
                  </a:schemeClr>
                </a:solidFill>
              </a:rPr>
              <a:t>(</a:t>
            </a:r>
            <a:r>
              <a:rPr lang="fr-FR" sz="1100" dirty="0" err="1">
                <a:solidFill>
                  <a:schemeClr val="bg1">
                    <a:lumMod val="10000"/>
                  </a:schemeClr>
                </a:solidFill>
              </a:rPr>
              <a:t>req</a:t>
            </a:r>
            <a:r>
              <a:rPr lang="fr-FR" sz="1100" dirty="0">
                <a:solidFill>
                  <a:schemeClr val="bg1">
                    <a:lumMod val="10000"/>
                  </a:schemeClr>
                </a:solidFill>
              </a:rPr>
              <a:t>)</a:t>
            </a:r>
          </a:p>
          <a:p>
            <a:pPr algn="ctr"/>
            <a:r>
              <a:rPr lang="fr-FR" sz="1100" dirty="0">
                <a:solidFill>
                  <a:schemeClr val="bg1">
                    <a:lumMod val="10000"/>
                  </a:schemeClr>
                </a:solidFill>
              </a:rPr>
              <a:t>+</a:t>
            </a:r>
            <a:r>
              <a:rPr lang="fr-FR" sz="1100" dirty="0" err="1">
                <a:solidFill>
                  <a:schemeClr val="bg1">
                    <a:lumMod val="10000"/>
                  </a:schemeClr>
                </a:solidFill>
              </a:rPr>
              <a:t>convertCurrency</a:t>
            </a:r>
            <a:r>
              <a:rPr lang="fr-FR" sz="1100" dirty="0">
                <a:solidFill>
                  <a:schemeClr val="bg1">
                    <a:lumMod val="10000"/>
                  </a:schemeClr>
                </a:solidFill>
              </a:rPr>
              <a:t>(</a:t>
            </a:r>
            <a:r>
              <a:rPr lang="fr-FR" sz="1100" dirty="0" err="1">
                <a:solidFill>
                  <a:schemeClr val="bg1">
                    <a:lumMod val="10000"/>
                  </a:schemeClr>
                </a:solidFill>
              </a:rPr>
              <a:t>req</a:t>
            </a:r>
            <a:r>
              <a:rPr lang="fr-FR" sz="1100" dirty="0">
                <a:solidFill>
                  <a:schemeClr val="bg1">
                    <a:lumMod val="10000"/>
                  </a:schemeClr>
                </a:solidFill>
              </a:rPr>
              <a:t>)</a:t>
            </a:r>
            <a:endParaRPr lang="fr-FR" dirty="0">
              <a:solidFill>
                <a:schemeClr val="bg1">
                  <a:lumMod val="10000"/>
                </a:schemeClr>
              </a:solidFill>
            </a:endParaRPr>
          </a:p>
        </p:txBody>
      </p:sp>
      <p:sp>
        <p:nvSpPr>
          <p:cNvPr id="66" name="Rectangle 65">
            <a:extLst>
              <a:ext uri="{FF2B5EF4-FFF2-40B4-BE49-F238E27FC236}">
                <a16:creationId xmlns:a16="http://schemas.microsoft.com/office/drawing/2014/main" id="{9787DAFF-ED39-9907-5141-4B10657C4DC2}"/>
              </a:ext>
            </a:extLst>
          </p:cNvPr>
          <p:cNvSpPr/>
          <p:nvPr/>
        </p:nvSpPr>
        <p:spPr>
          <a:xfrm>
            <a:off x="7309149" y="2457697"/>
            <a:ext cx="1628959" cy="242225"/>
          </a:xfrm>
          <a:prstGeom prst="rect">
            <a:avLst/>
          </a:prstGeom>
          <a:ln>
            <a:solidFill>
              <a:schemeClr val="bg1"/>
            </a:solidFill>
          </a:ln>
        </p:spPr>
        <p:style>
          <a:lnRef idx="1">
            <a:schemeClr val="dk1"/>
          </a:lnRef>
          <a:fillRef idx="2">
            <a:schemeClr val="dk1"/>
          </a:fillRef>
          <a:effectRef idx="1">
            <a:schemeClr val="dk1"/>
          </a:effectRef>
          <a:fontRef idx="minor">
            <a:schemeClr val="dk1"/>
          </a:fontRef>
        </p:style>
        <p:txBody>
          <a:bodyPr rtlCol="0" anchor="ctr"/>
          <a:lstStyle/>
          <a:p>
            <a:pPr algn="ctr"/>
            <a:r>
              <a:rPr lang="fr-FR" sz="1100" dirty="0">
                <a:solidFill>
                  <a:srgbClr val="9F5F00"/>
                </a:solidFill>
              </a:rPr>
              <a:t>Remote Service(Java)</a:t>
            </a:r>
            <a:endParaRPr lang="fr-FR" dirty="0">
              <a:solidFill>
                <a:srgbClr val="9F5F00"/>
              </a:solidFill>
            </a:endParaRPr>
          </a:p>
        </p:txBody>
      </p:sp>
      <p:cxnSp>
        <p:nvCxnSpPr>
          <p:cNvPr id="67" name="Connecteur droit avec flèche 66">
            <a:extLst>
              <a:ext uri="{FF2B5EF4-FFF2-40B4-BE49-F238E27FC236}">
                <a16:creationId xmlns:a16="http://schemas.microsoft.com/office/drawing/2014/main" id="{BEC89D1B-4245-51D8-33F9-F029D694C50C}"/>
              </a:ext>
            </a:extLst>
          </p:cNvPr>
          <p:cNvCxnSpPr>
            <a:cxnSpLocks/>
            <a:endCxn id="61" idx="2"/>
          </p:cNvCxnSpPr>
          <p:nvPr/>
        </p:nvCxnSpPr>
        <p:spPr>
          <a:xfrm flipV="1">
            <a:off x="8365861" y="1938813"/>
            <a:ext cx="0" cy="5188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8" name="Rectangle 67">
            <a:extLst>
              <a:ext uri="{FF2B5EF4-FFF2-40B4-BE49-F238E27FC236}">
                <a16:creationId xmlns:a16="http://schemas.microsoft.com/office/drawing/2014/main" id="{80536FC0-AA63-9D73-4A61-7B313861D439}"/>
              </a:ext>
            </a:extLst>
          </p:cNvPr>
          <p:cNvSpPr/>
          <p:nvPr/>
        </p:nvSpPr>
        <p:spPr>
          <a:xfrm>
            <a:off x="4155880" y="332703"/>
            <a:ext cx="1705022" cy="1279389"/>
          </a:xfrm>
          <a:prstGeom prst="rect">
            <a:avLst/>
          </a:prstGeom>
          <a:ln>
            <a:solidFill>
              <a:schemeClr val="bg1"/>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fr-FR" sz="1100" dirty="0">
              <a:solidFill>
                <a:schemeClr val="bg1">
                  <a:lumMod val="10000"/>
                </a:schemeClr>
              </a:solidFill>
            </a:endParaRPr>
          </a:p>
        </p:txBody>
      </p:sp>
      <p:sp>
        <p:nvSpPr>
          <p:cNvPr id="69" name="Rectangle 68">
            <a:extLst>
              <a:ext uri="{FF2B5EF4-FFF2-40B4-BE49-F238E27FC236}">
                <a16:creationId xmlns:a16="http://schemas.microsoft.com/office/drawing/2014/main" id="{5EEFA421-D6B7-2049-75C8-395503A08D9C}"/>
              </a:ext>
            </a:extLst>
          </p:cNvPr>
          <p:cNvSpPr/>
          <p:nvPr/>
        </p:nvSpPr>
        <p:spPr>
          <a:xfrm>
            <a:off x="4148113" y="84242"/>
            <a:ext cx="1705022" cy="242225"/>
          </a:xfrm>
          <a:prstGeom prst="rect">
            <a:avLst/>
          </a:prstGeom>
          <a:solidFill>
            <a:srgbClr val="FB9705"/>
          </a:solidFill>
          <a:ln>
            <a:solidFill>
              <a:schemeClr val="bg1"/>
            </a:solidFill>
          </a:ln>
        </p:spPr>
        <p:style>
          <a:lnRef idx="1">
            <a:schemeClr val="dk1"/>
          </a:lnRef>
          <a:fillRef idx="2">
            <a:schemeClr val="dk1"/>
          </a:fillRef>
          <a:effectRef idx="1">
            <a:schemeClr val="dk1"/>
          </a:effectRef>
          <a:fontRef idx="minor">
            <a:schemeClr val="dk1"/>
          </a:fontRef>
        </p:style>
        <p:txBody>
          <a:bodyPr rtlCol="0" anchor="ctr"/>
          <a:lstStyle/>
          <a:p>
            <a:pPr algn="ctr"/>
            <a:r>
              <a:rPr lang="fr-FR" sz="1100" dirty="0">
                <a:solidFill>
                  <a:srgbClr val="000000"/>
                </a:solidFill>
              </a:rPr>
              <a:t>C++ Client</a:t>
            </a:r>
            <a:endParaRPr lang="fr-FR" dirty="0">
              <a:solidFill>
                <a:srgbClr val="000000"/>
              </a:solidFill>
            </a:endParaRPr>
          </a:p>
        </p:txBody>
      </p:sp>
      <p:sp>
        <p:nvSpPr>
          <p:cNvPr id="70" name="Rectangle 69">
            <a:extLst>
              <a:ext uri="{FF2B5EF4-FFF2-40B4-BE49-F238E27FC236}">
                <a16:creationId xmlns:a16="http://schemas.microsoft.com/office/drawing/2014/main" id="{AED49643-37A8-61B4-392D-4CA1FEAB4520}"/>
              </a:ext>
            </a:extLst>
          </p:cNvPr>
          <p:cNvSpPr/>
          <p:nvPr/>
        </p:nvSpPr>
        <p:spPr>
          <a:xfrm rot="16200000">
            <a:off x="3884691" y="876315"/>
            <a:ext cx="1035513" cy="24222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fr-FR" sz="1100" dirty="0" err="1">
                <a:solidFill>
                  <a:schemeClr val="bg1">
                    <a:lumMod val="10000"/>
                  </a:schemeClr>
                </a:solidFill>
              </a:rPr>
              <a:t>bank.proto</a:t>
            </a:r>
            <a:endParaRPr lang="fr-FR" dirty="0">
              <a:solidFill>
                <a:schemeClr val="bg1">
                  <a:lumMod val="10000"/>
                </a:schemeClr>
              </a:solidFill>
            </a:endParaRPr>
          </a:p>
        </p:txBody>
      </p:sp>
      <p:sp>
        <p:nvSpPr>
          <p:cNvPr id="71" name="Rectangle 70">
            <a:extLst>
              <a:ext uri="{FF2B5EF4-FFF2-40B4-BE49-F238E27FC236}">
                <a16:creationId xmlns:a16="http://schemas.microsoft.com/office/drawing/2014/main" id="{50C9510B-E52F-7147-9A92-FAD52CB5E0F4}"/>
              </a:ext>
            </a:extLst>
          </p:cNvPr>
          <p:cNvSpPr/>
          <p:nvPr/>
        </p:nvSpPr>
        <p:spPr>
          <a:xfrm rot="16200000">
            <a:off x="4482867" y="876314"/>
            <a:ext cx="1035513" cy="242225"/>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solidFill>
              <a:schemeClr val="bg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fr-FR" sz="1100" dirty="0">
                <a:solidFill>
                  <a:schemeClr val="accent2"/>
                </a:solidFill>
              </a:rPr>
              <a:t>Protoc-</a:t>
            </a:r>
            <a:r>
              <a:rPr lang="fr-FR" sz="1100" dirty="0" err="1">
                <a:solidFill>
                  <a:schemeClr val="accent2"/>
                </a:solidFill>
              </a:rPr>
              <a:t>gen</a:t>
            </a:r>
            <a:endParaRPr lang="fr-FR" dirty="0">
              <a:solidFill>
                <a:schemeClr val="accent2"/>
              </a:solidFill>
            </a:endParaRPr>
          </a:p>
        </p:txBody>
      </p:sp>
      <p:sp>
        <p:nvSpPr>
          <p:cNvPr id="72" name="Rectangle 71">
            <a:extLst>
              <a:ext uri="{FF2B5EF4-FFF2-40B4-BE49-F238E27FC236}">
                <a16:creationId xmlns:a16="http://schemas.microsoft.com/office/drawing/2014/main" id="{98E17A06-CE1B-E53F-5851-C23468514F5D}"/>
              </a:ext>
            </a:extLst>
          </p:cNvPr>
          <p:cNvSpPr/>
          <p:nvPr/>
        </p:nvSpPr>
        <p:spPr>
          <a:xfrm rot="16200000">
            <a:off x="5179642" y="853717"/>
            <a:ext cx="1035513" cy="242225"/>
          </a:xfrm>
          <a:prstGeom prst="rect">
            <a:avLst/>
          </a:prstGeom>
          <a:solidFill>
            <a:srgbClr val="FB9705"/>
          </a:solidFill>
          <a:ln/>
        </p:spPr>
        <p:style>
          <a:lnRef idx="0">
            <a:schemeClr val="dk1"/>
          </a:lnRef>
          <a:fillRef idx="3">
            <a:schemeClr val="dk1"/>
          </a:fillRef>
          <a:effectRef idx="3">
            <a:schemeClr val="dk1"/>
          </a:effectRef>
          <a:fontRef idx="minor">
            <a:schemeClr val="lt1"/>
          </a:fontRef>
        </p:style>
        <p:txBody>
          <a:bodyPr rtlCol="0" anchor="ctr"/>
          <a:lstStyle/>
          <a:p>
            <a:pPr algn="ctr"/>
            <a:r>
              <a:rPr lang="fr-FR" sz="1100" dirty="0" err="1">
                <a:solidFill>
                  <a:schemeClr val="bg1">
                    <a:lumMod val="10000"/>
                  </a:schemeClr>
                </a:solidFill>
              </a:rPr>
              <a:t>gRPC</a:t>
            </a:r>
            <a:r>
              <a:rPr lang="fr-FR" sz="1100" dirty="0">
                <a:solidFill>
                  <a:schemeClr val="bg1">
                    <a:lumMod val="10000"/>
                  </a:schemeClr>
                </a:solidFill>
              </a:rPr>
              <a:t> STUB</a:t>
            </a:r>
            <a:endParaRPr lang="fr-FR" dirty="0">
              <a:solidFill>
                <a:schemeClr val="bg1">
                  <a:lumMod val="10000"/>
                </a:schemeClr>
              </a:solidFill>
            </a:endParaRPr>
          </a:p>
        </p:txBody>
      </p:sp>
      <p:cxnSp>
        <p:nvCxnSpPr>
          <p:cNvPr id="73" name="Connecteur droit avec flèche 72">
            <a:extLst>
              <a:ext uri="{FF2B5EF4-FFF2-40B4-BE49-F238E27FC236}">
                <a16:creationId xmlns:a16="http://schemas.microsoft.com/office/drawing/2014/main" id="{A4B48350-9E50-FC33-E1EB-1340B7DBCE64}"/>
              </a:ext>
            </a:extLst>
          </p:cNvPr>
          <p:cNvCxnSpPr>
            <a:stCxn id="70" idx="2"/>
          </p:cNvCxnSpPr>
          <p:nvPr/>
        </p:nvCxnSpPr>
        <p:spPr>
          <a:xfrm flipV="1">
            <a:off x="4523560" y="997426"/>
            <a:ext cx="355951"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4" name="Connecteur droit avec flèche 73">
            <a:extLst>
              <a:ext uri="{FF2B5EF4-FFF2-40B4-BE49-F238E27FC236}">
                <a16:creationId xmlns:a16="http://schemas.microsoft.com/office/drawing/2014/main" id="{82B3C41E-334E-8225-7744-EBD34F9BC5DD}"/>
              </a:ext>
            </a:extLst>
          </p:cNvPr>
          <p:cNvCxnSpPr>
            <a:cxnSpLocks/>
            <a:endCxn id="72" idx="0"/>
          </p:cNvCxnSpPr>
          <p:nvPr/>
        </p:nvCxnSpPr>
        <p:spPr>
          <a:xfrm flipV="1">
            <a:off x="5142400" y="974829"/>
            <a:ext cx="433886" cy="10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5" name="Rectangle 74">
            <a:extLst>
              <a:ext uri="{FF2B5EF4-FFF2-40B4-BE49-F238E27FC236}">
                <a16:creationId xmlns:a16="http://schemas.microsoft.com/office/drawing/2014/main" id="{08B62CC5-702F-3B01-A8B5-49965B2FF612}"/>
              </a:ext>
            </a:extLst>
          </p:cNvPr>
          <p:cNvSpPr/>
          <p:nvPr/>
        </p:nvSpPr>
        <p:spPr>
          <a:xfrm>
            <a:off x="4174046" y="2031724"/>
            <a:ext cx="1705022" cy="1267659"/>
          </a:xfrm>
          <a:prstGeom prst="rect">
            <a:avLst/>
          </a:prstGeom>
          <a:ln>
            <a:solidFill>
              <a:schemeClr val="bg1"/>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fr-FR" sz="1100" dirty="0">
              <a:solidFill>
                <a:schemeClr val="bg1">
                  <a:lumMod val="10000"/>
                </a:schemeClr>
              </a:solidFill>
            </a:endParaRPr>
          </a:p>
        </p:txBody>
      </p:sp>
      <p:sp>
        <p:nvSpPr>
          <p:cNvPr id="76" name="Rectangle 75">
            <a:extLst>
              <a:ext uri="{FF2B5EF4-FFF2-40B4-BE49-F238E27FC236}">
                <a16:creationId xmlns:a16="http://schemas.microsoft.com/office/drawing/2014/main" id="{B438C7FE-C017-D0CD-A59D-B219C8163D91}"/>
              </a:ext>
            </a:extLst>
          </p:cNvPr>
          <p:cNvSpPr/>
          <p:nvPr/>
        </p:nvSpPr>
        <p:spPr>
          <a:xfrm>
            <a:off x="4160223" y="1783263"/>
            <a:ext cx="1705022" cy="242225"/>
          </a:xfrm>
          <a:prstGeom prst="rect">
            <a:avLst/>
          </a:prstGeom>
          <a:solidFill>
            <a:srgbClr val="FB9705"/>
          </a:solidFill>
          <a:ln>
            <a:solidFill>
              <a:schemeClr val="bg1"/>
            </a:solidFill>
          </a:ln>
        </p:spPr>
        <p:style>
          <a:lnRef idx="1">
            <a:schemeClr val="dk1"/>
          </a:lnRef>
          <a:fillRef idx="2">
            <a:schemeClr val="dk1"/>
          </a:fillRef>
          <a:effectRef idx="1">
            <a:schemeClr val="dk1"/>
          </a:effectRef>
          <a:fontRef idx="minor">
            <a:schemeClr val="dk1"/>
          </a:fontRef>
        </p:style>
        <p:txBody>
          <a:bodyPr rtlCol="0" anchor="ctr"/>
          <a:lstStyle/>
          <a:p>
            <a:pPr algn="ctr"/>
            <a:r>
              <a:rPr lang="fr-FR" sz="1100" dirty="0">
                <a:solidFill>
                  <a:srgbClr val="000000"/>
                </a:solidFill>
              </a:rPr>
              <a:t>Java Script Client</a:t>
            </a:r>
            <a:endParaRPr lang="fr-FR" dirty="0">
              <a:solidFill>
                <a:srgbClr val="000000"/>
              </a:solidFill>
            </a:endParaRPr>
          </a:p>
        </p:txBody>
      </p:sp>
      <p:sp>
        <p:nvSpPr>
          <p:cNvPr id="77" name="Rectangle 76">
            <a:extLst>
              <a:ext uri="{FF2B5EF4-FFF2-40B4-BE49-F238E27FC236}">
                <a16:creationId xmlns:a16="http://schemas.microsoft.com/office/drawing/2014/main" id="{F5D7F544-41FC-B4E8-0A35-F5374EEF593C}"/>
              </a:ext>
            </a:extLst>
          </p:cNvPr>
          <p:cNvSpPr/>
          <p:nvPr/>
        </p:nvSpPr>
        <p:spPr>
          <a:xfrm rot="16200000">
            <a:off x="3896801" y="2575336"/>
            <a:ext cx="1035513" cy="24222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fr-FR" sz="1100" dirty="0" err="1">
                <a:solidFill>
                  <a:schemeClr val="bg1">
                    <a:lumMod val="10000"/>
                  </a:schemeClr>
                </a:solidFill>
              </a:rPr>
              <a:t>bank.proto</a:t>
            </a:r>
            <a:endParaRPr lang="fr-FR" dirty="0">
              <a:solidFill>
                <a:schemeClr val="bg1">
                  <a:lumMod val="10000"/>
                </a:schemeClr>
              </a:solidFill>
            </a:endParaRPr>
          </a:p>
        </p:txBody>
      </p:sp>
      <p:sp>
        <p:nvSpPr>
          <p:cNvPr id="78" name="Rectangle 77">
            <a:extLst>
              <a:ext uri="{FF2B5EF4-FFF2-40B4-BE49-F238E27FC236}">
                <a16:creationId xmlns:a16="http://schemas.microsoft.com/office/drawing/2014/main" id="{C31FB93E-8233-A1EA-EFCF-C6D467BCA170}"/>
              </a:ext>
            </a:extLst>
          </p:cNvPr>
          <p:cNvSpPr/>
          <p:nvPr/>
        </p:nvSpPr>
        <p:spPr>
          <a:xfrm rot="16200000">
            <a:off x="4494977" y="2575335"/>
            <a:ext cx="1035513" cy="242225"/>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solidFill>
              <a:schemeClr val="bg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fr-FR" sz="1100" dirty="0">
                <a:solidFill>
                  <a:schemeClr val="accent2"/>
                </a:solidFill>
              </a:rPr>
              <a:t>Protoc-</a:t>
            </a:r>
            <a:r>
              <a:rPr lang="fr-FR" sz="1100" dirty="0" err="1">
                <a:solidFill>
                  <a:schemeClr val="accent2"/>
                </a:solidFill>
              </a:rPr>
              <a:t>gen</a:t>
            </a:r>
            <a:endParaRPr lang="fr-FR" dirty="0">
              <a:solidFill>
                <a:schemeClr val="accent2"/>
              </a:solidFill>
            </a:endParaRPr>
          </a:p>
        </p:txBody>
      </p:sp>
      <p:sp>
        <p:nvSpPr>
          <p:cNvPr id="79" name="Rectangle 78">
            <a:extLst>
              <a:ext uri="{FF2B5EF4-FFF2-40B4-BE49-F238E27FC236}">
                <a16:creationId xmlns:a16="http://schemas.microsoft.com/office/drawing/2014/main" id="{C6C0D73B-7534-2DC3-4D0A-A946CCC46EC8}"/>
              </a:ext>
            </a:extLst>
          </p:cNvPr>
          <p:cNvSpPr/>
          <p:nvPr/>
        </p:nvSpPr>
        <p:spPr>
          <a:xfrm rot="16200000">
            <a:off x="5191752" y="2552738"/>
            <a:ext cx="1035513" cy="242225"/>
          </a:xfrm>
          <a:prstGeom prst="rect">
            <a:avLst/>
          </a:prstGeom>
          <a:solidFill>
            <a:srgbClr val="FB9705"/>
          </a:solidFill>
          <a:ln/>
        </p:spPr>
        <p:style>
          <a:lnRef idx="0">
            <a:schemeClr val="dk1"/>
          </a:lnRef>
          <a:fillRef idx="3">
            <a:schemeClr val="dk1"/>
          </a:fillRef>
          <a:effectRef idx="3">
            <a:schemeClr val="dk1"/>
          </a:effectRef>
          <a:fontRef idx="minor">
            <a:schemeClr val="lt1"/>
          </a:fontRef>
        </p:style>
        <p:txBody>
          <a:bodyPr rtlCol="0" anchor="ctr"/>
          <a:lstStyle/>
          <a:p>
            <a:pPr algn="ctr"/>
            <a:r>
              <a:rPr lang="fr-FR" sz="1100" dirty="0" err="1">
                <a:solidFill>
                  <a:schemeClr val="bg1">
                    <a:lumMod val="10000"/>
                  </a:schemeClr>
                </a:solidFill>
              </a:rPr>
              <a:t>gRPC</a:t>
            </a:r>
            <a:r>
              <a:rPr lang="fr-FR" sz="1100" dirty="0">
                <a:solidFill>
                  <a:schemeClr val="bg1">
                    <a:lumMod val="10000"/>
                  </a:schemeClr>
                </a:solidFill>
              </a:rPr>
              <a:t> STUB</a:t>
            </a:r>
            <a:endParaRPr lang="fr-FR" dirty="0">
              <a:solidFill>
                <a:schemeClr val="bg1">
                  <a:lumMod val="10000"/>
                </a:schemeClr>
              </a:solidFill>
            </a:endParaRPr>
          </a:p>
        </p:txBody>
      </p:sp>
      <p:cxnSp>
        <p:nvCxnSpPr>
          <p:cNvPr id="80" name="Connecteur droit avec flèche 79">
            <a:extLst>
              <a:ext uri="{FF2B5EF4-FFF2-40B4-BE49-F238E27FC236}">
                <a16:creationId xmlns:a16="http://schemas.microsoft.com/office/drawing/2014/main" id="{E8F9822D-5D53-9181-4135-A391F38E76F8}"/>
              </a:ext>
            </a:extLst>
          </p:cNvPr>
          <p:cNvCxnSpPr>
            <a:stCxn id="77" idx="2"/>
          </p:cNvCxnSpPr>
          <p:nvPr/>
        </p:nvCxnSpPr>
        <p:spPr>
          <a:xfrm flipV="1">
            <a:off x="4535670" y="2696447"/>
            <a:ext cx="355951"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1" name="Connecteur droit avec flèche 80">
            <a:extLst>
              <a:ext uri="{FF2B5EF4-FFF2-40B4-BE49-F238E27FC236}">
                <a16:creationId xmlns:a16="http://schemas.microsoft.com/office/drawing/2014/main" id="{72A4C2B5-9EFF-0F89-9ECC-8F3B1BCB78F3}"/>
              </a:ext>
            </a:extLst>
          </p:cNvPr>
          <p:cNvCxnSpPr>
            <a:cxnSpLocks/>
            <a:endCxn id="79" idx="0"/>
          </p:cNvCxnSpPr>
          <p:nvPr/>
        </p:nvCxnSpPr>
        <p:spPr>
          <a:xfrm flipV="1">
            <a:off x="5154510" y="2673850"/>
            <a:ext cx="433886" cy="10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2" name="Rectangle 81">
            <a:extLst>
              <a:ext uri="{FF2B5EF4-FFF2-40B4-BE49-F238E27FC236}">
                <a16:creationId xmlns:a16="http://schemas.microsoft.com/office/drawing/2014/main" id="{42EFC8DF-FBBC-E4A8-13D0-04E5A191C3D4}"/>
              </a:ext>
            </a:extLst>
          </p:cNvPr>
          <p:cNvSpPr/>
          <p:nvPr/>
        </p:nvSpPr>
        <p:spPr>
          <a:xfrm>
            <a:off x="4175757" y="3725029"/>
            <a:ext cx="1705022" cy="1267614"/>
          </a:xfrm>
          <a:prstGeom prst="rect">
            <a:avLst/>
          </a:prstGeom>
          <a:ln>
            <a:solidFill>
              <a:schemeClr val="bg1"/>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fr-FR" sz="1100" dirty="0">
              <a:solidFill>
                <a:schemeClr val="bg1">
                  <a:lumMod val="10000"/>
                </a:schemeClr>
              </a:solidFill>
            </a:endParaRPr>
          </a:p>
        </p:txBody>
      </p:sp>
      <p:sp>
        <p:nvSpPr>
          <p:cNvPr id="83" name="Rectangle 82">
            <a:extLst>
              <a:ext uri="{FF2B5EF4-FFF2-40B4-BE49-F238E27FC236}">
                <a16:creationId xmlns:a16="http://schemas.microsoft.com/office/drawing/2014/main" id="{1B01876B-156A-4B37-1755-87FE813A9570}"/>
              </a:ext>
            </a:extLst>
          </p:cNvPr>
          <p:cNvSpPr/>
          <p:nvPr/>
        </p:nvSpPr>
        <p:spPr>
          <a:xfrm>
            <a:off x="4167990" y="3476567"/>
            <a:ext cx="1705022" cy="242225"/>
          </a:xfrm>
          <a:prstGeom prst="rect">
            <a:avLst/>
          </a:prstGeom>
          <a:solidFill>
            <a:srgbClr val="FB9705"/>
          </a:solidFill>
          <a:ln>
            <a:solidFill>
              <a:schemeClr val="bg1"/>
            </a:solidFill>
          </a:ln>
        </p:spPr>
        <p:style>
          <a:lnRef idx="1">
            <a:schemeClr val="dk1"/>
          </a:lnRef>
          <a:fillRef idx="2">
            <a:schemeClr val="dk1"/>
          </a:fillRef>
          <a:effectRef idx="1">
            <a:schemeClr val="dk1"/>
          </a:effectRef>
          <a:fontRef idx="minor">
            <a:schemeClr val="dk1"/>
          </a:fontRef>
        </p:style>
        <p:txBody>
          <a:bodyPr rtlCol="0" anchor="ctr"/>
          <a:lstStyle/>
          <a:p>
            <a:pPr algn="ctr"/>
            <a:r>
              <a:rPr lang="fr-FR" sz="1100" dirty="0">
                <a:solidFill>
                  <a:srgbClr val="000000"/>
                </a:solidFill>
              </a:rPr>
              <a:t>Python Client</a:t>
            </a:r>
            <a:endParaRPr lang="fr-FR" dirty="0">
              <a:solidFill>
                <a:srgbClr val="000000"/>
              </a:solidFill>
            </a:endParaRPr>
          </a:p>
        </p:txBody>
      </p:sp>
      <p:sp>
        <p:nvSpPr>
          <p:cNvPr id="84" name="Rectangle 83">
            <a:extLst>
              <a:ext uri="{FF2B5EF4-FFF2-40B4-BE49-F238E27FC236}">
                <a16:creationId xmlns:a16="http://schemas.microsoft.com/office/drawing/2014/main" id="{09F955FD-8EDC-B7AD-342D-EF53FC418A05}"/>
              </a:ext>
            </a:extLst>
          </p:cNvPr>
          <p:cNvSpPr/>
          <p:nvPr/>
        </p:nvSpPr>
        <p:spPr>
          <a:xfrm rot="16200000">
            <a:off x="3904568" y="4268640"/>
            <a:ext cx="1035513" cy="24222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fr-FR" sz="1100" dirty="0" err="1">
                <a:solidFill>
                  <a:schemeClr val="bg1">
                    <a:lumMod val="10000"/>
                  </a:schemeClr>
                </a:solidFill>
              </a:rPr>
              <a:t>bank.proto</a:t>
            </a:r>
            <a:endParaRPr lang="fr-FR" dirty="0">
              <a:solidFill>
                <a:schemeClr val="bg1">
                  <a:lumMod val="10000"/>
                </a:schemeClr>
              </a:solidFill>
            </a:endParaRPr>
          </a:p>
        </p:txBody>
      </p:sp>
      <p:sp>
        <p:nvSpPr>
          <p:cNvPr id="85" name="Rectangle 84">
            <a:extLst>
              <a:ext uri="{FF2B5EF4-FFF2-40B4-BE49-F238E27FC236}">
                <a16:creationId xmlns:a16="http://schemas.microsoft.com/office/drawing/2014/main" id="{276CA68C-2367-4040-498E-E7C9CE86FA22}"/>
              </a:ext>
            </a:extLst>
          </p:cNvPr>
          <p:cNvSpPr/>
          <p:nvPr/>
        </p:nvSpPr>
        <p:spPr>
          <a:xfrm rot="16200000">
            <a:off x="4502744" y="4268639"/>
            <a:ext cx="1035513" cy="242225"/>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solidFill>
              <a:schemeClr val="bg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fr-FR" sz="1100" dirty="0">
                <a:solidFill>
                  <a:schemeClr val="accent2"/>
                </a:solidFill>
              </a:rPr>
              <a:t>Protoc-</a:t>
            </a:r>
            <a:r>
              <a:rPr lang="fr-FR" sz="1100" dirty="0" err="1">
                <a:solidFill>
                  <a:schemeClr val="accent2"/>
                </a:solidFill>
              </a:rPr>
              <a:t>gen</a:t>
            </a:r>
            <a:endParaRPr lang="fr-FR" dirty="0">
              <a:solidFill>
                <a:schemeClr val="accent2"/>
              </a:solidFill>
            </a:endParaRPr>
          </a:p>
        </p:txBody>
      </p:sp>
      <p:sp>
        <p:nvSpPr>
          <p:cNvPr id="86" name="Rectangle 85">
            <a:extLst>
              <a:ext uri="{FF2B5EF4-FFF2-40B4-BE49-F238E27FC236}">
                <a16:creationId xmlns:a16="http://schemas.microsoft.com/office/drawing/2014/main" id="{635E9AB7-6D84-2173-75D7-8D3319D689BA}"/>
              </a:ext>
            </a:extLst>
          </p:cNvPr>
          <p:cNvSpPr/>
          <p:nvPr/>
        </p:nvSpPr>
        <p:spPr>
          <a:xfrm rot="16200000">
            <a:off x="5199519" y="4246042"/>
            <a:ext cx="1035513" cy="242225"/>
          </a:xfrm>
          <a:prstGeom prst="rect">
            <a:avLst/>
          </a:prstGeom>
          <a:solidFill>
            <a:srgbClr val="FB9705"/>
          </a:solidFill>
          <a:ln/>
        </p:spPr>
        <p:style>
          <a:lnRef idx="0">
            <a:schemeClr val="dk1"/>
          </a:lnRef>
          <a:fillRef idx="3">
            <a:schemeClr val="dk1"/>
          </a:fillRef>
          <a:effectRef idx="3">
            <a:schemeClr val="dk1"/>
          </a:effectRef>
          <a:fontRef idx="minor">
            <a:schemeClr val="lt1"/>
          </a:fontRef>
        </p:style>
        <p:txBody>
          <a:bodyPr rtlCol="0" anchor="ctr"/>
          <a:lstStyle/>
          <a:p>
            <a:pPr algn="ctr"/>
            <a:r>
              <a:rPr lang="fr-FR" sz="1100" dirty="0" err="1">
                <a:solidFill>
                  <a:schemeClr val="bg1">
                    <a:lumMod val="10000"/>
                  </a:schemeClr>
                </a:solidFill>
              </a:rPr>
              <a:t>gRPC</a:t>
            </a:r>
            <a:r>
              <a:rPr lang="fr-FR" sz="1100" dirty="0">
                <a:solidFill>
                  <a:schemeClr val="bg1">
                    <a:lumMod val="10000"/>
                  </a:schemeClr>
                </a:solidFill>
              </a:rPr>
              <a:t> STUB</a:t>
            </a:r>
            <a:endParaRPr lang="fr-FR" dirty="0">
              <a:solidFill>
                <a:schemeClr val="bg1">
                  <a:lumMod val="10000"/>
                </a:schemeClr>
              </a:solidFill>
            </a:endParaRPr>
          </a:p>
        </p:txBody>
      </p:sp>
      <p:cxnSp>
        <p:nvCxnSpPr>
          <p:cNvPr id="87" name="Connecteur droit avec flèche 86">
            <a:extLst>
              <a:ext uri="{FF2B5EF4-FFF2-40B4-BE49-F238E27FC236}">
                <a16:creationId xmlns:a16="http://schemas.microsoft.com/office/drawing/2014/main" id="{97D5F67A-2BB7-6AB9-7B43-3CEE991901A7}"/>
              </a:ext>
            </a:extLst>
          </p:cNvPr>
          <p:cNvCxnSpPr>
            <a:stCxn id="84" idx="2"/>
          </p:cNvCxnSpPr>
          <p:nvPr/>
        </p:nvCxnSpPr>
        <p:spPr>
          <a:xfrm flipV="1">
            <a:off x="4543437" y="4389751"/>
            <a:ext cx="355951"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8" name="Connecteur droit avec flèche 87">
            <a:extLst>
              <a:ext uri="{FF2B5EF4-FFF2-40B4-BE49-F238E27FC236}">
                <a16:creationId xmlns:a16="http://schemas.microsoft.com/office/drawing/2014/main" id="{1F45BA95-60AF-EE21-308A-8FA6523217B0}"/>
              </a:ext>
            </a:extLst>
          </p:cNvPr>
          <p:cNvCxnSpPr>
            <a:cxnSpLocks/>
            <a:endCxn id="86" idx="0"/>
          </p:cNvCxnSpPr>
          <p:nvPr/>
        </p:nvCxnSpPr>
        <p:spPr>
          <a:xfrm flipV="1">
            <a:off x="5162277" y="4367154"/>
            <a:ext cx="433886" cy="10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9" name="Rectangle 88">
            <a:extLst>
              <a:ext uri="{FF2B5EF4-FFF2-40B4-BE49-F238E27FC236}">
                <a16:creationId xmlns:a16="http://schemas.microsoft.com/office/drawing/2014/main" id="{BBB880DB-898D-7760-787D-5CD189407926}"/>
              </a:ext>
            </a:extLst>
          </p:cNvPr>
          <p:cNvSpPr/>
          <p:nvPr/>
        </p:nvSpPr>
        <p:spPr>
          <a:xfrm>
            <a:off x="5905003" y="457073"/>
            <a:ext cx="941099" cy="778277"/>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fr-FR" dirty="0"/>
              <a:t>http 2 </a:t>
            </a:r>
          </a:p>
        </p:txBody>
      </p:sp>
      <p:sp>
        <p:nvSpPr>
          <p:cNvPr id="90" name="ZoneTexte 89">
            <a:extLst>
              <a:ext uri="{FF2B5EF4-FFF2-40B4-BE49-F238E27FC236}">
                <a16:creationId xmlns:a16="http://schemas.microsoft.com/office/drawing/2014/main" id="{CDA0B5E7-DC03-FA3B-8692-84518C298CE7}"/>
              </a:ext>
            </a:extLst>
          </p:cNvPr>
          <p:cNvSpPr txBox="1"/>
          <p:nvPr/>
        </p:nvSpPr>
        <p:spPr>
          <a:xfrm>
            <a:off x="5926752" y="84239"/>
            <a:ext cx="781176" cy="246221"/>
          </a:xfrm>
          <a:prstGeom prst="rect">
            <a:avLst/>
          </a:prstGeom>
          <a:noFill/>
        </p:spPr>
        <p:txBody>
          <a:bodyPr wrap="square" rtlCol="0">
            <a:spAutoFit/>
          </a:bodyPr>
          <a:lstStyle/>
          <a:p>
            <a:r>
              <a:rPr lang="fr-FR" sz="1000" dirty="0"/>
              <a:t>Proto Req</a:t>
            </a:r>
            <a:endParaRPr lang="fr-FR" dirty="0"/>
          </a:p>
        </p:txBody>
      </p:sp>
      <p:cxnSp>
        <p:nvCxnSpPr>
          <p:cNvPr id="91" name="Connecteur droit avec flèche 90">
            <a:extLst>
              <a:ext uri="{FF2B5EF4-FFF2-40B4-BE49-F238E27FC236}">
                <a16:creationId xmlns:a16="http://schemas.microsoft.com/office/drawing/2014/main" id="{3316CC1E-B38F-55CB-8C33-D887A1657FE9}"/>
              </a:ext>
            </a:extLst>
          </p:cNvPr>
          <p:cNvCxnSpPr/>
          <p:nvPr/>
        </p:nvCxnSpPr>
        <p:spPr>
          <a:xfrm>
            <a:off x="5926752" y="551062"/>
            <a:ext cx="88472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2" name="Connecteur droit avec flèche 91">
            <a:extLst>
              <a:ext uri="{FF2B5EF4-FFF2-40B4-BE49-F238E27FC236}">
                <a16:creationId xmlns:a16="http://schemas.microsoft.com/office/drawing/2014/main" id="{2960CFF4-A15D-4021-AA32-AE4883A87C00}"/>
              </a:ext>
            </a:extLst>
          </p:cNvPr>
          <p:cNvCxnSpPr/>
          <p:nvPr/>
        </p:nvCxnSpPr>
        <p:spPr>
          <a:xfrm>
            <a:off x="5926752" y="667128"/>
            <a:ext cx="88472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3" name="Connecteur droit avec flèche 92">
            <a:extLst>
              <a:ext uri="{FF2B5EF4-FFF2-40B4-BE49-F238E27FC236}">
                <a16:creationId xmlns:a16="http://schemas.microsoft.com/office/drawing/2014/main" id="{5628C795-A5E9-69C4-A267-3590365DD525}"/>
              </a:ext>
            </a:extLst>
          </p:cNvPr>
          <p:cNvCxnSpPr/>
          <p:nvPr/>
        </p:nvCxnSpPr>
        <p:spPr>
          <a:xfrm flipH="1">
            <a:off x="5909348" y="997426"/>
            <a:ext cx="91424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4" name="Connecteur droit avec flèche 93">
            <a:extLst>
              <a:ext uri="{FF2B5EF4-FFF2-40B4-BE49-F238E27FC236}">
                <a16:creationId xmlns:a16="http://schemas.microsoft.com/office/drawing/2014/main" id="{D054CA46-3FC6-0E52-B45E-83BAF4505E5A}"/>
              </a:ext>
            </a:extLst>
          </p:cNvPr>
          <p:cNvCxnSpPr/>
          <p:nvPr/>
        </p:nvCxnSpPr>
        <p:spPr>
          <a:xfrm flipH="1">
            <a:off x="5917115" y="1114238"/>
            <a:ext cx="91424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5" name="ZoneTexte 94">
            <a:extLst>
              <a:ext uri="{FF2B5EF4-FFF2-40B4-BE49-F238E27FC236}">
                <a16:creationId xmlns:a16="http://schemas.microsoft.com/office/drawing/2014/main" id="{43B811C0-28FC-E048-F360-40C89041BD8B}"/>
              </a:ext>
            </a:extLst>
          </p:cNvPr>
          <p:cNvSpPr txBox="1"/>
          <p:nvPr/>
        </p:nvSpPr>
        <p:spPr>
          <a:xfrm>
            <a:off x="5917115" y="1329078"/>
            <a:ext cx="781176" cy="246221"/>
          </a:xfrm>
          <a:prstGeom prst="rect">
            <a:avLst/>
          </a:prstGeom>
          <a:noFill/>
        </p:spPr>
        <p:txBody>
          <a:bodyPr wrap="square" rtlCol="0">
            <a:spAutoFit/>
          </a:bodyPr>
          <a:lstStyle/>
          <a:p>
            <a:r>
              <a:rPr lang="fr-FR" sz="1000" dirty="0"/>
              <a:t>Proto Res</a:t>
            </a:r>
            <a:endParaRPr lang="fr-FR" dirty="0"/>
          </a:p>
        </p:txBody>
      </p:sp>
      <p:sp>
        <p:nvSpPr>
          <p:cNvPr id="96" name="Rectangle 95">
            <a:extLst>
              <a:ext uri="{FF2B5EF4-FFF2-40B4-BE49-F238E27FC236}">
                <a16:creationId xmlns:a16="http://schemas.microsoft.com/office/drawing/2014/main" id="{ACA020E2-4520-27A2-972B-43D9F422E31E}"/>
              </a:ext>
            </a:extLst>
          </p:cNvPr>
          <p:cNvSpPr/>
          <p:nvPr/>
        </p:nvSpPr>
        <p:spPr>
          <a:xfrm>
            <a:off x="5903291" y="2220560"/>
            <a:ext cx="941099" cy="778277"/>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fr-FR" dirty="0"/>
              <a:t>http 2 </a:t>
            </a:r>
          </a:p>
        </p:txBody>
      </p:sp>
      <p:cxnSp>
        <p:nvCxnSpPr>
          <p:cNvPr id="97" name="Connecteur droit avec flèche 96">
            <a:extLst>
              <a:ext uri="{FF2B5EF4-FFF2-40B4-BE49-F238E27FC236}">
                <a16:creationId xmlns:a16="http://schemas.microsoft.com/office/drawing/2014/main" id="{36A8D910-32CE-F0C0-FFB0-1330E65C71C2}"/>
              </a:ext>
            </a:extLst>
          </p:cNvPr>
          <p:cNvCxnSpPr/>
          <p:nvPr/>
        </p:nvCxnSpPr>
        <p:spPr>
          <a:xfrm>
            <a:off x="5925040" y="2314549"/>
            <a:ext cx="88472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8" name="Connecteur droit avec flèche 97">
            <a:extLst>
              <a:ext uri="{FF2B5EF4-FFF2-40B4-BE49-F238E27FC236}">
                <a16:creationId xmlns:a16="http://schemas.microsoft.com/office/drawing/2014/main" id="{68891D45-8D6D-14B1-0E7F-27FDB0A960EF}"/>
              </a:ext>
            </a:extLst>
          </p:cNvPr>
          <p:cNvCxnSpPr/>
          <p:nvPr/>
        </p:nvCxnSpPr>
        <p:spPr>
          <a:xfrm>
            <a:off x="5925040" y="2430615"/>
            <a:ext cx="88472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9" name="Connecteur droit avec flèche 98">
            <a:extLst>
              <a:ext uri="{FF2B5EF4-FFF2-40B4-BE49-F238E27FC236}">
                <a16:creationId xmlns:a16="http://schemas.microsoft.com/office/drawing/2014/main" id="{7F74FE15-11AE-4F24-3F38-DE8131CADB33}"/>
              </a:ext>
            </a:extLst>
          </p:cNvPr>
          <p:cNvCxnSpPr/>
          <p:nvPr/>
        </p:nvCxnSpPr>
        <p:spPr>
          <a:xfrm flipH="1">
            <a:off x="5907636" y="2760913"/>
            <a:ext cx="91424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0" name="Connecteur droit avec flèche 99">
            <a:extLst>
              <a:ext uri="{FF2B5EF4-FFF2-40B4-BE49-F238E27FC236}">
                <a16:creationId xmlns:a16="http://schemas.microsoft.com/office/drawing/2014/main" id="{7D1D8060-480B-3DE7-12AD-DDB548218072}"/>
              </a:ext>
            </a:extLst>
          </p:cNvPr>
          <p:cNvCxnSpPr/>
          <p:nvPr/>
        </p:nvCxnSpPr>
        <p:spPr>
          <a:xfrm flipH="1">
            <a:off x="5915403" y="2877725"/>
            <a:ext cx="91424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1" name="Rectangle 100">
            <a:extLst>
              <a:ext uri="{FF2B5EF4-FFF2-40B4-BE49-F238E27FC236}">
                <a16:creationId xmlns:a16="http://schemas.microsoft.com/office/drawing/2014/main" id="{A8B9AB2A-6F10-C746-F716-76C7CC03062B}"/>
              </a:ext>
            </a:extLst>
          </p:cNvPr>
          <p:cNvSpPr/>
          <p:nvPr/>
        </p:nvSpPr>
        <p:spPr>
          <a:xfrm>
            <a:off x="5911057" y="3908150"/>
            <a:ext cx="941099" cy="778277"/>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fr-FR" dirty="0"/>
              <a:t>http 2 </a:t>
            </a:r>
          </a:p>
        </p:txBody>
      </p:sp>
      <p:cxnSp>
        <p:nvCxnSpPr>
          <p:cNvPr id="102" name="Connecteur droit avec flèche 101">
            <a:extLst>
              <a:ext uri="{FF2B5EF4-FFF2-40B4-BE49-F238E27FC236}">
                <a16:creationId xmlns:a16="http://schemas.microsoft.com/office/drawing/2014/main" id="{920FE1D9-775F-CB81-3779-AFFA95607BCD}"/>
              </a:ext>
            </a:extLst>
          </p:cNvPr>
          <p:cNvCxnSpPr/>
          <p:nvPr/>
        </p:nvCxnSpPr>
        <p:spPr>
          <a:xfrm>
            <a:off x="5932806" y="4002139"/>
            <a:ext cx="88472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3" name="Connecteur droit avec flèche 102">
            <a:extLst>
              <a:ext uri="{FF2B5EF4-FFF2-40B4-BE49-F238E27FC236}">
                <a16:creationId xmlns:a16="http://schemas.microsoft.com/office/drawing/2014/main" id="{1312871E-7588-0A93-456D-85E2E9A1FC31}"/>
              </a:ext>
            </a:extLst>
          </p:cNvPr>
          <p:cNvCxnSpPr/>
          <p:nvPr/>
        </p:nvCxnSpPr>
        <p:spPr>
          <a:xfrm>
            <a:off x="5932806" y="4118205"/>
            <a:ext cx="88472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4" name="Connecteur droit avec flèche 103">
            <a:extLst>
              <a:ext uri="{FF2B5EF4-FFF2-40B4-BE49-F238E27FC236}">
                <a16:creationId xmlns:a16="http://schemas.microsoft.com/office/drawing/2014/main" id="{E3789CA0-9EB1-5DF1-5DE0-9126EA7F8CE5}"/>
              </a:ext>
            </a:extLst>
          </p:cNvPr>
          <p:cNvCxnSpPr/>
          <p:nvPr/>
        </p:nvCxnSpPr>
        <p:spPr>
          <a:xfrm flipH="1">
            <a:off x="5915402" y="4448503"/>
            <a:ext cx="91424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5" name="Connecteur droit avec flèche 104">
            <a:extLst>
              <a:ext uri="{FF2B5EF4-FFF2-40B4-BE49-F238E27FC236}">
                <a16:creationId xmlns:a16="http://schemas.microsoft.com/office/drawing/2014/main" id="{79A0DDE8-A0D7-0D71-69CE-94F195543DBC}"/>
              </a:ext>
            </a:extLst>
          </p:cNvPr>
          <p:cNvCxnSpPr/>
          <p:nvPr/>
        </p:nvCxnSpPr>
        <p:spPr>
          <a:xfrm flipH="1">
            <a:off x="5923169" y="4565315"/>
            <a:ext cx="91424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54780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22">
          <a:extLst>
            <a:ext uri="{FF2B5EF4-FFF2-40B4-BE49-F238E27FC236}">
              <a16:creationId xmlns:a16="http://schemas.microsoft.com/office/drawing/2014/main" id="{E916EDF0-A043-F505-F683-505259C885E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12A6F9C-B7C0-4489-7223-371B6019D9FC}"/>
              </a:ext>
            </a:extLst>
          </p:cNvPr>
          <p:cNvSpPr/>
          <p:nvPr/>
        </p:nvSpPr>
        <p:spPr>
          <a:xfrm rot="16200000">
            <a:off x="2802648" y="1699174"/>
            <a:ext cx="1421182" cy="398570"/>
          </a:xfrm>
          <a:prstGeom prst="rect">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ln>
                  <a:solidFill>
                    <a:schemeClr val="bg1"/>
                  </a:solidFill>
                </a:ln>
              </a:rPr>
              <a:t>GRPC Server</a:t>
            </a:r>
          </a:p>
        </p:txBody>
      </p:sp>
      <p:sp>
        <p:nvSpPr>
          <p:cNvPr id="5" name="Rectangle 4">
            <a:extLst>
              <a:ext uri="{FF2B5EF4-FFF2-40B4-BE49-F238E27FC236}">
                <a16:creationId xmlns:a16="http://schemas.microsoft.com/office/drawing/2014/main" id="{5A6BB747-8E92-0D55-932A-F6D81AEBC9E9}"/>
              </a:ext>
            </a:extLst>
          </p:cNvPr>
          <p:cNvSpPr/>
          <p:nvPr/>
        </p:nvSpPr>
        <p:spPr>
          <a:xfrm>
            <a:off x="3702423" y="1187867"/>
            <a:ext cx="822838" cy="1421181"/>
          </a:xfrm>
          <a:prstGeom prst="rect">
            <a:avLst/>
          </a:prstGeom>
          <a:solidFill>
            <a:schemeClr val="tx2">
              <a:lumMod val="50000"/>
            </a:schemeClr>
          </a:solidFill>
          <a:ln w="3175">
            <a:solidFill>
              <a:schemeClr val="bg1">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a:extLst>
              <a:ext uri="{FF2B5EF4-FFF2-40B4-BE49-F238E27FC236}">
                <a16:creationId xmlns:a16="http://schemas.microsoft.com/office/drawing/2014/main" id="{8EE8071F-07A8-34D6-2CE7-F45A47BB09BC}"/>
              </a:ext>
            </a:extLst>
          </p:cNvPr>
          <p:cNvSpPr/>
          <p:nvPr/>
        </p:nvSpPr>
        <p:spPr>
          <a:xfrm>
            <a:off x="134934" y="1417024"/>
            <a:ext cx="1705022" cy="1192024"/>
          </a:xfrm>
          <a:prstGeom prst="rect">
            <a:avLst/>
          </a:prstGeom>
          <a:ln>
            <a:solidFill>
              <a:schemeClr val="bg1"/>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fr-FR" sz="1100" dirty="0">
              <a:solidFill>
                <a:schemeClr val="bg1">
                  <a:lumMod val="10000"/>
                </a:schemeClr>
              </a:solidFill>
            </a:endParaRPr>
          </a:p>
        </p:txBody>
      </p:sp>
      <p:sp>
        <p:nvSpPr>
          <p:cNvPr id="7" name="Rectangle 6">
            <a:extLst>
              <a:ext uri="{FF2B5EF4-FFF2-40B4-BE49-F238E27FC236}">
                <a16:creationId xmlns:a16="http://schemas.microsoft.com/office/drawing/2014/main" id="{92248620-6F19-1078-580A-65C5B2D77A00}"/>
              </a:ext>
            </a:extLst>
          </p:cNvPr>
          <p:cNvSpPr/>
          <p:nvPr/>
        </p:nvSpPr>
        <p:spPr>
          <a:xfrm>
            <a:off x="121111" y="1187867"/>
            <a:ext cx="1718846" cy="242225"/>
          </a:xfrm>
          <a:prstGeom prst="rect">
            <a:avLst/>
          </a:prstGeom>
          <a:solidFill>
            <a:srgbClr val="FB9705"/>
          </a:solidFill>
          <a:ln>
            <a:solidFill>
              <a:schemeClr val="bg1"/>
            </a:solidFill>
          </a:ln>
        </p:spPr>
        <p:style>
          <a:lnRef idx="1">
            <a:schemeClr val="dk1"/>
          </a:lnRef>
          <a:fillRef idx="2">
            <a:schemeClr val="dk1"/>
          </a:fillRef>
          <a:effectRef idx="1">
            <a:schemeClr val="dk1"/>
          </a:effectRef>
          <a:fontRef idx="minor">
            <a:schemeClr val="dk1"/>
          </a:fontRef>
        </p:style>
        <p:txBody>
          <a:bodyPr rtlCol="0" anchor="ctr"/>
          <a:lstStyle/>
          <a:p>
            <a:pPr algn="ctr"/>
            <a:r>
              <a:rPr lang="fr-FR" sz="1100" dirty="0">
                <a:solidFill>
                  <a:srgbClr val="000000"/>
                </a:solidFill>
              </a:rPr>
              <a:t>Java Client</a:t>
            </a:r>
            <a:endParaRPr lang="fr-FR" dirty="0">
              <a:solidFill>
                <a:srgbClr val="000000"/>
              </a:solidFill>
            </a:endParaRPr>
          </a:p>
        </p:txBody>
      </p:sp>
      <p:sp>
        <p:nvSpPr>
          <p:cNvPr id="8" name="Rectangle 7">
            <a:extLst>
              <a:ext uri="{FF2B5EF4-FFF2-40B4-BE49-F238E27FC236}">
                <a16:creationId xmlns:a16="http://schemas.microsoft.com/office/drawing/2014/main" id="{44C14503-4B06-6E88-3F49-C786212FF796}"/>
              </a:ext>
            </a:extLst>
          </p:cNvPr>
          <p:cNvSpPr/>
          <p:nvPr/>
        </p:nvSpPr>
        <p:spPr>
          <a:xfrm rot="16200000">
            <a:off x="-142311" y="1885001"/>
            <a:ext cx="1035513" cy="24222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fr-FR" sz="1100" dirty="0" err="1">
                <a:solidFill>
                  <a:schemeClr val="bg1">
                    <a:lumMod val="10000"/>
                  </a:schemeClr>
                </a:solidFill>
              </a:rPr>
              <a:t>bank.proto</a:t>
            </a:r>
            <a:endParaRPr lang="fr-FR" dirty="0">
              <a:solidFill>
                <a:schemeClr val="bg1">
                  <a:lumMod val="10000"/>
                </a:schemeClr>
              </a:solidFill>
            </a:endParaRPr>
          </a:p>
        </p:txBody>
      </p:sp>
      <p:sp>
        <p:nvSpPr>
          <p:cNvPr id="9" name="Rectangle 8">
            <a:extLst>
              <a:ext uri="{FF2B5EF4-FFF2-40B4-BE49-F238E27FC236}">
                <a16:creationId xmlns:a16="http://schemas.microsoft.com/office/drawing/2014/main" id="{8AF35B7F-0F37-F774-3712-D6F21F89B6BF}"/>
              </a:ext>
            </a:extLst>
          </p:cNvPr>
          <p:cNvSpPr/>
          <p:nvPr/>
        </p:nvSpPr>
        <p:spPr>
          <a:xfrm rot="16200000">
            <a:off x="455865" y="1885000"/>
            <a:ext cx="1035513" cy="242225"/>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solidFill>
              <a:schemeClr val="bg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fr-FR" sz="1100" dirty="0">
                <a:solidFill>
                  <a:schemeClr val="accent2"/>
                </a:solidFill>
              </a:rPr>
              <a:t>Protoc-</a:t>
            </a:r>
            <a:r>
              <a:rPr lang="fr-FR" sz="1100" dirty="0" err="1">
                <a:solidFill>
                  <a:schemeClr val="accent2"/>
                </a:solidFill>
              </a:rPr>
              <a:t>gen</a:t>
            </a:r>
            <a:endParaRPr lang="fr-FR" dirty="0">
              <a:solidFill>
                <a:schemeClr val="accent2"/>
              </a:solidFill>
            </a:endParaRPr>
          </a:p>
        </p:txBody>
      </p:sp>
      <p:sp>
        <p:nvSpPr>
          <p:cNvPr id="10" name="Rectangle 9">
            <a:extLst>
              <a:ext uri="{FF2B5EF4-FFF2-40B4-BE49-F238E27FC236}">
                <a16:creationId xmlns:a16="http://schemas.microsoft.com/office/drawing/2014/main" id="{19D06664-64E6-F523-0476-724DB4B48A5F}"/>
              </a:ext>
            </a:extLst>
          </p:cNvPr>
          <p:cNvSpPr/>
          <p:nvPr/>
        </p:nvSpPr>
        <p:spPr>
          <a:xfrm rot="16200000">
            <a:off x="1152640" y="1862403"/>
            <a:ext cx="1035513" cy="242225"/>
          </a:xfrm>
          <a:prstGeom prst="rect">
            <a:avLst/>
          </a:prstGeom>
          <a:solidFill>
            <a:srgbClr val="FB9705"/>
          </a:solidFill>
          <a:ln/>
        </p:spPr>
        <p:style>
          <a:lnRef idx="0">
            <a:schemeClr val="dk1"/>
          </a:lnRef>
          <a:fillRef idx="3">
            <a:schemeClr val="dk1"/>
          </a:fillRef>
          <a:effectRef idx="3">
            <a:schemeClr val="dk1"/>
          </a:effectRef>
          <a:fontRef idx="minor">
            <a:schemeClr val="lt1"/>
          </a:fontRef>
        </p:style>
        <p:txBody>
          <a:bodyPr rtlCol="0" anchor="ctr"/>
          <a:lstStyle/>
          <a:p>
            <a:pPr algn="ctr"/>
            <a:r>
              <a:rPr lang="fr-FR" sz="1100" dirty="0" err="1">
                <a:solidFill>
                  <a:schemeClr val="bg1">
                    <a:lumMod val="10000"/>
                  </a:schemeClr>
                </a:solidFill>
              </a:rPr>
              <a:t>gRPC</a:t>
            </a:r>
            <a:r>
              <a:rPr lang="fr-FR" sz="1100" dirty="0">
                <a:solidFill>
                  <a:schemeClr val="bg1">
                    <a:lumMod val="10000"/>
                  </a:schemeClr>
                </a:solidFill>
              </a:rPr>
              <a:t> STUB</a:t>
            </a:r>
            <a:endParaRPr lang="fr-FR" dirty="0">
              <a:solidFill>
                <a:schemeClr val="bg1">
                  <a:lumMod val="10000"/>
                </a:schemeClr>
              </a:solidFill>
            </a:endParaRPr>
          </a:p>
        </p:txBody>
      </p:sp>
      <p:cxnSp>
        <p:nvCxnSpPr>
          <p:cNvPr id="11" name="Connecteur droit avec flèche 10">
            <a:extLst>
              <a:ext uri="{FF2B5EF4-FFF2-40B4-BE49-F238E27FC236}">
                <a16:creationId xmlns:a16="http://schemas.microsoft.com/office/drawing/2014/main" id="{8CB5EAA7-6536-15C3-C4A3-272331502AA4}"/>
              </a:ext>
            </a:extLst>
          </p:cNvPr>
          <p:cNvCxnSpPr>
            <a:cxnSpLocks/>
            <a:stCxn id="8" idx="2"/>
          </p:cNvCxnSpPr>
          <p:nvPr/>
        </p:nvCxnSpPr>
        <p:spPr>
          <a:xfrm flipV="1">
            <a:off x="496558" y="2006112"/>
            <a:ext cx="355951"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Connecteur droit avec flèche 11">
            <a:extLst>
              <a:ext uri="{FF2B5EF4-FFF2-40B4-BE49-F238E27FC236}">
                <a16:creationId xmlns:a16="http://schemas.microsoft.com/office/drawing/2014/main" id="{ED936423-30DA-0B3C-8C84-B174272ED918}"/>
              </a:ext>
            </a:extLst>
          </p:cNvPr>
          <p:cNvCxnSpPr>
            <a:cxnSpLocks/>
            <a:endCxn id="10" idx="0"/>
          </p:cNvCxnSpPr>
          <p:nvPr/>
        </p:nvCxnSpPr>
        <p:spPr>
          <a:xfrm flipV="1">
            <a:off x="1115398" y="1983515"/>
            <a:ext cx="433886" cy="10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2A399C45-D01B-0D42-099E-3E541C7C0127}"/>
              </a:ext>
            </a:extLst>
          </p:cNvPr>
          <p:cNvSpPr/>
          <p:nvPr/>
        </p:nvSpPr>
        <p:spPr>
          <a:xfrm>
            <a:off x="1876291" y="1435197"/>
            <a:ext cx="1417964" cy="932561"/>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fr-FR" dirty="0"/>
          </a:p>
        </p:txBody>
      </p:sp>
      <p:sp>
        <p:nvSpPr>
          <p:cNvPr id="18" name="Flèche : droite 17">
            <a:extLst>
              <a:ext uri="{FF2B5EF4-FFF2-40B4-BE49-F238E27FC236}">
                <a16:creationId xmlns:a16="http://schemas.microsoft.com/office/drawing/2014/main" id="{92E93DC4-24C9-0E83-7D18-7CF2E5E443CB}"/>
              </a:ext>
            </a:extLst>
          </p:cNvPr>
          <p:cNvSpPr/>
          <p:nvPr/>
        </p:nvSpPr>
        <p:spPr>
          <a:xfrm>
            <a:off x="1901824" y="1465759"/>
            <a:ext cx="1243884" cy="401259"/>
          </a:xfrm>
          <a:prstGeom prst="rightArrow">
            <a:avLst/>
          </a:prstGeom>
          <a:solidFill>
            <a:srgbClr val="FB970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100" i="1" dirty="0">
                <a:solidFill>
                  <a:srgbClr val="000000"/>
                </a:solidFill>
              </a:rPr>
              <a:t>Single Request</a:t>
            </a:r>
            <a:endParaRPr lang="fr-FR" i="1" dirty="0">
              <a:solidFill>
                <a:srgbClr val="000000"/>
              </a:solidFill>
            </a:endParaRPr>
          </a:p>
        </p:txBody>
      </p:sp>
      <p:sp>
        <p:nvSpPr>
          <p:cNvPr id="21" name="Flèche : gauche 20">
            <a:extLst>
              <a:ext uri="{FF2B5EF4-FFF2-40B4-BE49-F238E27FC236}">
                <a16:creationId xmlns:a16="http://schemas.microsoft.com/office/drawing/2014/main" id="{0876E153-9030-63C3-C4FC-B387261A44DE}"/>
              </a:ext>
            </a:extLst>
          </p:cNvPr>
          <p:cNvSpPr/>
          <p:nvPr/>
        </p:nvSpPr>
        <p:spPr>
          <a:xfrm>
            <a:off x="1895768" y="1897580"/>
            <a:ext cx="1352482" cy="401259"/>
          </a:xfrm>
          <a:prstGeom prst="leftArrow">
            <a:avLst/>
          </a:prstGeom>
          <a:solidFill>
            <a:srgbClr val="FB970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100" i="1" dirty="0">
                <a:solidFill>
                  <a:srgbClr val="000000"/>
                </a:solidFill>
              </a:rPr>
              <a:t>Single Response</a:t>
            </a:r>
            <a:endParaRPr lang="fr-FR" i="1" dirty="0">
              <a:solidFill>
                <a:srgbClr val="000000"/>
              </a:solidFill>
            </a:endParaRPr>
          </a:p>
        </p:txBody>
      </p:sp>
      <p:sp>
        <p:nvSpPr>
          <p:cNvPr id="22" name="Rectangle 21">
            <a:extLst>
              <a:ext uri="{FF2B5EF4-FFF2-40B4-BE49-F238E27FC236}">
                <a16:creationId xmlns:a16="http://schemas.microsoft.com/office/drawing/2014/main" id="{A8DA8BE9-CCAB-A474-80DC-F02E323D6828}"/>
              </a:ext>
            </a:extLst>
          </p:cNvPr>
          <p:cNvSpPr/>
          <p:nvPr/>
        </p:nvSpPr>
        <p:spPr>
          <a:xfrm rot="16200000">
            <a:off x="7290882" y="1698486"/>
            <a:ext cx="1421182" cy="398570"/>
          </a:xfrm>
          <a:prstGeom prst="rect">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ln>
                  <a:solidFill>
                    <a:schemeClr val="bg1"/>
                  </a:solidFill>
                </a:ln>
              </a:rPr>
              <a:t>GRPC Server</a:t>
            </a:r>
          </a:p>
        </p:txBody>
      </p:sp>
      <p:sp>
        <p:nvSpPr>
          <p:cNvPr id="23" name="Rectangle 22">
            <a:extLst>
              <a:ext uri="{FF2B5EF4-FFF2-40B4-BE49-F238E27FC236}">
                <a16:creationId xmlns:a16="http://schemas.microsoft.com/office/drawing/2014/main" id="{AF11BA0A-7D8E-C865-700C-63099D56235F}"/>
              </a:ext>
            </a:extLst>
          </p:cNvPr>
          <p:cNvSpPr/>
          <p:nvPr/>
        </p:nvSpPr>
        <p:spPr>
          <a:xfrm>
            <a:off x="8190657" y="1187179"/>
            <a:ext cx="822838" cy="1421181"/>
          </a:xfrm>
          <a:prstGeom prst="rect">
            <a:avLst/>
          </a:prstGeom>
          <a:solidFill>
            <a:schemeClr val="tx2">
              <a:lumMod val="50000"/>
            </a:schemeClr>
          </a:solidFill>
          <a:ln w="3175">
            <a:solidFill>
              <a:schemeClr val="bg1">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Rectangle 23">
            <a:extLst>
              <a:ext uri="{FF2B5EF4-FFF2-40B4-BE49-F238E27FC236}">
                <a16:creationId xmlns:a16="http://schemas.microsoft.com/office/drawing/2014/main" id="{7E822C64-DB08-0C25-6F40-2B4DF270D5AE}"/>
              </a:ext>
            </a:extLst>
          </p:cNvPr>
          <p:cNvSpPr/>
          <p:nvPr/>
        </p:nvSpPr>
        <p:spPr>
          <a:xfrm>
            <a:off x="4623168" y="1416336"/>
            <a:ext cx="1705022" cy="1192024"/>
          </a:xfrm>
          <a:prstGeom prst="rect">
            <a:avLst/>
          </a:prstGeom>
          <a:ln>
            <a:solidFill>
              <a:schemeClr val="bg1"/>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fr-FR" sz="1100" dirty="0">
              <a:solidFill>
                <a:schemeClr val="bg1">
                  <a:lumMod val="10000"/>
                </a:schemeClr>
              </a:solidFill>
            </a:endParaRPr>
          </a:p>
        </p:txBody>
      </p:sp>
      <p:sp>
        <p:nvSpPr>
          <p:cNvPr id="25" name="Rectangle 24">
            <a:extLst>
              <a:ext uri="{FF2B5EF4-FFF2-40B4-BE49-F238E27FC236}">
                <a16:creationId xmlns:a16="http://schemas.microsoft.com/office/drawing/2014/main" id="{6A873EA7-A859-FA4D-0ED2-368B9752BEDF}"/>
              </a:ext>
            </a:extLst>
          </p:cNvPr>
          <p:cNvSpPr/>
          <p:nvPr/>
        </p:nvSpPr>
        <p:spPr>
          <a:xfrm>
            <a:off x="4609345" y="1187179"/>
            <a:ext cx="1718846" cy="242225"/>
          </a:xfrm>
          <a:prstGeom prst="rect">
            <a:avLst/>
          </a:prstGeom>
          <a:solidFill>
            <a:srgbClr val="FB9705"/>
          </a:solidFill>
          <a:ln>
            <a:solidFill>
              <a:schemeClr val="bg1"/>
            </a:solidFill>
          </a:ln>
        </p:spPr>
        <p:style>
          <a:lnRef idx="1">
            <a:schemeClr val="dk1"/>
          </a:lnRef>
          <a:fillRef idx="2">
            <a:schemeClr val="dk1"/>
          </a:fillRef>
          <a:effectRef idx="1">
            <a:schemeClr val="dk1"/>
          </a:effectRef>
          <a:fontRef idx="minor">
            <a:schemeClr val="dk1"/>
          </a:fontRef>
        </p:style>
        <p:txBody>
          <a:bodyPr rtlCol="0" anchor="ctr"/>
          <a:lstStyle/>
          <a:p>
            <a:pPr algn="ctr"/>
            <a:r>
              <a:rPr lang="fr-FR" sz="1100" dirty="0">
                <a:solidFill>
                  <a:srgbClr val="000000"/>
                </a:solidFill>
              </a:rPr>
              <a:t>Java Client</a:t>
            </a:r>
            <a:endParaRPr lang="fr-FR" dirty="0">
              <a:solidFill>
                <a:srgbClr val="000000"/>
              </a:solidFill>
            </a:endParaRPr>
          </a:p>
        </p:txBody>
      </p:sp>
      <p:sp>
        <p:nvSpPr>
          <p:cNvPr id="26" name="Rectangle 25">
            <a:extLst>
              <a:ext uri="{FF2B5EF4-FFF2-40B4-BE49-F238E27FC236}">
                <a16:creationId xmlns:a16="http://schemas.microsoft.com/office/drawing/2014/main" id="{06D70447-1DFC-A39E-1173-2FCAB2D6518B}"/>
              </a:ext>
            </a:extLst>
          </p:cNvPr>
          <p:cNvSpPr/>
          <p:nvPr/>
        </p:nvSpPr>
        <p:spPr>
          <a:xfrm rot="16200000">
            <a:off x="4345923" y="1884313"/>
            <a:ext cx="1035513" cy="24222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fr-FR" sz="1100" dirty="0" err="1">
                <a:solidFill>
                  <a:schemeClr val="bg1">
                    <a:lumMod val="10000"/>
                  </a:schemeClr>
                </a:solidFill>
              </a:rPr>
              <a:t>bank.proto</a:t>
            </a:r>
            <a:endParaRPr lang="fr-FR" dirty="0">
              <a:solidFill>
                <a:schemeClr val="bg1">
                  <a:lumMod val="10000"/>
                </a:schemeClr>
              </a:solidFill>
            </a:endParaRPr>
          </a:p>
        </p:txBody>
      </p:sp>
      <p:sp>
        <p:nvSpPr>
          <p:cNvPr id="27" name="Rectangle 26">
            <a:extLst>
              <a:ext uri="{FF2B5EF4-FFF2-40B4-BE49-F238E27FC236}">
                <a16:creationId xmlns:a16="http://schemas.microsoft.com/office/drawing/2014/main" id="{F309DA7A-B7DB-FA4B-1AAE-94CECB297F2B}"/>
              </a:ext>
            </a:extLst>
          </p:cNvPr>
          <p:cNvSpPr/>
          <p:nvPr/>
        </p:nvSpPr>
        <p:spPr>
          <a:xfrm rot="16200000">
            <a:off x="4944099" y="1884312"/>
            <a:ext cx="1035513" cy="242225"/>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solidFill>
              <a:schemeClr val="bg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fr-FR" sz="1100" dirty="0">
                <a:solidFill>
                  <a:schemeClr val="accent2"/>
                </a:solidFill>
              </a:rPr>
              <a:t>Protoc-</a:t>
            </a:r>
            <a:r>
              <a:rPr lang="fr-FR" sz="1100" dirty="0" err="1">
                <a:solidFill>
                  <a:schemeClr val="accent2"/>
                </a:solidFill>
              </a:rPr>
              <a:t>gen</a:t>
            </a:r>
            <a:endParaRPr lang="fr-FR" dirty="0">
              <a:solidFill>
                <a:schemeClr val="accent2"/>
              </a:solidFill>
            </a:endParaRPr>
          </a:p>
        </p:txBody>
      </p:sp>
      <p:sp>
        <p:nvSpPr>
          <p:cNvPr id="28" name="Rectangle 27">
            <a:extLst>
              <a:ext uri="{FF2B5EF4-FFF2-40B4-BE49-F238E27FC236}">
                <a16:creationId xmlns:a16="http://schemas.microsoft.com/office/drawing/2014/main" id="{DD27FBB0-11AA-E18F-63B1-E20700EAACE6}"/>
              </a:ext>
            </a:extLst>
          </p:cNvPr>
          <p:cNvSpPr/>
          <p:nvPr/>
        </p:nvSpPr>
        <p:spPr>
          <a:xfrm rot="16200000">
            <a:off x="5640874" y="1861715"/>
            <a:ext cx="1035513" cy="242225"/>
          </a:xfrm>
          <a:prstGeom prst="rect">
            <a:avLst/>
          </a:prstGeom>
          <a:solidFill>
            <a:srgbClr val="FB9705"/>
          </a:solidFill>
          <a:ln/>
        </p:spPr>
        <p:style>
          <a:lnRef idx="0">
            <a:schemeClr val="dk1"/>
          </a:lnRef>
          <a:fillRef idx="3">
            <a:schemeClr val="dk1"/>
          </a:fillRef>
          <a:effectRef idx="3">
            <a:schemeClr val="dk1"/>
          </a:effectRef>
          <a:fontRef idx="minor">
            <a:schemeClr val="lt1"/>
          </a:fontRef>
        </p:style>
        <p:txBody>
          <a:bodyPr rtlCol="0" anchor="ctr"/>
          <a:lstStyle/>
          <a:p>
            <a:pPr algn="ctr"/>
            <a:r>
              <a:rPr lang="fr-FR" sz="1100" dirty="0" err="1">
                <a:solidFill>
                  <a:schemeClr val="bg1">
                    <a:lumMod val="10000"/>
                  </a:schemeClr>
                </a:solidFill>
              </a:rPr>
              <a:t>gRPC</a:t>
            </a:r>
            <a:r>
              <a:rPr lang="fr-FR" sz="1100" dirty="0">
                <a:solidFill>
                  <a:schemeClr val="bg1">
                    <a:lumMod val="10000"/>
                  </a:schemeClr>
                </a:solidFill>
              </a:rPr>
              <a:t> STUB</a:t>
            </a:r>
            <a:endParaRPr lang="fr-FR" dirty="0">
              <a:solidFill>
                <a:schemeClr val="bg1">
                  <a:lumMod val="10000"/>
                </a:schemeClr>
              </a:solidFill>
            </a:endParaRPr>
          </a:p>
        </p:txBody>
      </p:sp>
      <p:cxnSp>
        <p:nvCxnSpPr>
          <p:cNvPr id="29" name="Connecteur droit avec flèche 28">
            <a:extLst>
              <a:ext uri="{FF2B5EF4-FFF2-40B4-BE49-F238E27FC236}">
                <a16:creationId xmlns:a16="http://schemas.microsoft.com/office/drawing/2014/main" id="{F3E58CFD-77F6-FE73-8D43-58CFE63D066C}"/>
              </a:ext>
            </a:extLst>
          </p:cNvPr>
          <p:cNvCxnSpPr>
            <a:stCxn id="26" idx="2"/>
          </p:cNvCxnSpPr>
          <p:nvPr/>
        </p:nvCxnSpPr>
        <p:spPr>
          <a:xfrm flipV="1">
            <a:off x="4984792" y="2005424"/>
            <a:ext cx="355951"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Connecteur droit avec flèche 29">
            <a:extLst>
              <a:ext uri="{FF2B5EF4-FFF2-40B4-BE49-F238E27FC236}">
                <a16:creationId xmlns:a16="http://schemas.microsoft.com/office/drawing/2014/main" id="{32EC512F-5737-E155-E7CE-256B7DF645CB}"/>
              </a:ext>
            </a:extLst>
          </p:cNvPr>
          <p:cNvCxnSpPr>
            <a:cxnSpLocks/>
            <a:endCxn id="28" idx="0"/>
          </p:cNvCxnSpPr>
          <p:nvPr/>
        </p:nvCxnSpPr>
        <p:spPr>
          <a:xfrm flipV="1">
            <a:off x="5603632" y="1982827"/>
            <a:ext cx="433886" cy="10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F01C0D3C-BB17-2C3E-E987-0C5A4E1F22A1}"/>
              </a:ext>
            </a:extLst>
          </p:cNvPr>
          <p:cNvSpPr/>
          <p:nvPr/>
        </p:nvSpPr>
        <p:spPr>
          <a:xfrm>
            <a:off x="6364525" y="1434509"/>
            <a:ext cx="1417964" cy="932561"/>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fr-FR" dirty="0"/>
          </a:p>
        </p:txBody>
      </p:sp>
      <p:sp>
        <p:nvSpPr>
          <p:cNvPr id="32" name="Flèche : droite 31">
            <a:extLst>
              <a:ext uri="{FF2B5EF4-FFF2-40B4-BE49-F238E27FC236}">
                <a16:creationId xmlns:a16="http://schemas.microsoft.com/office/drawing/2014/main" id="{3156B936-FC19-1392-5AAD-5CB548F11151}"/>
              </a:ext>
            </a:extLst>
          </p:cNvPr>
          <p:cNvSpPr/>
          <p:nvPr/>
        </p:nvSpPr>
        <p:spPr>
          <a:xfrm>
            <a:off x="6390058" y="1465071"/>
            <a:ext cx="1243884" cy="401259"/>
          </a:xfrm>
          <a:prstGeom prst="rightArrow">
            <a:avLst/>
          </a:prstGeom>
          <a:solidFill>
            <a:srgbClr val="FB970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100" i="1" dirty="0">
                <a:solidFill>
                  <a:srgbClr val="000000"/>
                </a:solidFill>
              </a:rPr>
              <a:t>Single Request</a:t>
            </a:r>
            <a:endParaRPr lang="fr-FR" i="1" dirty="0">
              <a:solidFill>
                <a:srgbClr val="000000"/>
              </a:solidFill>
            </a:endParaRPr>
          </a:p>
        </p:txBody>
      </p:sp>
      <p:sp>
        <p:nvSpPr>
          <p:cNvPr id="34" name="Flèche : gauche 33">
            <a:extLst>
              <a:ext uri="{FF2B5EF4-FFF2-40B4-BE49-F238E27FC236}">
                <a16:creationId xmlns:a16="http://schemas.microsoft.com/office/drawing/2014/main" id="{C9A3B13C-1F74-BC40-2058-E37BC8D7A279}"/>
              </a:ext>
            </a:extLst>
          </p:cNvPr>
          <p:cNvSpPr/>
          <p:nvPr/>
        </p:nvSpPr>
        <p:spPr>
          <a:xfrm>
            <a:off x="7445434" y="2028639"/>
            <a:ext cx="188508" cy="288000"/>
          </a:xfrm>
          <a:prstGeom prst="leftArrow">
            <a:avLst/>
          </a:prstGeom>
          <a:solidFill>
            <a:srgbClr val="FB970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35" name="Flèche : gauche 34">
            <a:extLst>
              <a:ext uri="{FF2B5EF4-FFF2-40B4-BE49-F238E27FC236}">
                <a16:creationId xmlns:a16="http://schemas.microsoft.com/office/drawing/2014/main" id="{EB23E6E4-A23C-39AD-E296-E67458F3F0AF}"/>
              </a:ext>
            </a:extLst>
          </p:cNvPr>
          <p:cNvSpPr/>
          <p:nvPr/>
        </p:nvSpPr>
        <p:spPr>
          <a:xfrm>
            <a:off x="7202633" y="2022588"/>
            <a:ext cx="188508" cy="288000"/>
          </a:xfrm>
          <a:prstGeom prst="leftArrow">
            <a:avLst/>
          </a:prstGeom>
          <a:solidFill>
            <a:srgbClr val="FB970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36" name="Flèche : gauche 35">
            <a:extLst>
              <a:ext uri="{FF2B5EF4-FFF2-40B4-BE49-F238E27FC236}">
                <a16:creationId xmlns:a16="http://schemas.microsoft.com/office/drawing/2014/main" id="{9D220415-8229-AF84-04D1-97285880AE14}"/>
              </a:ext>
            </a:extLst>
          </p:cNvPr>
          <p:cNvSpPr/>
          <p:nvPr/>
        </p:nvSpPr>
        <p:spPr>
          <a:xfrm>
            <a:off x="6968438" y="2022588"/>
            <a:ext cx="188508" cy="288000"/>
          </a:xfrm>
          <a:prstGeom prst="leftArrow">
            <a:avLst/>
          </a:prstGeom>
          <a:solidFill>
            <a:srgbClr val="FB970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39" name="Flèche : gauche 38">
            <a:extLst>
              <a:ext uri="{FF2B5EF4-FFF2-40B4-BE49-F238E27FC236}">
                <a16:creationId xmlns:a16="http://schemas.microsoft.com/office/drawing/2014/main" id="{17741023-9089-A185-6415-C06A8968BF74}"/>
              </a:ext>
            </a:extLst>
          </p:cNvPr>
          <p:cNvSpPr/>
          <p:nvPr/>
        </p:nvSpPr>
        <p:spPr>
          <a:xfrm>
            <a:off x="6682447" y="2022588"/>
            <a:ext cx="188508" cy="288000"/>
          </a:xfrm>
          <a:prstGeom prst="leftArrow">
            <a:avLst/>
          </a:prstGeom>
          <a:solidFill>
            <a:srgbClr val="FB970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40" name="Flèche : gauche 39">
            <a:extLst>
              <a:ext uri="{FF2B5EF4-FFF2-40B4-BE49-F238E27FC236}">
                <a16:creationId xmlns:a16="http://schemas.microsoft.com/office/drawing/2014/main" id="{CBFF0704-D985-F851-1A82-3C5044C210A0}"/>
              </a:ext>
            </a:extLst>
          </p:cNvPr>
          <p:cNvSpPr/>
          <p:nvPr/>
        </p:nvSpPr>
        <p:spPr>
          <a:xfrm>
            <a:off x="6403349" y="2022588"/>
            <a:ext cx="188508" cy="288000"/>
          </a:xfrm>
          <a:prstGeom prst="leftArrow">
            <a:avLst/>
          </a:prstGeom>
          <a:solidFill>
            <a:srgbClr val="FB970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41" name="ZoneTexte 40">
            <a:extLst>
              <a:ext uri="{FF2B5EF4-FFF2-40B4-BE49-F238E27FC236}">
                <a16:creationId xmlns:a16="http://schemas.microsoft.com/office/drawing/2014/main" id="{2FB63EF1-7C77-0CC4-20CA-9D3416880124}"/>
              </a:ext>
            </a:extLst>
          </p:cNvPr>
          <p:cNvSpPr txBox="1"/>
          <p:nvPr/>
        </p:nvSpPr>
        <p:spPr>
          <a:xfrm>
            <a:off x="6214882" y="799850"/>
            <a:ext cx="1717250" cy="523220"/>
          </a:xfrm>
          <a:prstGeom prst="rect">
            <a:avLst/>
          </a:prstGeom>
          <a:noFill/>
        </p:spPr>
        <p:txBody>
          <a:bodyPr wrap="square" rtlCol="0">
            <a:spAutoFit/>
          </a:bodyPr>
          <a:lstStyle/>
          <a:p>
            <a:pPr algn="ctr"/>
            <a:r>
              <a:rPr lang="fr-FR" dirty="0"/>
              <a:t>Server Streaming Model</a:t>
            </a:r>
          </a:p>
        </p:txBody>
      </p:sp>
      <p:sp>
        <p:nvSpPr>
          <p:cNvPr id="44" name="ZoneTexte 43">
            <a:extLst>
              <a:ext uri="{FF2B5EF4-FFF2-40B4-BE49-F238E27FC236}">
                <a16:creationId xmlns:a16="http://schemas.microsoft.com/office/drawing/2014/main" id="{45DB8CBD-B59B-1075-4B03-00FD31612138}"/>
              </a:ext>
            </a:extLst>
          </p:cNvPr>
          <p:cNvSpPr txBox="1"/>
          <p:nvPr/>
        </p:nvSpPr>
        <p:spPr>
          <a:xfrm>
            <a:off x="1678057" y="907571"/>
            <a:ext cx="1717250" cy="307777"/>
          </a:xfrm>
          <a:prstGeom prst="rect">
            <a:avLst/>
          </a:prstGeom>
          <a:noFill/>
        </p:spPr>
        <p:txBody>
          <a:bodyPr wrap="square" rtlCol="0">
            <a:spAutoFit/>
          </a:bodyPr>
          <a:lstStyle/>
          <a:p>
            <a:pPr algn="ctr"/>
            <a:r>
              <a:rPr lang="fr-FR" dirty="0"/>
              <a:t>Unary Model</a:t>
            </a:r>
          </a:p>
        </p:txBody>
      </p:sp>
      <p:sp>
        <p:nvSpPr>
          <p:cNvPr id="45" name="Rectangle 44">
            <a:extLst>
              <a:ext uri="{FF2B5EF4-FFF2-40B4-BE49-F238E27FC236}">
                <a16:creationId xmlns:a16="http://schemas.microsoft.com/office/drawing/2014/main" id="{EFA10912-F3AB-DAE6-9C3E-A48E700DBC14}"/>
              </a:ext>
            </a:extLst>
          </p:cNvPr>
          <p:cNvSpPr/>
          <p:nvPr/>
        </p:nvSpPr>
        <p:spPr>
          <a:xfrm rot="16200000">
            <a:off x="2767321" y="3486598"/>
            <a:ext cx="1421182" cy="398570"/>
          </a:xfrm>
          <a:prstGeom prst="rect">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ln>
                  <a:solidFill>
                    <a:schemeClr val="bg1"/>
                  </a:solidFill>
                </a:ln>
              </a:rPr>
              <a:t>GRPC Server</a:t>
            </a:r>
          </a:p>
        </p:txBody>
      </p:sp>
      <p:sp>
        <p:nvSpPr>
          <p:cNvPr id="46" name="Rectangle 45">
            <a:extLst>
              <a:ext uri="{FF2B5EF4-FFF2-40B4-BE49-F238E27FC236}">
                <a16:creationId xmlns:a16="http://schemas.microsoft.com/office/drawing/2014/main" id="{1F66B8B4-C874-1E64-87D5-EE1738B1D1EB}"/>
              </a:ext>
            </a:extLst>
          </p:cNvPr>
          <p:cNvSpPr/>
          <p:nvPr/>
        </p:nvSpPr>
        <p:spPr>
          <a:xfrm>
            <a:off x="3667096" y="2975291"/>
            <a:ext cx="822838" cy="1421181"/>
          </a:xfrm>
          <a:prstGeom prst="rect">
            <a:avLst/>
          </a:prstGeom>
          <a:solidFill>
            <a:schemeClr val="tx2">
              <a:lumMod val="50000"/>
            </a:schemeClr>
          </a:solidFill>
          <a:ln w="3175">
            <a:solidFill>
              <a:schemeClr val="bg1">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7" name="Rectangle 46">
            <a:extLst>
              <a:ext uri="{FF2B5EF4-FFF2-40B4-BE49-F238E27FC236}">
                <a16:creationId xmlns:a16="http://schemas.microsoft.com/office/drawing/2014/main" id="{30BE6649-B367-6BD7-E483-FB4013788B59}"/>
              </a:ext>
            </a:extLst>
          </p:cNvPr>
          <p:cNvSpPr/>
          <p:nvPr/>
        </p:nvSpPr>
        <p:spPr>
          <a:xfrm>
            <a:off x="99607" y="3204448"/>
            <a:ext cx="1705022" cy="1192024"/>
          </a:xfrm>
          <a:prstGeom prst="rect">
            <a:avLst/>
          </a:prstGeom>
          <a:ln>
            <a:solidFill>
              <a:schemeClr val="bg1"/>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fr-FR" sz="1100" dirty="0">
              <a:solidFill>
                <a:schemeClr val="bg1">
                  <a:lumMod val="10000"/>
                </a:schemeClr>
              </a:solidFill>
            </a:endParaRPr>
          </a:p>
        </p:txBody>
      </p:sp>
      <p:sp>
        <p:nvSpPr>
          <p:cNvPr id="48" name="Rectangle 47">
            <a:extLst>
              <a:ext uri="{FF2B5EF4-FFF2-40B4-BE49-F238E27FC236}">
                <a16:creationId xmlns:a16="http://schemas.microsoft.com/office/drawing/2014/main" id="{399A6507-C6E7-99F8-1710-C07F4F9FE3C1}"/>
              </a:ext>
            </a:extLst>
          </p:cNvPr>
          <p:cNvSpPr/>
          <p:nvPr/>
        </p:nvSpPr>
        <p:spPr>
          <a:xfrm>
            <a:off x="85784" y="2975291"/>
            <a:ext cx="1718846" cy="242225"/>
          </a:xfrm>
          <a:prstGeom prst="rect">
            <a:avLst/>
          </a:prstGeom>
          <a:solidFill>
            <a:srgbClr val="FB9705"/>
          </a:solidFill>
          <a:ln>
            <a:solidFill>
              <a:schemeClr val="bg1"/>
            </a:solidFill>
          </a:ln>
        </p:spPr>
        <p:style>
          <a:lnRef idx="1">
            <a:schemeClr val="dk1"/>
          </a:lnRef>
          <a:fillRef idx="2">
            <a:schemeClr val="dk1"/>
          </a:fillRef>
          <a:effectRef idx="1">
            <a:schemeClr val="dk1"/>
          </a:effectRef>
          <a:fontRef idx="minor">
            <a:schemeClr val="dk1"/>
          </a:fontRef>
        </p:style>
        <p:txBody>
          <a:bodyPr rtlCol="0" anchor="ctr"/>
          <a:lstStyle/>
          <a:p>
            <a:pPr algn="ctr"/>
            <a:r>
              <a:rPr lang="fr-FR" sz="1100" dirty="0">
                <a:solidFill>
                  <a:srgbClr val="000000"/>
                </a:solidFill>
              </a:rPr>
              <a:t>Java Client</a:t>
            </a:r>
            <a:endParaRPr lang="fr-FR" dirty="0">
              <a:solidFill>
                <a:srgbClr val="000000"/>
              </a:solidFill>
            </a:endParaRPr>
          </a:p>
        </p:txBody>
      </p:sp>
      <p:sp>
        <p:nvSpPr>
          <p:cNvPr id="49" name="Rectangle 48">
            <a:extLst>
              <a:ext uri="{FF2B5EF4-FFF2-40B4-BE49-F238E27FC236}">
                <a16:creationId xmlns:a16="http://schemas.microsoft.com/office/drawing/2014/main" id="{07387243-A2C9-9D8F-9B9F-68A0A5313E05}"/>
              </a:ext>
            </a:extLst>
          </p:cNvPr>
          <p:cNvSpPr/>
          <p:nvPr/>
        </p:nvSpPr>
        <p:spPr>
          <a:xfrm rot="16200000">
            <a:off x="-177638" y="3672425"/>
            <a:ext cx="1035513" cy="24222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fr-FR" sz="1100" dirty="0" err="1">
                <a:solidFill>
                  <a:schemeClr val="bg1">
                    <a:lumMod val="10000"/>
                  </a:schemeClr>
                </a:solidFill>
              </a:rPr>
              <a:t>bank.proto</a:t>
            </a:r>
            <a:endParaRPr lang="fr-FR" dirty="0">
              <a:solidFill>
                <a:schemeClr val="bg1">
                  <a:lumMod val="10000"/>
                </a:schemeClr>
              </a:solidFill>
            </a:endParaRPr>
          </a:p>
        </p:txBody>
      </p:sp>
      <p:sp>
        <p:nvSpPr>
          <p:cNvPr id="50" name="Rectangle 49">
            <a:extLst>
              <a:ext uri="{FF2B5EF4-FFF2-40B4-BE49-F238E27FC236}">
                <a16:creationId xmlns:a16="http://schemas.microsoft.com/office/drawing/2014/main" id="{E82BACDF-DB9F-B860-A900-2E285CF6996A}"/>
              </a:ext>
            </a:extLst>
          </p:cNvPr>
          <p:cNvSpPr/>
          <p:nvPr/>
        </p:nvSpPr>
        <p:spPr>
          <a:xfrm rot="16200000">
            <a:off x="420538" y="3672424"/>
            <a:ext cx="1035513" cy="242225"/>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solidFill>
              <a:schemeClr val="bg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fr-FR" sz="1100" dirty="0">
                <a:solidFill>
                  <a:schemeClr val="accent2"/>
                </a:solidFill>
              </a:rPr>
              <a:t>Protoc-</a:t>
            </a:r>
            <a:r>
              <a:rPr lang="fr-FR" sz="1100" dirty="0" err="1">
                <a:solidFill>
                  <a:schemeClr val="accent2"/>
                </a:solidFill>
              </a:rPr>
              <a:t>gen</a:t>
            </a:r>
            <a:endParaRPr lang="fr-FR" dirty="0">
              <a:solidFill>
                <a:schemeClr val="accent2"/>
              </a:solidFill>
            </a:endParaRPr>
          </a:p>
        </p:txBody>
      </p:sp>
      <p:sp>
        <p:nvSpPr>
          <p:cNvPr id="51" name="Rectangle 50">
            <a:extLst>
              <a:ext uri="{FF2B5EF4-FFF2-40B4-BE49-F238E27FC236}">
                <a16:creationId xmlns:a16="http://schemas.microsoft.com/office/drawing/2014/main" id="{3B6F3302-B0A4-7348-F5AF-0D83B5DBD374}"/>
              </a:ext>
            </a:extLst>
          </p:cNvPr>
          <p:cNvSpPr/>
          <p:nvPr/>
        </p:nvSpPr>
        <p:spPr>
          <a:xfrm rot="16200000">
            <a:off x="1117313" y="3649827"/>
            <a:ext cx="1035513" cy="242225"/>
          </a:xfrm>
          <a:prstGeom prst="rect">
            <a:avLst/>
          </a:prstGeom>
          <a:solidFill>
            <a:srgbClr val="FB9705"/>
          </a:solidFill>
          <a:ln/>
        </p:spPr>
        <p:style>
          <a:lnRef idx="0">
            <a:schemeClr val="dk1"/>
          </a:lnRef>
          <a:fillRef idx="3">
            <a:schemeClr val="dk1"/>
          </a:fillRef>
          <a:effectRef idx="3">
            <a:schemeClr val="dk1"/>
          </a:effectRef>
          <a:fontRef idx="minor">
            <a:schemeClr val="lt1"/>
          </a:fontRef>
        </p:style>
        <p:txBody>
          <a:bodyPr rtlCol="0" anchor="ctr"/>
          <a:lstStyle/>
          <a:p>
            <a:pPr algn="ctr"/>
            <a:r>
              <a:rPr lang="fr-FR" sz="1100" dirty="0" err="1">
                <a:solidFill>
                  <a:schemeClr val="bg1">
                    <a:lumMod val="10000"/>
                  </a:schemeClr>
                </a:solidFill>
              </a:rPr>
              <a:t>gRPC</a:t>
            </a:r>
            <a:r>
              <a:rPr lang="fr-FR" sz="1100" dirty="0">
                <a:solidFill>
                  <a:schemeClr val="bg1">
                    <a:lumMod val="10000"/>
                  </a:schemeClr>
                </a:solidFill>
              </a:rPr>
              <a:t> STUB</a:t>
            </a:r>
            <a:endParaRPr lang="fr-FR" dirty="0">
              <a:solidFill>
                <a:schemeClr val="bg1">
                  <a:lumMod val="10000"/>
                </a:schemeClr>
              </a:solidFill>
            </a:endParaRPr>
          </a:p>
        </p:txBody>
      </p:sp>
      <p:cxnSp>
        <p:nvCxnSpPr>
          <p:cNvPr id="52" name="Connecteur droit avec flèche 51">
            <a:extLst>
              <a:ext uri="{FF2B5EF4-FFF2-40B4-BE49-F238E27FC236}">
                <a16:creationId xmlns:a16="http://schemas.microsoft.com/office/drawing/2014/main" id="{7451020A-E280-EEEC-0EFE-5E166DDE599F}"/>
              </a:ext>
            </a:extLst>
          </p:cNvPr>
          <p:cNvCxnSpPr>
            <a:cxnSpLocks/>
            <a:stCxn id="49" idx="2"/>
          </p:cNvCxnSpPr>
          <p:nvPr/>
        </p:nvCxnSpPr>
        <p:spPr>
          <a:xfrm flipV="1">
            <a:off x="461231" y="3793536"/>
            <a:ext cx="355951"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Connecteur droit avec flèche 52">
            <a:extLst>
              <a:ext uri="{FF2B5EF4-FFF2-40B4-BE49-F238E27FC236}">
                <a16:creationId xmlns:a16="http://schemas.microsoft.com/office/drawing/2014/main" id="{BFA64B3B-4026-2E65-08B3-65783E79CCA3}"/>
              </a:ext>
            </a:extLst>
          </p:cNvPr>
          <p:cNvCxnSpPr>
            <a:cxnSpLocks/>
            <a:endCxn id="51" idx="0"/>
          </p:cNvCxnSpPr>
          <p:nvPr/>
        </p:nvCxnSpPr>
        <p:spPr>
          <a:xfrm flipV="1">
            <a:off x="1080071" y="3770939"/>
            <a:ext cx="433886" cy="10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4" name="Rectangle 53">
            <a:extLst>
              <a:ext uri="{FF2B5EF4-FFF2-40B4-BE49-F238E27FC236}">
                <a16:creationId xmlns:a16="http://schemas.microsoft.com/office/drawing/2014/main" id="{E6D455D9-E46C-D78A-B279-E791C83C7479}"/>
              </a:ext>
            </a:extLst>
          </p:cNvPr>
          <p:cNvSpPr/>
          <p:nvPr/>
        </p:nvSpPr>
        <p:spPr>
          <a:xfrm>
            <a:off x="1840964" y="3222621"/>
            <a:ext cx="1417964" cy="932561"/>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fr-FR" dirty="0"/>
          </a:p>
        </p:txBody>
      </p:sp>
      <p:sp>
        <p:nvSpPr>
          <p:cNvPr id="56" name="Flèche : gauche 55">
            <a:extLst>
              <a:ext uri="{FF2B5EF4-FFF2-40B4-BE49-F238E27FC236}">
                <a16:creationId xmlns:a16="http://schemas.microsoft.com/office/drawing/2014/main" id="{F191948C-F9BD-6C21-20FF-36E077DCBC4E}"/>
              </a:ext>
            </a:extLst>
          </p:cNvPr>
          <p:cNvSpPr/>
          <p:nvPr/>
        </p:nvSpPr>
        <p:spPr>
          <a:xfrm>
            <a:off x="1860441" y="3685004"/>
            <a:ext cx="1352482" cy="401259"/>
          </a:xfrm>
          <a:prstGeom prst="leftArrow">
            <a:avLst/>
          </a:prstGeom>
          <a:solidFill>
            <a:srgbClr val="FB970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100" i="1" dirty="0">
                <a:solidFill>
                  <a:srgbClr val="000000"/>
                </a:solidFill>
              </a:rPr>
              <a:t>Single Response</a:t>
            </a:r>
            <a:endParaRPr lang="fr-FR" i="1" dirty="0">
              <a:solidFill>
                <a:srgbClr val="000000"/>
              </a:solidFill>
            </a:endParaRPr>
          </a:p>
        </p:txBody>
      </p:sp>
      <p:sp>
        <p:nvSpPr>
          <p:cNvPr id="519" name="Rectangle 518">
            <a:extLst>
              <a:ext uri="{FF2B5EF4-FFF2-40B4-BE49-F238E27FC236}">
                <a16:creationId xmlns:a16="http://schemas.microsoft.com/office/drawing/2014/main" id="{C8EF85CE-02A8-40E4-7C00-5AB4B6E88504}"/>
              </a:ext>
            </a:extLst>
          </p:cNvPr>
          <p:cNvSpPr/>
          <p:nvPr/>
        </p:nvSpPr>
        <p:spPr>
          <a:xfrm rot="16200000">
            <a:off x="7297944" y="3479853"/>
            <a:ext cx="1421182" cy="398570"/>
          </a:xfrm>
          <a:prstGeom prst="rect">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ln>
                  <a:solidFill>
                    <a:schemeClr val="bg1"/>
                  </a:solidFill>
                </a:ln>
              </a:rPr>
              <a:t>GRPC Server</a:t>
            </a:r>
          </a:p>
        </p:txBody>
      </p:sp>
      <p:sp>
        <p:nvSpPr>
          <p:cNvPr id="520" name="Rectangle 519">
            <a:extLst>
              <a:ext uri="{FF2B5EF4-FFF2-40B4-BE49-F238E27FC236}">
                <a16:creationId xmlns:a16="http://schemas.microsoft.com/office/drawing/2014/main" id="{BB9B172C-0F73-0168-E1DE-4C99F9C0EE1A}"/>
              </a:ext>
            </a:extLst>
          </p:cNvPr>
          <p:cNvSpPr/>
          <p:nvPr/>
        </p:nvSpPr>
        <p:spPr>
          <a:xfrm>
            <a:off x="8197719" y="2968546"/>
            <a:ext cx="822838" cy="1421181"/>
          </a:xfrm>
          <a:prstGeom prst="rect">
            <a:avLst/>
          </a:prstGeom>
          <a:solidFill>
            <a:schemeClr val="tx2">
              <a:lumMod val="50000"/>
            </a:schemeClr>
          </a:solidFill>
          <a:ln w="3175">
            <a:solidFill>
              <a:schemeClr val="bg1">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21" name="Rectangle 520">
            <a:extLst>
              <a:ext uri="{FF2B5EF4-FFF2-40B4-BE49-F238E27FC236}">
                <a16:creationId xmlns:a16="http://schemas.microsoft.com/office/drawing/2014/main" id="{0EBC64CB-5F9A-D233-44AC-0B543554D4B5}"/>
              </a:ext>
            </a:extLst>
          </p:cNvPr>
          <p:cNvSpPr/>
          <p:nvPr/>
        </p:nvSpPr>
        <p:spPr>
          <a:xfrm>
            <a:off x="4630230" y="3197703"/>
            <a:ext cx="1705022" cy="1192024"/>
          </a:xfrm>
          <a:prstGeom prst="rect">
            <a:avLst/>
          </a:prstGeom>
          <a:ln>
            <a:solidFill>
              <a:schemeClr val="bg1"/>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fr-FR" sz="1100" dirty="0">
              <a:solidFill>
                <a:schemeClr val="bg1">
                  <a:lumMod val="10000"/>
                </a:schemeClr>
              </a:solidFill>
            </a:endParaRPr>
          </a:p>
        </p:txBody>
      </p:sp>
      <p:sp>
        <p:nvSpPr>
          <p:cNvPr id="522" name="Rectangle 521">
            <a:extLst>
              <a:ext uri="{FF2B5EF4-FFF2-40B4-BE49-F238E27FC236}">
                <a16:creationId xmlns:a16="http://schemas.microsoft.com/office/drawing/2014/main" id="{CBCD5081-D6CC-FB46-303D-67BF60E851C8}"/>
              </a:ext>
            </a:extLst>
          </p:cNvPr>
          <p:cNvSpPr/>
          <p:nvPr/>
        </p:nvSpPr>
        <p:spPr>
          <a:xfrm>
            <a:off x="4616407" y="2968546"/>
            <a:ext cx="1718846" cy="242225"/>
          </a:xfrm>
          <a:prstGeom prst="rect">
            <a:avLst/>
          </a:prstGeom>
          <a:solidFill>
            <a:srgbClr val="FB9705"/>
          </a:solidFill>
          <a:ln>
            <a:solidFill>
              <a:schemeClr val="bg1"/>
            </a:solidFill>
          </a:ln>
        </p:spPr>
        <p:style>
          <a:lnRef idx="1">
            <a:schemeClr val="dk1"/>
          </a:lnRef>
          <a:fillRef idx="2">
            <a:schemeClr val="dk1"/>
          </a:fillRef>
          <a:effectRef idx="1">
            <a:schemeClr val="dk1"/>
          </a:effectRef>
          <a:fontRef idx="minor">
            <a:schemeClr val="dk1"/>
          </a:fontRef>
        </p:style>
        <p:txBody>
          <a:bodyPr rtlCol="0" anchor="ctr"/>
          <a:lstStyle/>
          <a:p>
            <a:pPr algn="ctr"/>
            <a:r>
              <a:rPr lang="fr-FR" sz="1100" dirty="0">
                <a:solidFill>
                  <a:srgbClr val="000000"/>
                </a:solidFill>
              </a:rPr>
              <a:t>Java Client</a:t>
            </a:r>
            <a:endParaRPr lang="fr-FR" dirty="0">
              <a:solidFill>
                <a:srgbClr val="000000"/>
              </a:solidFill>
            </a:endParaRPr>
          </a:p>
        </p:txBody>
      </p:sp>
      <p:sp>
        <p:nvSpPr>
          <p:cNvPr id="524" name="Rectangle 523">
            <a:extLst>
              <a:ext uri="{FF2B5EF4-FFF2-40B4-BE49-F238E27FC236}">
                <a16:creationId xmlns:a16="http://schemas.microsoft.com/office/drawing/2014/main" id="{F9F67ABE-683B-5897-DDA9-973505B98880}"/>
              </a:ext>
            </a:extLst>
          </p:cNvPr>
          <p:cNvSpPr/>
          <p:nvPr/>
        </p:nvSpPr>
        <p:spPr>
          <a:xfrm rot="16200000">
            <a:off x="4352985" y="3665680"/>
            <a:ext cx="1035513" cy="24222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fr-FR" sz="1100" dirty="0" err="1">
                <a:solidFill>
                  <a:schemeClr val="bg1">
                    <a:lumMod val="10000"/>
                  </a:schemeClr>
                </a:solidFill>
              </a:rPr>
              <a:t>bank.proto</a:t>
            </a:r>
            <a:endParaRPr lang="fr-FR" dirty="0">
              <a:solidFill>
                <a:schemeClr val="bg1">
                  <a:lumMod val="10000"/>
                </a:schemeClr>
              </a:solidFill>
            </a:endParaRPr>
          </a:p>
        </p:txBody>
      </p:sp>
      <p:sp>
        <p:nvSpPr>
          <p:cNvPr id="525" name="Rectangle 524">
            <a:extLst>
              <a:ext uri="{FF2B5EF4-FFF2-40B4-BE49-F238E27FC236}">
                <a16:creationId xmlns:a16="http://schemas.microsoft.com/office/drawing/2014/main" id="{BA89F10C-4A6D-5A58-638B-96189C4520D9}"/>
              </a:ext>
            </a:extLst>
          </p:cNvPr>
          <p:cNvSpPr/>
          <p:nvPr/>
        </p:nvSpPr>
        <p:spPr>
          <a:xfrm rot="16200000">
            <a:off x="4951161" y="3665679"/>
            <a:ext cx="1035513" cy="242225"/>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solidFill>
              <a:schemeClr val="bg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fr-FR" sz="1100" dirty="0">
                <a:solidFill>
                  <a:schemeClr val="accent2"/>
                </a:solidFill>
              </a:rPr>
              <a:t>Protoc-</a:t>
            </a:r>
            <a:r>
              <a:rPr lang="fr-FR" sz="1100" dirty="0" err="1">
                <a:solidFill>
                  <a:schemeClr val="accent2"/>
                </a:solidFill>
              </a:rPr>
              <a:t>gen</a:t>
            </a:r>
            <a:endParaRPr lang="fr-FR" dirty="0">
              <a:solidFill>
                <a:schemeClr val="accent2"/>
              </a:solidFill>
            </a:endParaRPr>
          </a:p>
        </p:txBody>
      </p:sp>
      <p:sp>
        <p:nvSpPr>
          <p:cNvPr id="526" name="Rectangle 525">
            <a:extLst>
              <a:ext uri="{FF2B5EF4-FFF2-40B4-BE49-F238E27FC236}">
                <a16:creationId xmlns:a16="http://schemas.microsoft.com/office/drawing/2014/main" id="{B93875E0-6EF9-05B3-0C7B-159D8F879161}"/>
              </a:ext>
            </a:extLst>
          </p:cNvPr>
          <p:cNvSpPr/>
          <p:nvPr/>
        </p:nvSpPr>
        <p:spPr>
          <a:xfrm rot="16200000">
            <a:off x="5647936" y="3643082"/>
            <a:ext cx="1035513" cy="242225"/>
          </a:xfrm>
          <a:prstGeom prst="rect">
            <a:avLst/>
          </a:prstGeom>
          <a:solidFill>
            <a:srgbClr val="FB9705"/>
          </a:solidFill>
          <a:ln/>
        </p:spPr>
        <p:style>
          <a:lnRef idx="0">
            <a:schemeClr val="dk1"/>
          </a:lnRef>
          <a:fillRef idx="3">
            <a:schemeClr val="dk1"/>
          </a:fillRef>
          <a:effectRef idx="3">
            <a:schemeClr val="dk1"/>
          </a:effectRef>
          <a:fontRef idx="minor">
            <a:schemeClr val="lt1"/>
          </a:fontRef>
        </p:style>
        <p:txBody>
          <a:bodyPr rtlCol="0" anchor="ctr"/>
          <a:lstStyle/>
          <a:p>
            <a:pPr algn="ctr"/>
            <a:r>
              <a:rPr lang="fr-FR" sz="1100" dirty="0" err="1">
                <a:solidFill>
                  <a:schemeClr val="bg1">
                    <a:lumMod val="10000"/>
                  </a:schemeClr>
                </a:solidFill>
              </a:rPr>
              <a:t>gRPC</a:t>
            </a:r>
            <a:r>
              <a:rPr lang="fr-FR" sz="1100" dirty="0">
                <a:solidFill>
                  <a:schemeClr val="bg1">
                    <a:lumMod val="10000"/>
                  </a:schemeClr>
                </a:solidFill>
              </a:rPr>
              <a:t> STUB</a:t>
            </a:r>
            <a:endParaRPr lang="fr-FR" dirty="0">
              <a:solidFill>
                <a:schemeClr val="bg1">
                  <a:lumMod val="10000"/>
                </a:schemeClr>
              </a:solidFill>
            </a:endParaRPr>
          </a:p>
        </p:txBody>
      </p:sp>
      <p:cxnSp>
        <p:nvCxnSpPr>
          <p:cNvPr id="527" name="Connecteur droit avec flèche 526">
            <a:extLst>
              <a:ext uri="{FF2B5EF4-FFF2-40B4-BE49-F238E27FC236}">
                <a16:creationId xmlns:a16="http://schemas.microsoft.com/office/drawing/2014/main" id="{5C0C2E4E-A615-D21E-6F94-2F0169657BBD}"/>
              </a:ext>
            </a:extLst>
          </p:cNvPr>
          <p:cNvCxnSpPr>
            <a:cxnSpLocks/>
            <a:endCxn id="526" idx="0"/>
          </p:cNvCxnSpPr>
          <p:nvPr/>
        </p:nvCxnSpPr>
        <p:spPr>
          <a:xfrm flipV="1">
            <a:off x="5610694" y="3764194"/>
            <a:ext cx="433886" cy="10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28" name="Rectangle 527">
            <a:extLst>
              <a:ext uri="{FF2B5EF4-FFF2-40B4-BE49-F238E27FC236}">
                <a16:creationId xmlns:a16="http://schemas.microsoft.com/office/drawing/2014/main" id="{DF8563FA-48F5-FB48-5688-48EEFBF881E9}"/>
              </a:ext>
            </a:extLst>
          </p:cNvPr>
          <p:cNvSpPr/>
          <p:nvPr/>
        </p:nvSpPr>
        <p:spPr>
          <a:xfrm>
            <a:off x="6371587" y="3215876"/>
            <a:ext cx="1417964" cy="932561"/>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fr-FR" dirty="0"/>
          </a:p>
        </p:txBody>
      </p:sp>
      <p:sp>
        <p:nvSpPr>
          <p:cNvPr id="530" name="Flèche : gauche 529">
            <a:extLst>
              <a:ext uri="{FF2B5EF4-FFF2-40B4-BE49-F238E27FC236}">
                <a16:creationId xmlns:a16="http://schemas.microsoft.com/office/drawing/2014/main" id="{430C558C-7EC3-5398-8FE9-8A2F61D12209}"/>
              </a:ext>
            </a:extLst>
          </p:cNvPr>
          <p:cNvSpPr/>
          <p:nvPr/>
        </p:nvSpPr>
        <p:spPr>
          <a:xfrm>
            <a:off x="7452496" y="3810006"/>
            <a:ext cx="188508" cy="288000"/>
          </a:xfrm>
          <a:prstGeom prst="leftArrow">
            <a:avLst/>
          </a:prstGeom>
          <a:solidFill>
            <a:srgbClr val="FB970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531" name="Flèche : gauche 530">
            <a:extLst>
              <a:ext uri="{FF2B5EF4-FFF2-40B4-BE49-F238E27FC236}">
                <a16:creationId xmlns:a16="http://schemas.microsoft.com/office/drawing/2014/main" id="{2E435839-E758-F926-41CD-1813DECCEA3A}"/>
              </a:ext>
            </a:extLst>
          </p:cNvPr>
          <p:cNvSpPr/>
          <p:nvPr/>
        </p:nvSpPr>
        <p:spPr>
          <a:xfrm>
            <a:off x="7209695" y="3803955"/>
            <a:ext cx="188508" cy="288000"/>
          </a:xfrm>
          <a:prstGeom prst="leftArrow">
            <a:avLst/>
          </a:prstGeom>
          <a:solidFill>
            <a:srgbClr val="FB970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532" name="Flèche : gauche 531">
            <a:extLst>
              <a:ext uri="{FF2B5EF4-FFF2-40B4-BE49-F238E27FC236}">
                <a16:creationId xmlns:a16="http://schemas.microsoft.com/office/drawing/2014/main" id="{E07070B2-86D1-7F2F-AFC1-2C531F1CE1C0}"/>
              </a:ext>
            </a:extLst>
          </p:cNvPr>
          <p:cNvSpPr/>
          <p:nvPr/>
        </p:nvSpPr>
        <p:spPr>
          <a:xfrm>
            <a:off x="6975500" y="3803955"/>
            <a:ext cx="188508" cy="288000"/>
          </a:xfrm>
          <a:prstGeom prst="leftArrow">
            <a:avLst/>
          </a:prstGeom>
          <a:solidFill>
            <a:srgbClr val="FB970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533" name="Flèche : gauche 532">
            <a:extLst>
              <a:ext uri="{FF2B5EF4-FFF2-40B4-BE49-F238E27FC236}">
                <a16:creationId xmlns:a16="http://schemas.microsoft.com/office/drawing/2014/main" id="{C8F617D5-30DF-673C-697D-99C81281C737}"/>
              </a:ext>
            </a:extLst>
          </p:cNvPr>
          <p:cNvSpPr/>
          <p:nvPr/>
        </p:nvSpPr>
        <p:spPr>
          <a:xfrm>
            <a:off x="6689509" y="3803955"/>
            <a:ext cx="188508" cy="288000"/>
          </a:xfrm>
          <a:prstGeom prst="leftArrow">
            <a:avLst/>
          </a:prstGeom>
          <a:solidFill>
            <a:srgbClr val="FB970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534" name="Flèche : gauche 533">
            <a:extLst>
              <a:ext uri="{FF2B5EF4-FFF2-40B4-BE49-F238E27FC236}">
                <a16:creationId xmlns:a16="http://schemas.microsoft.com/office/drawing/2014/main" id="{E542AA26-2D6D-87E2-03C2-260731B979ED}"/>
              </a:ext>
            </a:extLst>
          </p:cNvPr>
          <p:cNvSpPr/>
          <p:nvPr/>
        </p:nvSpPr>
        <p:spPr>
          <a:xfrm>
            <a:off x="6410411" y="3803955"/>
            <a:ext cx="188508" cy="288000"/>
          </a:xfrm>
          <a:prstGeom prst="leftArrow">
            <a:avLst/>
          </a:prstGeom>
          <a:solidFill>
            <a:srgbClr val="FB970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535" name="Flèche : droite 534">
            <a:extLst>
              <a:ext uri="{FF2B5EF4-FFF2-40B4-BE49-F238E27FC236}">
                <a16:creationId xmlns:a16="http://schemas.microsoft.com/office/drawing/2014/main" id="{F1C99C3B-EF24-DBB9-E93C-F64715271276}"/>
              </a:ext>
            </a:extLst>
          </p:cNvPr>
          <p:cNvSpPr/>
          <p:nvPr/>
        </p:nvSpPr>
        <p:spPr>
          <a:xfrm>
            <a:off x="1895768" y="3342711"/>
            <a:ext cx="187200" cy="288000"/>
          </a:xfrm>
          <a:prstGeom prst="rightArrow">
            <a:avLst/>
          </a:prstGeom>
          <a:solidFill>
            <a:srgbClr val="FB970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36" name="Flèche : droite 535">
            <a:extLst>
              <a:ext uri="{FF2B5EF4-FFF2-40B4-BE49-F238E27FC236}">
                <a16:creationId xmlns:a16="http://schemas.microsoft.com/office/drawing/2014/main" id="{CF6E9E97-DAE7-6B4E-A694-9520F4503EB5}"/>
              </a:ext>
            </a:extLst>
          </p:cNvPr>
          <p:cNvSpPr/>
          <p:nvPr/>
        </p:nvSpPr>
        <p:spPr>
          <a:xfrm>
            <a:off x="2150937" y="3342711"/>
            <a:ext cx="187200" cy="288000"/>
          </a:xfrm>
          <a:prstGeom prst="rightArrow">
            <a:avLst/>
          </a:prstGeom>
          <a:solidFill>
            <a:srgbClr val="FB970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37" name="Flèche : droite 536">
            <a:extLst>
              <a:ext uri="{FF2B5EF4-FFF2-40B4-BE49-F238E27FC236}">
                <a16:creationId xmlns:a16="http://schemas.microsoft.com/office/drawing/2014/main" id="{F97FBF39-D36B-11E9-E2C6-6143C604529A}"/>
              </a:ext>
            </a:extLst>
          </p:cNvPr>
          <p:cNvSpPr/>
          <p:nvPr/>
        </p:nvSpPr>
        <p:spPr>
          <a:xfrm>
            <a:off x="2405512" y="3349791"/>
            <a:ext cx="187200" cy="288000"/>
          </a:xfrm>
          <a:prstGeom prst="rightArrow">
            <a:avLst/>
          </a:prstGeom>
          <a:solidFill>
            <a:srgbClr val="FB970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38" name="Flèche : droite 537">
            <a:extLst>
              <a:ext uri="{FF2B5EF4-FFF2-40B4-BE49-F238E27FC236}">
                <a16:creationId xmlns:a16="http://schemas.microsoft.com/office/drawing/2014/main" id="{A04CC0E9-22BD-0353-329D-9587D67AC86C}"/>
              </a:ext>
            </a:extLst>
          </p:cNvPr>
          <p:cNvSpPr/>
          <p:nvPr/>
        </p:nvSpPr>
        <p:spPr>
          <a:xfrm>
            <a:off x="2695832" y="3349791"/>
            <a:ext cx="187200" cy="288000"/>
          </a:xfrm>
          <a:prstGeom prst="rightArrow">
            <a:avLst/>
          </a:prstGeom>
          <a:solidFill>
            <a:srgbClr val="FB970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39" name="Flèche : droite 538">
            <a:extLst>
              <a:ext uri="{FF2B5EF4-FFF2-40B4-BE49-F238E27FC236}">
                <a16:creationId xmlns:a16="http://schemas.microsoft.com/office/drawing/2014/main" id="{84A447C6-0C7A-339D-DE10-E97DA0D9021E}"/>
              </a:ext>
            </a:extLst>
          </p:cNvPr>
          <p:cNvSpPr/>
          <p:nvPr/>
        </p:nvSpPr>
        <p:spPr>
          <a:xfrm>
            <a:off x="2972843" y="3349791"/>
            <a:ext cx="187200" cy="288000"/>
          </a:xfrm>
          <a:prstGeom prst="rightArrow">
            <a:avLst/>
          </a:prstGeom>
          <a:solidFill>
            <a:srgbClr val="FB970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40" name="Flèche : droite 539">
            <a:extLst>
              <a:ext uri="{FF2B5EF4-FFF2-40B4-BE49-F238E27FC236}">
                <a16:creationId xmlns:a16="http://schemas.microsoft.com/office/drawing/2014/main" id="{268EB322-E2BC-9707-CD28-AED0AB651BC5}"/>
              </a:ext>
            </a:extLst>
          </p:cNvPr>
          <p:cNvSpPr/>
          <p:nvPr/>
        </p:nvSpPr>
        <p:spPr>
          <a:xfrm>
            <a:off x="6456666" y="3319490"/>
            <a:ext cx="187200" cy="288000"/>
          </a:xfrm>
          <a:prstGeom prst="rightArrow">
            <a:avLst/>
          </a:prstGeom>
          <a:solidFill>
            <a:srgbClr val="FB970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41" name="Flèche : droite 540">
            <a:extLst>
              <a:ext uri="{FF2B5EF4-FFF2-40B4-BE49-F238E27FC236}">
                <a16:creationId xmlns:a16="http://schemas.microsoft.com/office/drawing/2014/main" id="{1F28A143-572D-8228-AC41-8893FD6E2018}"/>
              </a:ext>
            </a:extLst>
          </p:cNvPr>
          <p:cNvSpPr/>
          <p:nvPr/>
        </p:nvSpPr>
        <p:spPr>
          <a:xfrm>
            <a:off x="6711835" y="3319490"/>
            <a:ext cx="187200" cy="288000"/>
          </a:xfrm>
          <a:prstGeom prst="rightArrow">
            <a:avLst/>
          </a:prstGeom>
          <a:solidFill>
            <a:srgbClr val="FB970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42" name="Flèche : droite 541">
            <a:extLst>
              <a:ext uri="{FF2B5EF4-FFF2-40B4-BE49-F238E27FC236}">
                <a16:creationId xmlns:a16="http://schemas.microsoft.com/office/drawing/2014/main" id="{BA70E20B-0EAE-25CB-4082-327B3AB24C2F}"/>
              </a:ext>
            </a:extLst>
          </p:cNvPr>
          <p:cNvSpPr/>
          <p:nvPr/>
        </p:nvSpPr>
        <p:spPr>
          <a:xfrm>
            <a:off x="6966410" y="3326570"/>
            <a:ext cx="187200" cy="288000"/>
          </a:xfrm>
          <a:prstGeom prst="rightArrow">
            <a:avLst/>
          </a:prstGeom>
          <a:solidFill>
            <a:srgbClr val="FB970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43" name="Flèche : droite 542">
            <a:extLst>
              <a:ext uri="{FF2B5EF4-FFF2-40B4-BE49-F238E27FC236}">
                <a16:creationId xmlns:a16="http://schemas.microsoft.com/office/drawing/2014/main" id="{CA22EFDE-CB1D-96A4-7066-58F40DCC6D5A}"/>
              </a:ext>
            </a:extLst>
          </p:cNvPr>
          <p:cNvSpPr/>
          <p:nvPr/>
        </p:nvSpPr>
        <p:spPr>
          <a:xfrm>
            <a:off x="7256730" y="3326570"/>
            <a:ext cx="187200" cy="288000"/>
          </a:xfrm>
          <a:prstGeom prst="rightArrow">
            <a:avLst/>
          </a:prstGeom>
          <a:solidFill>
            <a:srgbClr val="FB970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44" name="Flèche : droite 543">
            <a:extLst>
              <a:ext uri="{FF2B5EF4-FFF2-40B4-BE49-F238E27FC236}">
                <a16:creationId xmlns:a16="http://schemas.microsoft.com/office/drawing/2014/main" id="{B793CB56-23FC-257A-F955-95F04287D40F}"/>
              </a:ext>
            </a:extLst>
          </p:cNvPr>
          <p:cNvSpPr/>
          <p:nvPr/>
        </p:nvSpPr>
        <p:spPr>
          <a:xfrm>
            <a:off x="7533741" y="3326570"/>
            <a:ext cx="187200" cy="288000"/>
          </a:xfrm>
          <a:prstGeom prst="rightArrow">
            <a:avLst/>
          </a:prstGeom>
          <a:solidFill>
            <a:srgbClr val="FB970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45" name="ZoneTexte 544">
            <a:extLst>
              <a:ext uri="{FF2B5EF4-FFF2-40B4-BE49-F238E27FC236}">
                <a16:creationId xmlns:a16="http://schemas.microsoft.com/office/drawing/2014/main" id="{E7DE8041-FE1D-A3ED-4FD5-9B63B47C0D5A}"/>
              </a:ext>
            </a:extLst>
          </p:cNvPr>
          <p:cNvSpPr txBox="1"/>
          <p:nvPr/>
        </p:nvSpPr>
        <p:spPr>
          <a:xfrm>
            <a:off x="1692351" y="4428170"/>
            <a:ext cx="1717250" cy="523220"/>
          </a:xfrm>
          <a:prstGeom prst="rect">
            <a:avLst/>
          </a:prstGeom>
          <a:noFill/>
        </p:spPr>
        <p:txBody>
          <a:bodyPr wrap="square" rtlCol="0">
            <a:spAutoFit/>
          </a:bodyPr>
          <a:lstStyle/>
          <a:p>
            <a:pPr algn="ctr"/>
            <a:r>
              <a:rPr lang="fr-FR" dirty="0"/>
              <a:t>Client Streaming Model</a:t>
            </a:r>
          </a:p>
        </p:txBody>
      </p:sp>
      <p:sp>
        <p:nvSpPr>
          <p:cNvPr id="546" name="ZoneTexte 545">
            <a:extLst>
              <a:ext uri="{FF2B5EF4-FFF2-40B4-BE49-F238E27FC236}">
                <a16:creationId xmlns:a16="http://schemas.microsoft.com/office/drawing/2014/main" id="{993B7C4C-5266-792A-F6FD-B0E6B16D7004}"/>
              </a:ext>
            </a:extLst>
          </p:cNvPr>
          <p:cNvSpPr txBox="1"/>
          <p:nvPr/>
        </p:nvSpPr>
        <p:spPr>
          <a:xfrm>
            <a:off x="5813410" y="4464510"/>
            <a:ext cx="2477018" cy="523220"/>
          </a:xfrm>
          <a:prstGeom prst="rect">
            <a:avLst/>
          </a:prstGeom>
          <a:noFill/>
        </p:spPr>
        <p:txBody>
          <a:bodyPr wrap="square" rtlCol="0">
            <a:spAutoFit/>
          </a:bodyPr>
          <a:lstStyle/>
          <a:p>
            <a:pPr algn="ctr"/>
            <a:r>
              <a:rPr lang="fr-FR" dirty="0"/>
              <a:t>Bi-</a:t>
            </a:r>
            <a:r>
              <a:rPr lang="fr-FR" dirty="0" err="1"/>
              <a:t>Directional</a:t>
            </a:r>
            <a:r>
              <a:rPr lang="fr-FR" dirty="0"/>
              <a:t> Streaming Model</a:t>
            </a:r>
          </a:p>
        </p:txBody>
      </p:sp>
      <p:sp>
        <p:nvSpPr>
          <p:cNvPr id="558" name="Google Shape;492;p52">
            <a:extLst>
              <a:ext uri="{FF2B5EF4-FFF2-40B4-BE49-F238E27FC236}">
                <a16:creationId xmlns:a16="http://schemas.microsoft.com/office/drawing/2014/main" id="{4583E758-F5B0-385F-15D4-AE64F98039BE}"/>
              </a:ext>
            </a:extLst>
          </p:cNvPr>
          <p:cNvSpPr txBox="1">
            <a:spLocks noGrp="1"/>
          </p:cNvSpPr>
          <p:nvPr>
            <p:ph type="title"/>
          </p:nvPr>
        </p:nvSpPr>
        <p:spPr>
          <a:xfrm>
            <a:off x="928602" y="151750"/>
            <a:ext cx="6123317" cy="389578"/>
          </a:xfrm>
          <a:prstGeom prst="rect">
            <a:avLst/>
          </a:prstGeom>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dirty="0"/>
              <a:t>Kommunikationsmodelle mit </a:t>
            </a:r>
            <a:r>
              <a:rPr lang="fr-FR" sz="1800" dirty="0" err="1"/>
              <a:t>gRPC</a:t>
            </a:r>
            <a:r>
              <a:rPr lang="en" sz="1800" dirty="0"/>
              <a:t>: 4 Modelle</a:t>
            </a:r>
            <a:endParaRPr sz="1800" dirty="0"/>
          </a:p>
        </p:txBody>
      </p:sp>
    </p:spTree>
    <p:extLst>
      <p:ext uri="{BB962C8B-B14F-4D97-AF65-F5344CB8AC3E}">
        <p14:creationId xmlns:p14="http://schemas.microsoft.com/office/powerpoint/2010/main" val="37280994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8" name="ZoneTexte 1057">
            <a:extLst>
              <a:ext uri="{FF2B5EF4-FFF2-40B4-BE49-F238E27FC236}">
                <a16:creationId xmlns:a16="http://schemas.microsoft.com/office/drawing/2014/main" id="{C0789B61-A019-6170-4340-D77C34F6C5E2}"/>
              </a:ext>
            </a:extLst>
          </p:cNvPr>
          <p:cNvSpPr txBox="1"/>
          <p:nvPr/>
        </p:nvSpPr>
        <p:spPr>
          <a:xfrm>
            <a:off x="3754489" y="96892"/>
            <a:ext cx="5347121" cy="4995894"/>
          </a:xfrm>
          <a:prstGeom prst="rect">
            <a:avLst/>
          </a:prstGeom>
          <a:noFill/>
          <a:ln>
            <a:solidFill>
              <a:schemeClr val="tx2"/>
            </a:solidFill>
          </a:ln>
        </p:spPr>
        <p:txBody>
          <a:bodyPr wrap="square" rtlCol="0">
            <a:spAutoFit/>
          </a:bodyPr>
          <a:lstStyle/>
          <a:p>
            <a:endParaRPr lang="fr-FR" dirty="0"/>
          </a:p>
        </p:txBody>
      </p:sp>
      <p:pic>
        <p:nvPicPr>
          <p:cNvPr id="1059" name="Picture 2" descr="Settings PNG Transparent Images | PNG All">
            <a:extLst>
              <a:ext uri="{FF2B5EF4-FFF2-40B4-BE49-F238E27FC236}">
                <a16:creationId xmlns:a16="http://schemas.microsoft.com/office/drawing/2014/main" id="{D77C806F-E94F-257E-A9FD-95A1BDB9A7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61626" y="1363373"/>
            <a:ext cx="947928" cy="869841"/>
          </a:xfrm>
          <a:prstGeom prst="rect">
            <a:avLst/>
          </a:prstGeom>
          <a:noFill/>
          <a:extLst>
            <a:ext uri="{909E8E84-426E-40DD-AFC4-6F175D3DCCD1}">
              <a14:hiddenFill xmlns:a14="http://schemas.microsoft.com/office/drawing/2010/main">
                <a:solidFill>
                  <a:srgbClr val="FFFFFF"/>
                </a:solidFill>
              </a14:hiddenFill>
            </a:ext>
          </a:extLst>
        </p:spPr>
      </p:pic>
      <p:sp>
        <p:nvSpPr>
          <p:cNvPr id="1060" name="Flèche : courbe vers la gauche 1059">
            <a:extLst>
              <a:ext uri="{FF2B5EF4-FFF2-40B4-BE49-F238E27FC236}">
                <a16:creationId xmlns:a16="http://schemas.microsoft.com/office/drawing/2014/main" id="{9944D8CD-F567-967E-DAFE-E22817601B0C}"/>
              </a:ext>
            </a:extLst>
          </p:cNvPr>
          <p:cNvSpPr/>
          <p:nvPr/>
        </p:nvSpPr>
        <p:spPr>
          <a:xfrm>
            <a:off x="5970851" y="1162683"/>
            <a:ext cx="454172" cy="1320126"/>
          </a:xfrm>
          <a:prstGeom prst="curved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1061" name="Organigramme : Disque magnétique 1060">
            <a:extLst>
              <a:ext uri="{FF2B5EF4-FFF2-40B4-BE49-F238E27FC236}">
                <a16:creationId xmlns:a16="http://schemas.microsoft.com/office/drawing/2014/main" id="{C8FD9A6A-18EA-BE05-623E-13CE8F23978F}"/>
              </a:ext>
            </a:extLst>
          </p:cNvPr>
          <p:cNvSpPr/>
          <p:nvPr/>
        </p:nvSpPr>
        <p:spPr>
          <a:xfrm>
            <a:off x="5062501" y="327001"/>
            <a:ext cx="2852202" cy="399672"/>
          </a:xfrm>
          <a:prstGeom prst="flowChartMagneticDisk">
            <a:avLst/>
          </a:prstGeom>
          <a:solidFill>
            <a:srgbClr val="65E3AA"/>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solidFill>
                  <a:srgbClr val="000000"/>
                </a:solidFill>
              </a:rPr>
              <a:t>bank.proto</a:t>
            </a:r>
          </a:p>
        </p:txBody>
      </p:sp>
      <p:pic>
        <p:nvPicPr>
          <p:cNvPr id="1062" name="Picture 2" descr="Settings PNG Transparent Images | PNG All">
            <a:extLst>
              <a:ext uri="{FF2B5EF4-FFF2-40B4-BE49-F238E27FC236}">
                <a16:creationId xmlns:a16="http://schemas.microsoft.com/office/drawing/2014/main" id="{899F3879-913D-5DF6-7CB7-7B5B1520AC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82754" y="1352270"/>
            <a:ext cx="947928" cy="869841"/>
          </a:xfrm>
          <a:prstGeom prst="rect">
            <a:avLst/>
          </a:prstGeom>
          <a:noFill/>
          <a:extLst>
            <a:ext uri="{909E8E84-426E-40DD-AFC4-6F175D3DCCD1}">
              <a14:hiddenFill xmlns:a14="http://schemas.microsoft.com/office/drawing/2010/main">
                <a:solidFill>
                  <a:srgbClr val="FFFFFF"/>
                </a:solidFill>
              </a14:hiddenFill>
            </a:ext>
          </a:extLst>
        </p:spPr>
      </p:pic>
      <p:sp>
        <p:nvSpPr>
          <p:cNvPr id="1063" name="Flèche : courbe vers la gauche 1062">
            <a:extLst>
              <a:ext uri="{FF2B5EF4-FFF2-40B4-BE49-F238E27FC236}">
                <a16:creationId xmlns:a16="http://schemas.microsoft.com/office/drawing/2014/main" id="{A3A154F7-92EE-DDC9-34E7-3820A3387C37}"/>
              </a:ext>
            </a:extLst>
          </p:cNvPr>
          <p:cNvSpPr/>
          <p:nvPr/>
        </p:nvSpPr>
        <p:spPr>
          <a:xfrm>
            <a:off x="7291979" y="1151580"/>
            <a:ext cx="454172" cy="1320126"/>
          </a:xfrm>
          <a:prstGeom prst="curved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cxnSp>
        <p:nvCxnSpPr>
          <p:cNvPr id="1064" name="Connecteur droit avec flèche 1063">
            <a:extLst>
              <a:ext uri="{FF2B5EF4-FFF2-40B4-BE49-F238E27FC236}">
                <a16:creationId xmlns:a16="http://schemas.microsoft.com/office/drawing/2014/main" id="{FA5F60FB-0EC5-DCFD-71BE-CCE5D7699E9D}"/>
              </a:ext>
            </a:extLst>
          </p:cNvPr>
          <p:cNvCxnSpPr/>
          <p:nvPr/>
        </p:nvCxnSpPr>
        <p:spPr>
          <a:xfrm>
            <a:off x="5758903" y="726673"/>
            <a:ext cx="0" cy="6255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65" name="Connecteur droit avec flèche 1064">
            <a:extLst>
              <a:ext uri="{FF2B5EF4-FFF2-40B4-BE49-F238E27FC236}">
                <a16:creationId xmlns:a16="http://schemas.microsoft.com/office/drawing/2014/main" id="{0ED0F6CC-039E-C32D-3385-DAB070207536}"/>
              </a:ext>
            </a:extLst>
          </p:cNvPr>
          <p:cNvCxnSpPr/>
          <p:nvPr/>
        </p:nvCxnSpPr>
        <p:spPr>
          <a:xfrm>
            <a:off x="7098203" y="727682"/>
            <a:ext cx="0" cy="6255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66" name="Rectangle 1065">
            <a:extLst>
              <a:ext uri="{FF2B5EF4-FFF2-40B4-BE49-F238E27FC236}">
                <a16:creationId xmlns:a16="http://schemas.microsoft.com/office/drawing/2014/main" id="{6254DAC5-B491-7518-884E-E3CA79C81E2D}"/>
              </a:ext>
            </a:extLst>
          </p:cNvPr>
          <p:cNvSpPr/>
          <p:nvPr/>
        </p:nvSpPr>
        <p:spPr>
          <a:xfrm>
            <a:off x="3834915" y="2846157"/>
            <a:ext cx="1705022" cy="2022568"/>
          </a:xfrm>
          <a:prstGeom prst="rect">
            <a:avLst/>
          </a:prstGeom>
          <a:ln>
            <a:solidFill>
              <a:schemeClr val="bg1"/>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fr-FR" sz="1100" dirty="0">
              <a:solidFill>
                <a:schemeClr val="bg1">
                  <a:lumMod val="10000"/>
                </a:schemeClr>
              </a:solidFill>
            </a:endParaRPr>
          </a:p>
        </p:txBody>
      </p:sp>
      <p:sp>
        <p:nvSpPr>
          <p:cNvPr id="1067" name="Rectangle 1066">
            <a:extLst>
              <a:ext uri="{FF2B5EF4-FFF2-40B4-BE49-F238E27FC236}">
                <a16:creationId xmlns:a16="http://schemas.microsoft.com/office/drawing/2014/main" id="{8D4C46F8-83AA-5A99-96EF-ACC98CAC347A}"/>
              </a:ext>
            </a:extLst>
          </p:cNvPr>
          <p:cNvSpPr/>
          <p:nvPr/>
        </p:nvSpPr>
        <p:spPr>
          <a:xfrm>
            <a:off x="3821092" y="2617001"/>
            <a:ext cx="1718846" cy="242225"/>
          </a:xfrm>
          <a:prstGeom prst="rect">
            <a:avLst/>
          </a:prstGeom>
          <a:solidFill>
            <a:srgbClr val="00B0F0"/>
          </a:solidFill>
          <a:ln>
            <a:solidFill>
              <a:schemeClr val="bg1"/>
            </a:solidFill>
          </a:ln>
        </p:spPr>
        <p:style>
          <a:lnRef idx="1">
            <a:schemeClr val="dk1"/>
          </a:lnRef>
          <a:fillRef idx="2">
            <a:schemeClr val="dk1"/>
          </a:fillRef>
          <a:effectRef idx="1">
            <a:schemeClr val="dk1"/>
          </a:effectRef>
          <a:fontRef idx="minor">
            <a:schemeClr val="dk1"/>
          </a:fontRef>
        </p:style>
        <p:txBody>
          <a:bodyPr rtlCol="0" anchor="ctr"/>
          <a:lstStyle/>
          <a:p>
            <a:pPr algn="ctr"/>
            <a:r>
              <a:rPr lang="fr-FR" sz="1100" dirty="0">
                <a:solidFill>
                  <a:srgbClr val="000000"/>
                </a:solidFill>
              </a:rPr>
              <a:t>Java Client</a:t>
            </a:r>
            <a:endParaRPr lang="fr-FR" dirty="0">
              <a:solidFill>
                <a:srgbClr val="000000"/>
              </a:solidFill>
            </a:endParaRPr>
          </a:p>
        </p:txBody>
      </p:sp>
      <p:sp>
        <p:nvSpPr>
          <p:cNvPr id="1068" name="Rectangle 1067">
            <a:extLst>
              <a:ext uri="{FF2B5EF4-FFF2-40B4-BE49-F238E27FC236}">
                <a16:creationId xmlns:a16="http://schemas.microsoft.com/office/drawing/2014/main" id="{65F9DE47-8AC6-60C1-2F76-17934096BF4A}"/>
              </a:ext>
            </a:extLst>
          </p:cNvPr>
          <p:cNvSpPr/>
          <p:nvPr/>
        </p:nvSpPr>
        <p:spPr>
          <a:xfrm rot="16200000">
            <a:off x="4674952" y="3572824"/>
            <a:ext cx="2251728" cy="340073"/>
          </a:xfrm>
          <a:prstGeom prst="rect">
            <a:avLst/>
          </a:prstGeom>
          <a:solidFill>
            <a:srgbClr val="D1FFA1"/>
          </a:solidFill>
          <a:ln/>
        </p:spPr>
        <p:style>
          <a:lnRef idx="0">
            <a:schemeClr val="dk1"/>
          </a:lnRef>
          <a:fillRef idx="3">
            <a:schemeClr val="dk1"/>
          </a:fillRef>
          <a:effectRef idx="3">
            <a:schemeClr val="dk1"/>
          </a:effectRef>
          <a:fontRef idx="minor">
            <a:schemeClr val="lt1"/>
          </a:fontRef>
        </p:style>
        <p:txBody>
          <a:bodyPr rtlCol="0" anchor="ctr"/>
          <a:lstStyle/>
          <a:p>
            <a:pPr algn="ctr"/>
            <a:r>
              <a:rPr lang="fr-FR" sz="1100" dirty="0">
                <a:solidFill>
                  <a:schemeClr val="bg1">
                    <a:lumMod val="10000"/>
                  </a:schemeClr>
                </a:solidFill>
              </a:rPr>
              <a:t>Java Stub Code</a:t>
            </a:r>
            <a:endParaRPr lang="fr-FR" dirty="0">
              <a:solidFill>
                <a:schemeClr val="bg1">
                  <a:lumMod val="10000"/>
                </a:schemeClr>
              </a:solidFill>
            </a:endParaRPr>
          </a:p>
        </p:txBody>
      </p:sp>
      <p:cxnSp>
        <p:nvCxnSpPr>
          <p:cNvPr id="1069" name="Connecteur droit avec flèche 1068">
            <a:extLst>
              <a:ext uri="{FF2B5EF4-FFF2-40B4-BE49-F238E27FC236}">
                <a16:creationId xmlns:a16="http://schemas.microsoft.com/office/drawing/2014/main" id="{96F188ED-1B5D-FEFE-3010-FD6656189428}"/>
              </a:ext>
            </a:extLst>
          </p:cNvPr>
          <p:cNvCxnSpPr>
            <a:cxnSpLocks/>
          </p:cNvCxnSpPr>
          <p:nvPr/>
        </p:nvCxnSpPr>
        <p:spPr>
          <a:xfrm>
            <a:off x="5796245" y="2222111"/>
            <a:ext cx="0" cy="3301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70" name="Rectangle 1069">
            <a:extLst>
              <a:ext uri="{FF2B5EF4-FFF2-40B4-BE49-F238E27FC236}">
                <a16:creationId xmlns:a16="http://schemas.microsoft.com/office/drawing/2014/main" id="{628A0A73-4120-2489-3B97-AB9FDE45B514}"/>
              </a:ext>
            </a:extLst>
          </p:cNvPr>
          <p:cNvSpPr/>
          <p:nvPr/>
        </p:nvSpPr>
        <p:spPr>
          <a:xfrm>
            <a:off x="7348196" y="2847164"/>
            <a:ext cx="1705022" cy="2021561"/>
          </a:xfrm>
          <a:prstGeom prst="rect">
            <a:avLst/>
          </a:prstGeom>
          <a:ln>
            <a:solidFill>
              <a:schemeClr val="bg1"/>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fr-FR" sz="1100" dirty="0">
              <a:solidFill>
                <a:schemeClr val="bg1">
                  <a:lumMod val="10000"/>
                </a:schemeClr>
              </a:solidFill>
            </a:endParaRPr>
          </a:p>
        </p:txBody>
      </p:sp>
      <p:sp>
        <p:nvSpPr>
          <p:cNvPr id="1071" name="Rectangle 1070">
            <a:extLst>
              <a:ext uri="{FF2B5EF4-FFF2-40B4-BE49-F238E27FC236}">
                <a16:creationId xmlns:a16="http://schemas.microsoft.com/office/drawing/2014/main" id="{1FC53F46-0C2C-924E-C70C-0E427E814732}"/>
              </a:ext>
            </a:extLst>
          </p:cNvPr>
          <p:cNvSpPr/>
          <p:nvPr/>
        </p:nvSpPr>
        <p:spPr>
          <a:xfrm>
            <a:off x="7334373" y="2618008"/>
            <a:ext cx="1718846" cy="242225"/>
          </a:xfrm>
          <a:prstGeom prst="rect">
            <a:avLst/>
          </a:prstGeom>
          <a:solidFill>
            <a:srgbClr val="00B0F0"/>
          </a:solidFill>
          <a:ln>
            <a:solidFill>
              <a:schemeClr val="bg1"/>
            </a:solidFill>
          </a:ln>
        </p:spPr>
        <p:style>
          <a:lnRef idx="1">
            <a:schemeClr val="dk1"/>
          </a:lnRef>
          <a:fillRef idx="2">
            <a:schemeClr val="dk1"/>
          </a:fillRef>
          <a:effectRef idx="1">
            <a:schemeClr val="dk1"/>
          </a:effectRef>
          <a:fontRef idx="minor">
            <a:schemeClr val="dk1"/>
          </a:fontRef>
        </p:style>
        <p:txBody>
          <a:bodyPr rtlCol="0" anchor="ctr"/>
          <a:lstStyle/>
          <a:p>
            <a:pPr algn="ctr"/>
            <a:r>
              <a:rPr lang="fr-FR" sz="1400" dirty="0">
                <a:solidFill>
                  <a:srgbClr val="000000"/>
                </a:solidFill>
              </a:rPr>
              <a:t>C++ Server</a:t>
            </a:r>
            <a:endParaRPr lang="fr-FR" dirty="0">
              <a:solidFill>
                <a:srgbClr val="000000"/>
              </a:solidFill>
            </a:endParaRPr>
          </a:p>
        </p:txBody>
      </p:sp>
      <p:sp>
        <p:nvSpPr>
          <p:cNvPr id="1072" name="Rectangle 1071">
            <a:extLst>
              <a:ext uri="{FF2B5EF4-FFF2-40B4-BE49-F238E27FC236}">
                <a16:creationId xmlns:a16="http://schemas.microsoft.com/office/drawing/2014/main" id="{3D4F41C0-0F54-E5BB-2C1A-34F5EE372CF0}"/>
              </a:ext>
            </a:extLst>
          </p:cNvPr>
          <p:cNvSpPr/>
          <p:nvPr/>
        </p:nvSpPr>
        <p:spPr>
          <a:xfrm rot="16200000">
            <a:off x="5987515" y="3576355"/>
            <a:ext cx="2244665" cy="340073"/>
          </a:xfrm>
          <a:prstGeom prst="rect">
            <a:avLst/>
          </a:prstGeom>
          <a:solidFill>
            <a:srgbClr val="D1FFA1"/>
          </a:solidFill>
          <a:ln/>
        </p:spPr>
        <p:style>
          <a:lnRef idx="0">
            <a:schemeClr val="dk1"/>
          </a:lnRef>
          <a:fillRef idx="3">
            <a:schemeClr val="dk1"/>
          </a:fillRef>
          <a:effectRef idx="3">
            <a:schemeClr val="dk1"/>
          </a:effectRef>
          <a:fontRef idx="minor">
            <a:schemeClr val="lt1"/>
          </a:fontRef>
        </p:style>
        <p:txBody>
          <a:bodyPr rtlCol="0" anchor="ctr"/>
          <a:lstStyle/>
          <a:p>
            <a:pPr algn="ctr"/>
            <a:r>
              <a:rPr lang="fr-FR" sz="1100" dirty="0">
                <a:solidFill>
                  <a:schemeClr val="bg1">
                    <a:lumMod val="10000"/>
                  </a:schemeClr>
                </a:solidFill>
              </a:rPr>
              <a:t>C++ Stub Code</a:t>
            </a:r>
            <a:endParaRPr lang="fr-FR" dirty="0">
              <a:solidFill>
                <a:schemeClr val="bg1">
                  <a:lumMod val="10000"/>
                </a:schemeClr>
              </a:solidFill>
            </a:endParaRPr>
          </a:p>
        </p:txBody>
      </p:sp>
      <p:sp>
        <p:nvSpPr>
          <p:cNvPr id="1073" name="Rectangle 1072">
            <a:extLst>
              <a:ext uri="{FF2B5EF4-FFF2-40B4-BE49-F238E27FC236}">
                <a16:creationId xmlns:a16="http://schemas.microsoft.com/office/drawing/2014/main" id="{EDF7DB07-9217-13FB-AEEF-0CE613C3D938}"/>
              </a:ext>
            </a:extLst>
          </p:cNvPr>
          <p:cNvSpPr/>
          <p:nvPr/>
        </p:nvSpPr>
        <p:spPr>
          <a:xfrm>
            <a:off x="4102700" y="3482676"/>
            <a:ext cx="1268641" cy="593224"/>
          </a:xfrm>
          <a:prstGeom prst="rect">
            <a:avLst/>
          </a:prstGeom>
          <a:ln>
            <a:solidFill>
              <a:schemeClr val="bg1"/>
            </a:solidFill>
          </a:ln>
        </p:spPr>
        <p:style>
          <a:lnRef idx="1">
            <a:schemeClr val="dk1"/>
          </a:lnRef>
          <a:fillRef idx="2">
            <a:schemeClr val="dk1"/>
          </a:fillRef>
          <a:effectRef idx="1">
            <a:schemeClr val="dk1"/>
          </a:effectRef>
          <a:fontRef idx="minor">
            <a:schemeClr val="dk1"/>
          </a:fontRef>
        </p:style>
        <p:txBody>
          <a:bodyPr rtlCol="0" anchor="ctr"/>
          <a:lstStyle/>
          <a:p>
            <a:pPr algn="ctr"/>
            <a:r>
              <a:rPr lang="fr-FR" sz="1100" dirty="0">
                <a:solidFill>
                  <a:schemeClr val="bg1">
                    <a:lumMod val="10000"/>
                  </a:schemeClr>
                </a:solidFill>
              </a:rPr>
              <a:t>Id=‘’6835…332’’</a:t>
            </a:r>
            <a:br>
              <a:rPr lang="fr-FR" sz="1100" dirty="0">
                <a:solidFill>
                  <a:schemeClr val="bg1">
                    <a:lumMod val="10000"/>
                  </a:schemeClr>
                </a:solidFill>
              </a:rPr>
            </a:br>
            <a:r>
              <a:rPr lang="fr-FR" sz="1100" dirty="0">
                <a:solidFill>
                  <a:schemeClr val="bg1">
                    <a:lumMod val="10000"/>
                  </a:schemeClr>
                </a:solidFill>
              </a:rPr>
              <a:t>Balance=100000</a:t>
            </a:r>
            <a:endParaRPr lang="fr-FR" dirty="0">
              <a:solidFill>
                <a:schemeClr val="bg1">
                  <a:lumMod val="10000"/>
                </a:schemeClr>
              </a:solidFill>
            </a:endParaRPr>
          </a:p>
        </p:txBody>
      </p:sp>
      <p:sp>
        <p:nvSpPr>
          <p:cNvPr id="1074" name="Rectangle 1073">
            <a:extLst>
              <a:ext uri="{FF2B5EF4-FFF2-40B4-BE49-F238E27FC236}">
                <a16:creationId xmlns:a16="http://schemas.microsoft.com/office/drawing/2014/main" id="{B4D90FF8-CE51-5E21-F7F5-48A65460096C}"/>
              </a:ext>
            </a:extLst>
          </p:cNvPr>
          <p:cNvSpPr/>
          <p:nvPr/>
        </p:nvSpPr>
        <p:spPr>
          <a:xfrm>
            <a:off x="4102701" y="3234214"/>
            <a:ext cx="1268640" cy="242225"/>
          </a:xfrm>
          <a:prstGeom prst="rect">
            <a:avLst/>
          </a:prstGeom>
          <a:solidFill>
            <a:srgbClr val="FB9705"/>
          </a:solidFill>
          <a:ln>
            <a:solidFill>
              <a:schemeClr val="bg1"/>
            </a:solidFill>
          </a:ln>
        </p:spPr>
        <p:style>
          <a:lnRef idx="1">
            <a:schemeClr val="dk1"/>
          </a:lnRef>
          <a:fillRef idx="2">
            <a:schemeClr val="dk1"/>
          </a:fillRef>
          <a:effectRef idx="1">
            <a:schemeClr val="dk1"/>
          </a:effectRef>
          <a:fontRef idx="minor">
            <a:schemeClr val="dk1"/>
          </a:fontRef>
        </p:style>
        <p:txBody>
          <a:bodyPr rtlCol="0" anchor="ctr"/>
          <a:lstStyle/>
          <a:p>
            <a:pPr algn="ctr"/>
            <a:r>
              <a:rPr lang="fr-FR" sz="1100" dirty="0">
                <a:solidFill>
                  <a:srgbClr val="000000"/>
                </a:solidFill>
              </a:rPr>
              <a:t>: Account</a:t>
            </a:r>
            <a:endParaRPr lang="fr-FR" dirty="0">
              <a:solidFill>
                <a:srgbClr val="000000"/>
              </a:solidFill>
            </a:endParaRPr>
          </a:p>
        </p:txBody>
      </p:sp>
      <p:sp>
        <p:nvSpPr>
          <p:cNvPr id="1075" name="Rectangle 1074">
            <a:extLst>
              <a:ext uri="{FF2B5EF4-FFF2-40B4-BE49-F238E27FC236}">
                <a16:creationId xmlns:a16="http://schemas.microsoft.com/office/drawing/2014/main" id="{DA3FE549-1F40-99C9-8BAB-D769E0187D86}"/>
              </a:ext>
            </a:extLst>
          </p:cNvPr>
          <p:cNvSpPr/>
          <p:nvPr/>
        </p:nvSpPr>
        <p:spPr>
          <a:xfrm>
            <a:off x="7549364" y="4174033"/>
            <a:ext cx="1268641" cy="593224"/>
          </a:xfrm>
          <a:prstGeom prst="rect">
            <a:avLst/>
          </a:prstGeom>
          <a:ln>
            <a:solidFill>
              <a:schemeClr val="bg1"/>
            </a:solidFill>
          </a:ln>
        </p:spPr>
        <p:style>
          <a:lnRef idx="1">
            <a:schemeClr val="dk1"/>
          </a:lnRef>
          <a:fillRef idx="2">
            <a:schemeClr val="dk1"/>
          </a:fillRef>
          <a:effectRef idx="1">
            <a:schemeClr val="dk1"/>
          </a:effectRef>
          <a:fontRef idx="minor">
            <a:schemeClr val="dk1"/>
          </a:fontRef>
        </p:style>
        <p:txBody>
          <a:bodyPr rtlCol="0" anchor="ctr"/>
          <a:lstStyle/>
          <a:p>
            <a:pPr algn="ctr"/>
            <a:r>
              <a:rPr lang="fr-FR" sz="1100" dirty="0">
                <a:solidFill>
                  <a:schemeClr val="bg1">
                    <a:lumMod val="10000"/>
                  </a:schemeClr>
                </a:solidFill>
              </a:rPr>
              <a:t>Id=‘’6835…332’’</a:t>
            </a:r>
            <a:br>
              <a:rPr lang="fr-FR" sz="1100" dirty="0">
                <a:solidFill>
                  <a:schemeClr val="bg1">
                    <a:lumMod val="10000"/>
                  </a:schemeClr>
                </a:solidFill>
              </a:rPr>
            </a:br>
            <a:r>
              <a:rPr lang="fr-FR" sz="1100" dirty="0">
                <a:solidFill>
                  <a:schemeClr val="bg1">
                    <a:lumMod val="10000"/>
                  </a:schemeClr>
                </a:solidFill>
              </a:rPr>
              <a:t>Balance=100000</a:t>
            </a:r>
            <a:endParaRPr lang="fr-FR" dirty="0">
              <a:solidFill>
                <a:schemeClr val="bg1">
                  <a:lumMod val="10000"/>
                </a:schemeClr>
              </a:solidFill>
            </a:endParaRPr>
          </a:p>
        </p:txBody>
      </p:sp>
      <p:sp>
        <p:nvSpPr>
          <p:cNvPr id="1076" name="Rectangle 1075">
            <a:extLst>
              <a:ext uri="{FF2B5EF4-FFF2-40B4-BE49-F238E27FC236}">
                <a16:creationId xmlns:a16="http://schemas.microsoft.com/office/drawing/2014/main" id="{B20196FD-25A3-B955-7048-881E12F880E2}"/>
              </a:ext>
            </a:extLst>
          </p:cNvPr>
          <p:cNvSpPr/>
          <p:nvPr/>
        </p:nvSpPr>
        <p:spPr>
          <a:xfrm>
            <a:off x="7549365" y="3925571"/>
            <a:ext cx="1268640" cy="242225"/>
          </a:xfrm>
          <a:prstGeom prst="rect">
            <a:avLst/>
          </a:prstGeom>
          <a:solidFill>
            <a:srgbClr val="FB9705"/>
          </a:solidFill>
          <a:ln>
            <a:solidFill>
              <a:schemeClr val="bg1"/>
            </a:solidFill>
          </a:ln>
        </p:spPr>
        <p:style>
          <a:lnRef idx="1">
            <a:schemeClr val="dk1"/>
          </a:lnRef>
          <a:fillRef idx="2">
            <a:schemeClr val="dk1"/>
          </a:fillRef>
          <a:effectRef idx="1">
            <a:schemeClr val="dk1"/>
          </a:effectRef>
          <a:fontRef idx="minor">
            <a:schemeClr val="dk1"/>
          </a:fontRef>
        </p:style>
        <p:txBody>
          <a:bodyPr rtlCol="0" anchor="ctr"/>
          <a:lstStyle/>
          <a:p>
            <a:pPr algn="ctr"/>
            <a:r>
              <a:rPr lang="fr-FR" sz="1100" dirty="0">
                <a:solidFill>
                  <a:srgbClr val="000000"/>
                </a:solidFill>
              </a:rPr>
              <a:t>: Account</a:t>
            </a:r>
            <a:endParaRPr lang="fr-FR" dirty="0">
              <a:solidFill>
                <a:srgbClr val="000000"/>
              </a:solidFill>
            </a:endParaRPr>
          </a:p>
        </p:txBody>
      </p:sp>
      <p:sp>
        <p:nvSpPr>
          <p:cNvPr id="1077" name="Rectangle 1076">
            <a:extLst>
              <a:ext uri="{FF2B5EF4-FFF2-40B4-BE49-F238E27FC236}">
                <a16:creationId xmlns:a16="http://schemas.microsoft.com/office/drawing/2014/main" id="{76E6E081-355D-F9C2-1CF6-17FB38C00CDC}"/>
              </a:ext>
            </a:extLst>
          </p:cNvPr>
          <p:cNvSpPr/>
          <p:nvPr/>
        </p:nvSpPr>
        <p:spPr>
          <a:xfrm>
            <a:off x="7549359" y="3223292"/>
            <a:ext cx="1268641" cy="404029"/>
          </a:xfrm>
          <a:prstGeom prst="rect">
            <a:avLst/>
          </a:prstGeom>
          <a:ln>
            <a:solidFill>
              <a:schemeClr val="bg1"/>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fr-FR" dirty="0">
              <a:solidFill>
                <a:schemeClr val="bg1">
                  <a:lumMod val="10000"/>
                </a:schemeClr>
              </a:solidFill>
            </a:endParaRPr>
          </a:p>
        </p:txBody>
      </p:sp>
      <p:sp>
        <p:nvSpPr>
          <p:cNvPr id="1078" name="Rectangle 1077">
            <a:extLst>
              <a:ext uri="{FF2B5EF4-FFF2-40B4-BE49-F238E27FC236}">
                <a16:creationId xmlns:a16="http://schemas.microsoft.com/office/drawing/2014/main" id="{ECD97210-2A19-B2AA-1242-B3B6618922A6}"/>
              </a:ext>
            </a:extLst>
          </p:cNvPr>
          <p:cNvSpPr/>
          <p:nvPr/>
        </p:nvSpPr>
        <p:spPr>
          <a:xfrm>
            <a:off x="7549360" y="2974830"/>
            <a:ext cx="1268640" cy="242225"/>
          </a:xfrm>
          <a:prstGeom prst="rect">
            <a:avLst/>
          </a:prstGeom>
          <a:solidFill>
            <a:srgbClr val="FB9705"/>
          </a:solidFill>
          <a:ln>
            <a:solidFill>
              <a:schemeClr val="bg1"/>
            </a:solidFill>
          </a:ln>
        </p:spPr>
        <p:style>
          <a:lnRef idx="1">
            <a:schemeClr val="dk1"/>
          </a:lnRef>
          <a:fillRef idx="2">
            <a:schemeClr val="dk1"/>
          </a:fillRef>
          <a:effectRef idx="1">
            <a:schemeClr val="dk1"/>
          </a:effectRef>
          <a:fontRef idx="minor">
            <a:schemeClr val="dk1"/>
          </a:fontRef>
        </p:style>
        <p:txBody>
          <a:bodyPr rtlCol="0" anchor="ctr"/>
          <a:lstStyle/>
          <a:p>
            <a:pPr algn="ctr"/>
            <a:r>
              <a:rPr lang="fr-FR" sz="1100" dirty="0">
                <a:solidFill>
                  <a:srgbClr val="000000"/>
                </a:solidFill>
              </a:rPr>
              <a:t>: </a:t>
            </a:r>
            <a:r>
              <a:rPr lang="fr-FR" sz="1100" dirty="0" err="1">
                <a:solidFill>
                  <a:srgbClr val="000000"/>
                </a:solidFill>
              </a:rPr>
              <a:t>BankService</a:t>
            </a:r>
            <a:endParaRPr lang="fr-FR" dirty="0">
              <a:solidFill>
                <a:srgbClr val="000000"/>
              </a:solidFill>
            </a:endParaRPr>
          </a:p>
        </p:txBody>
      </p:sp>
      <p:cxnSp>
        <p:nvCxnSpPr>
          <p:cNvPr id="1079" name="Connecteur droit avec flèche 1078">
            <a:extLst>
              <a:ext uri="{FF2B5EF4-FFF2-40B4-BE49-F238E27FC236}">
                <a16:creationId xmlns:a16="http://schemas.microsoft.com/office/drawing/2014/main" id="{21155BEF-2E9B-732B-01BC-43A82CD0ABFD}"/>
              </a:ext>
            </a:extLst>
          </p:cNvPr>
          <p:cNvCxnSpPr>
            <a:cxnSpLocks/>
          </p:cNvCxnSpPr>
          <p:nvPr/>
        </p:nvCxnSpPr>
        <p:spPr>
          <a:xfrm>
            <a:off x="7123434" y="2204952"/>
            <a:ext cx="0" cy="3301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80" name="Connecteur droit avec flèche 1079">
            <a:extLst>
              <a:ext uri="{FF2B5EF4-FFF2-40B4-BE49-F238E27FC236}">
                <a16:creationId xmlns:a16="http://schemas.microsoft.com/office/drawing/2014/main" id="{6D8C869E-EDA5-443D-D4D8-FD3081F2F160}"/>
              </a:ext>
            </a:extLst>
          </p:cNvPr>
          <p:cNvCxnSpPr>
            <a:cxnSpLocks/>
            <a:stCxn id="1068" idx="0"/>
          </p:cNvCxnSpPr>
          <p:nvPr/>
        </p:nvCxnSpPr>
        <p:spPr>
          <a:xfrm flipH="1">
            <a:off x="5371341" y="3742861"/>
            <a:ext cx="25943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81" name="Rectangle : coins arrondis 1080">
            <a:extLst>
              <a:ext uri="{FF2B5EF4-FFF2-40B4-BE49-F238E27FC236}">
                <a16:creationId xmlns:a16="http://schemas.microsoft.com/office/drawing/2014/main" id="{26BE0524-633B-7F72-82BA-7BE041AF9249}"/>
              </a:ext>
            </a:extLst>
          </p:cNvPr>
          <p:cNvSpPr/>
          <p:nvPr/>
        </p:nvSpPr>
        <p:spPr>
          <a:xfrm>
            <a:off x="5970851" y="3100481"/>
            <a:ext cx="968959" cy="1067307"/>
          </a:xfrm>
          <a:prstGeom prst="roundRect">
            <a:avLst/>
          </a:prstGeom>
          <a:no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82" name="Rectangle : coins arrondis 1081">
            <a:extLst>
              <a:ext uri="{FF2B5EF4-FFF2-40B4-BE49-F238E27FC236}">
                <a16:creationId xmlns:a16="http://schemas.microsoft.com/office/drawing/2014/main" id="{6D5B0139-D067-C9E8-2229-9BDD3886FF46}"/>
              </a:ext>
            </a:extLst>
          </p:cNvPr>
          <p:cNvSpPr/>
          <p:nvPr/>
        </p:nvSpPr>
        <p:spPr>
          <a:xfrm>
            <a:off x="6001130" y="3925571"/>
            <a:ext cx="158780" cy="150329"/>
          </a:xfrm>
          <a:prstGeom prst="roundRect">
            <a:avLst/>
          </a:prstGeom>
          <a:solidFill>
            <a:srgbClr val="FB970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83" name="Rectangle : coins arrondis 1082">
            <a:extLst>
              <a:ext uri="{FF2B5EF4-FFF2-40B4-BE49-F238E27FC236}">
                <a16:creationId xmlns:a16="http://schemas.microsoft.com/office/drawing/2014/main" id="{5A47EB6F-5BC2-C6ED-54CA-BC1077C42E86}"/>
              </a:ext>
            </a:extLst>
          </p:cNvPr>
          <p:cNvSpPr/>
          <p:nvPr/>
        </p:nvSpPr>
        <p:spPr>
          <a:xfrm>
            <a:off x="6189863" y="3932632"/>
            <a:ext cx="158780" cy="150329"/>
          </a:xfrm>
          <a:prstGeom prst="roundRect">
            <a:avLst/>
          </a:prstGeom>
          <a:solidFill>
            <a:srgbClr val="FB970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84" name="Rectangle : coins arrondis 1083">
            <a:extLst>
              <a:ext uri="{FF2B5EF4-FFF2-40B4-BE49-F238E27FC236}">
                <a16:creationId xmlns:a16="http://schemas.microsoft.com/office/drawing/2014/main" id="{8C5FC039-FD5F-1D84-3287-0C7F886A8F8D}"/>
              </a:ext>
            </a:extLst>
          </p:cNvPr>
          <p:cNvSpPr/>
          <p:nvPr/>
        </p:nvSpPr>
        <p:spPr>
          <a:xfrm>
            <a:off x="6384652" y="3925571"/>
            <a:ext cx="158780" cy="150329"/>
          </a:xfrm>
          <a:prstGeom prst="roundRect">
            <a:avLst/>
          </a:prstGeom>
          <a:solidFill>
            <a:srgbClr val="FB970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85" name="Rectangle : coins arrondis 1084">
            <a:extLst>
              <a:ext uri="{FF2B5EF4-FFF2-40B4-BE49-F238E27FC236}">
                <a16:creationId xmlns:a16="http://schemas.microsoft.com/office/drawing/2014/main" id="{C3053E6C-20F1-B185-E4A7-D9662C62AA8F}"/>
              </a:ext>
            </a:extLst>
          </p:cNvPr>
          <p:cNvSpPr/>
          <p:nvPr/>
        </p:nvSpPr>
        <p:spPr>
          <a:xfrm>
            <a:off x="6573710" y="3932632"/>
            <a:ext cx="158780" cy="150329"/>
          </a:xfrm>
          <a:prstGeom prst="roundRect">
            <a:avLst/>
          </a:prstGeom>
          <a:solidFill>
            <a:srgbClr val="FB970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86" name="Rectangle : coins arrondis 1085">
            <a:extLst>
              <a:ext uri="{FF2B5EF4-FFF2-40B4-BE49-F238E27FC236}">
                <a16:creationId xmlns:a16="http://schemas.microsoft.com/office/drawing/2014/main" id="{4D923A25-2588-17F4-7E2E-14383DB8B5D5}"/>
              </a:ext>
            </a:extLst>
          </p:cNvPr>
          <p:cNvSpPr/>
          <p:nvPr/>
        </p:nvSpPr>
        <p:spPr>
          <a:xfrm>
            <a:off x="6762863" y="3932632"/>
            <a:ext cx="158780" cy="150329"/>
          </a:xfrm>
          <a:prstGeom prst="roundRect">
            <a:avLst/>
          </a:prstGeom>
          <a:solidFill>
            <a:srgbClr val="FB970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87" name="ZoneTexte 1086">
            <a:extLst>
              <a:ext uri="{FF2B5EF4-FFF2-40B4-BE49-F238E27FC236}">
                <a16:creationId xmlns:a16="http://schemas.microsoft.com/office/drawing/2014/main" id="{4A3E8577-36A7-12C6-D530-77EB36859CCE}"/>
              </a:ext>
            </a:extLst>
          </p:cNvPr>
          <p:cNvSpPr txBox="1"/>
          <p:nvPr/>
        </p:nvSpPr>
        <p:spPr>
          <a:xfrm>
            <a:off x="6001130" y="3234214"/>
            <a:ext cx="898291" cy="577081"/>
          </a:xfrm>
          <a:prstGeom prst="rect">
            <a:avLst/>
          </a:prstGeom>
          <a:noFill/>
        </p:spPr>
        <p:txBody>
          <a:bodyPr wrap="square" rtlCol="0">
            <a:spAutoFit/>
          </a:bodyPr>
          <a:lstStyle/>
          <a:p>
            <a:r>
              <a:rPr lang="fr-FR" sz="1050" dirty="0"/>
              <a:t>Protobuf</a:t>
            </a:r>
            <a:br>
              <a:rPr lang="fr-FR" sz="1050" dirty="0"/>
            </a:br>
            <a:r>
              <a:rPr lang="fr-FR" sz="1050" dirty="0"/>
              <a:t>Binary Account</a:t>
            </a:r>
            <a:endParaRPr lang="fr-FR" dirty="0"/>
          </a:p>
        </p:txBody>
      </p:sp>
      <p:cxnSp>
        <p:nvCxnSpPr>
          <p:cNvPr id="1088" name="Connecteur droit avec flèche 1087">
            <a:extLst>
              <a:ext uri="{FF2B5EF4-FFF2-40B4-BE49-F238E27FC236}">
                <a16:creationId xmlns:a16="http://schemas.microsoft.com/office/drawing/2014/main" id="{137014B4-AEB2-6D52-8417-3654B6C37435}"/>
              </a:ext>
            </a:extLst>
          </p:cNvPr>
          <p:cNvCxnSpPr>
            <a:cxnSpLocks/>
          </p:cNvCxnSpPr>
          <p:nvPr/>
        </p:nvCxnSpPr>
        <p:spPr>
          <a:xfrm flipV="1">
            <a:off x="7279881" y="3400708"/>
            <a:ext cx="269478" cy="62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89" name="Connecteur droit avec flèche 1088">
            <a:extLst>
              <a:ext uri="{FF2B5EF4-FFF2-40B4-BE49-F238E27FC236}">
                <a16:creationId xmlns:a16="http://schemas.microsoft.com/office/drawing/2014/main" id="{3092F0DD-1B0B-B467-44C5-074323DC5574}"/>
              </a:ext>
            </a:extLst>
          </p:cNvPr>
          <p:cNvCxnSpPr>
            <a:cxnSpLocks/>
          </p:cNvCxnSpPr>
          <p:nvPr/>
        </p:nvCxnSpPr>
        <p:spPr>
          <a:xfrm flipH="1">
            <a:off x="7279881" y="4450705"/>
            <a:ext cx="269478" cy="62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90" name="ZoneTexte 1089">
            <a:extLst>
              <a:ext uri="{FF2B5EF4-FFF2-40B4-BE49-F238E27FC236}">
                <a16:creationId xmlns:a16="http://schemas.microsoft.com/office/drawing/2014/main" id="{3E125653-E170-8300-FC75-4D84A700B577}"/>
              </a:ext>
            </a:extLst>
          </p:cNvPr>
          <p:cNvSpPr txBox="1"/>
          <p:nvPr/>
        </p:nvSpPr>
        <p:spPr>
          <a:xfrm>
            <a:off x="6005813" y="2793992"/>
            <a:ext cx="898291" cy="307777"/>
          </a:xfrm>
          <a:prstGeom prst="rect">
            <a:avLst/>
          </a:prstGeom>
          <a:noFill/>
        </p:spPr>
        <p:txBody>
          <a:bodyPr wrap="square" rtlCol="0">
            <a:spAutoFit/>
          </a:bodyPr>
          <a:lstStyle/>
          <a:p>
            <a:r>
              <a:rPr lang="fr-FR" dirty="0"/>
              <a:t>Network</a:t>
            </a:r>
          </a:p>
        </p:txBody>
      </p:sp>
      <p:sp>
        <p:nvSpPr>
          <p:cNvPr id="1091" name="ZoneTexte 1090">
            <a:extLst>
              <a:ext uri="{FF2B5EF4-FFF2-40B4-BE49-F238E27FC236}">
                <a16:creationId xmlns:a16="http://schemas.microsoft.com/office/drawing/2014/main" id="{916A9BB5-6C17-B532-0BB7-035C6FBCB000}"/>
              </a:ext>
            </a:extLst>
          </p:cNvPr>
          <p:cNvSpPr txBox="1"/>
          <p:nvPr/>
        </p:nvSpPr>
        <p:spPr>
          <a:xfrm>
            <a:off x="4474744" y="1638376"/>
            <a:ext cx="898291" cy="738664"/>
          </a:xfrm>
          <a:prstGeom prst="rect">
            <a:avLst/>
          </a:prstGeom>
          <a:noFill/>
        </p:spPr>
        <p:txBody>
          <a:bodyPr wrap="square" rtlCol="0">
            <a:spAutoFit/>
          </a:bodyPr>
          <a:lstStyle/>
          <a:p>
            <a:pPr algn="ctr"/>
            <a:r>
              <a:rPr lang="fr-FR" dirty="0"/>
              <a:t>Protobuf</a:t>
            </a:r>
            <a:br>
              <a:rPr lang="fr-FR" dirty="0"/>
            </a:br>
            <a:r>
              <a:rPr lang="fr-FR" dirty="0"/>
              <a:t>Java</a:t>
            </a:r>
            <a:br>
              <a:rPr lang="fr-FR" dirty="0"/>
            </a:br>
            <a:r>
              <a:rPr lang="fr-FR" dirty="0"/>
              <a:t>Compiler</a:t>
            </a:r>
          </a:p>
        </p:txBody>
      </p:sp>
      <p:sp>
        <p:nvSpPr>
          <p:cNvPr id="1092" name="ZoneTexte 1091">
            <a:extLst>
              <a:ext uri="{FF2B5EF4-FFF2-40B4-BE49-F238E27FC236}">
                <a16:creationId xmlns:a16="http://schemas.microsoft.com/office/drawing/2014/main" id="{CB360AAA-D42F-E175-7061-387381BDB0EC}"/>
              </a:ext>
            </a:extLst>
          </p:cNvPr>
          <p:cNvSpPr txBox="1"/>
          <p:nvPr/>
        </p:nvSpPr>
        <p:spPr>
          <a:xfrm>
            <a:off x="7891120" y="1366877"/>
            <a:ext cx="898291" cy="738664"/>
          </a:xfrm>
          <a:prstGeom prst="rect">
            <a:avLst/>
          </a:prstGeom>
          <a:noFill/>
        </p:spPr>
        <p:txBody>
          <a:bodyPr wrap="square" rtlCol="0">
            <a:spAutoFit/>
          </a:bodyPr>
          <a:lstStyle/>
          <a:p>
            <a:pPr algn="ctr"/>
            <a:r>
              <a:rPr lang="fr-FR" dirty="0"/>
              <a:t>Protobuf</a:t>
            </a:r>
            <a:br>
              <a:rPr lang="fr-FR" dirty="0"/>
            </a:br>
            <a:r>
              <a:rPr lang="fr-FR" dirty="0"/>
              <a:t>C++</a:t>
            </a:r>
            <a:br>
              <a:rPr lang="fr-FR" dirty="0"/>
            </a:br>
            <a:r>
              <a:rPr lang="fr-FR" dirty="0"/>
              <a:t>Compiler</a:t>
            </a:r>
          </a:p>
        </p:txBody>
      </p:sp>
      <p:sp>
        <p:nvSpPr>
          <p:cNvPr id="1093" name="ZoneTexte 1092">
            <a:extLst>
              <a:ext uri="{FF2B5EF4-FFF2-40B4-BE49-F238E27FC236}">
                <a16:creationId xmlns:a16="http://schemas.microsoft.com/office/drawing/2014/main" id="{9A82AA85-D1AB-525B-A1EA-057F1D238322}"/>
              </a:ext>
            </a:extLst>
          </p:cNvPr>
          <p:cNvSpPr txBox="1"/>
          <p:nvPr/>
        </p:nvSpPr>
        <p:spPr>
          <a:xfrm>
            <a:off x="42390" y="800498"/>
            <a:ext cx="3647556" cy="4185761"/>
          </a:xfrm>
          <a:prstGeom prst="rect">
            <a:avLst/>
          </a:prstGeom>
          <a:noFill/>
          <a:ln>
            <a:solidFill>
              <a:schemeClr val="tx2"/>
            </a:solidFill>
          </a:ln>
        </p:spPr>
        <p:txBody>
          <a:bodyPr wrap="square" rtlCol="0">
            <a:spAutoFit/>
          </a:bodyPr>
          <a:lstStyle/>
          <a:p>
            <a:pPr>
              <a:buNone/>
            </a:pPr>
            <a:r>
              <a:rPr lang="de-DE" sz="1200" b="1" dirty="0">
                <a:latin typeface="Calibri Light" panose="020F0302020204030204" pitchFamily="34" charset="0"/>
                <a:ea typeface="Calibri Light" panose="020F0302020204030204" pitchFamily="34" charset="0"/>
                <a:cs typeface="Calibri Light" panose="020F0302020204030204" pitchFamily="34" charset="0"/>
              </a:rPr>
              <a:t>Protocol Buffers </a:t>
            </a:r>
            <a:r>
              <a:rPr lang="de-DE" sz="1200" dirty="0">
                <a:latin typeface="Calibri Light" panose="020F0302020204030204" pitchFamily="34" charset="0"/>
                <a:ea typeface="Calibri Light" panose="020F0302020204030204" pitchFamily="34" charset="0"/>
                <a:cs typeface="Calibri Light" panose="020F0302020204030204" pitchFamily="34" charset="0"/>
              </a:rPr>
              <a:t>oder </a:t>
            </a:r>
            <a:r>
              <a:rPr lang="de-DE" sz="1200" b="1" dirty="0" err="1">
                <a:latin typeface="Calibri Light" panose="020F0302020204030204" pitchFamily="34" charset="0"/>
                <a:ea typeface="Calibri Light" panose="020F0302020204030204" pitchFamily="34" charset="0"/>
                <a:cs typeface="Calibri Light" panose="020F0302020204030204" pitchFamily="34" charset="0"/>
              </a:rPr>
              <a:t>Protobuf</a:t>
            </a:r>
            <a:r>
              <a:rPr lang="de-DE" sz="1200" dirty="0">
                <a:latin typeface="Calibri Light" panose="020F0302020204030204" pitchFamily="34" charset="0"/>
                <a:ea typeface="Calibri Light" panose="020F0302020204030204" pitchFamily="34" charset="0"/>
                <a:cs typeface="Calibri Light" panose="020F0302020204030204" pitchFamily="34" charset="0"/>
              </a:rPr>
              <a:t> ist ein </a:t>
            </a:r>
            <a:r>
              <a:rPr lang="de-DE" sz="1200" b="1" dirty="0" err="1">
                <a:latin typeface="Calibri Light" panose="020F0302020204030204" pitchFamily="34" charset="0"/>
                <a:ea typeface="Calibri Light" panose="020F0302020204030204" pitchFamily="34" charset="0"/>
                <a:cs typeface="Calibri Light" panose="020F0302020204030204" pitchFamily="34" charset="0"/>
              </a:rPr>
              <a:t>Serialisierungsformat</a:t>
            </a:r>
            <a:r>
              <a:rPr lang="de-DE" sz="1200" dirty="0">
                <a:latin typeface="Calibri Light" panose="020F0302020204030204" pitchFamily="34" charset="0"/>
                <a:ea typeface="Calibri Light" panose="020F0302020204030204" pitchFamily="34" charset="0"/>
                <a:cs typeface="Calibri Light" panose="020F0302020204030204" pitchFamily="34" charset="0"/>
              </a:rPr>
              <a:t> mit einer Beschreibungssprache für Schnittstellen, die von </a:t>
            </a:r>
            <a:r>
              <a:rPr lang="de-DE" sz="1200" b="1" dirty="0">
                <a:latin typeface="Calibri Light" panose="020F0302020204030204" pitchFamily="34" charset="0"/>
                <a:ea typeface="Calibri Light" panose="020F0302020204030204" pitchFamily="34" charset="0"/>
                <a:cs typeface="Calibri Light" panose="020F0302020204030204" pitchFamily="34" charset="0"/>
              </a:rPr>
              <a:t>Google</a:t>
            </a:r>
            <a:r>
              <a:rPr lang="de-DE" sz="1200" dirty="0">
                <a:latin typeface="Calibri Light" panose="020F0302020204030204" pitchFamily="34" charset="0"/>
                <a:ea typeface="Calibri Light" panose="020F0302020204030204" pitchFamily="34" charset="0"/>
                <a:cs typeface="Calibri Light" panose="020F0302020204030204" pitchFamily="34" charset="0"/>
              </a:rPr>
              <a:t> entwickelt wurde.</a:t>
            </a:r>
          </a:p>
          <a:p>
            <a:pPr>
              <a:buNone/>
            </a:pPr>
            <a:r>
              <a:rPr lang="de-DE" sz="1200" dirty="0">
                <a:latin typeface="Calibri Light" panose="020F0302020204030204" pitchFamily="34" charset="0"/>
                <a:ea typeface="Calibri Light" panose="020F0302020204030204" pitchFamily="34" charset="0"/>
                <a:cs typeface="Calibri Light" panose="020F0302020204030204" pitchFamily="34" charset="0"/>
              </a:rPr>
              <a:t>Im Gegensatz zu </a:t>
            </a:r>
            <a:r>
              <a:rPr lang="de-DE" sz="1200" b="1" dirty="0">
                <a:latin typeface="Calibri Light" panose="020F0302020204030204" pitchFamily="34" charset="0"/>
                <a:ea typeface="Calibri Light" panose="020F0302020204030204" pitchFamily="34" charset="0"/>
                <a:cs typeface="Calibri Light" panose="020F0302020204030204" pitchFamily="34" charset="0"/>
              </a:rPr>
              <a:t>XML</a:t>
            </a:r>
            <a:r>
              <a:rPr lang="de-DE" sz="1200" dirty="0">
                <a:latin typeface="Calibri Light" panose="020F0302020204030204" pitchFamily="34" charset="0"/>
                <a:ea typeface="Calibri Light" panose="020F0302020204030204" pitchFamily="34" charset="0"/>
                <a:cs typeface="Calibri Light" panose="020F0302020204030204" pitchFamily="34" charset="0"/>
              </a:rPr>
              <a:t> und </a:t>
            </a:r>
            <a:r>
              <a:rPr lang="de-DE" sz="1200" b="1" dirty="0">
                <a:latin typeface="Calibri Light" panose="020F0302020204030204" pitchFamily="34" charset="0"/>
                <a:ea typeface="Calibri Light" panose="020F0302020204030204" pitchFamily="34" charset="0"/>
                <a:cs typeface="Calibri Light" panose="020F0302020204030204" pitchFamily="34" charset="0"/>
              </a:rPr>
              <a:t>JSON</a:t>
            </a:r>
            <a:r>
              <a:rPr lang="de-DE" sz="1200" dirty="0">
                <a:latin typeface="Calibri Light" panose="020F0302020204030204" pitchFamily="34" charset="0"/>
                <a:ea typeface="Calibri Light" panose="020F0302020204030204" pitchFamily="34" charset="0"/>
                <a:cs typeface="Calibri Light" panose="020F0302020204030204" pitchFamily="34" charset="0"/>
              </a:rPr>
              <a:t> ist der Inhalt einer </a:t>
            </a:r>
            <a:r>
              <a:rPr lang="de-DE" sz="1200" dirty="0" err="1">
                <a:latin typeface="Calibri Light" panose="020F0302020204030204" pitchFamily="34" charset="0"/>
                <a:ea typeface="Calibri Light" panose="020F0302020204030204" pitchFamily="34" charset="0"/>
                <a:cs typeface="Calibri Light" panose="020F0302020204030204" pitchFamily="34" charset="0"/>
              </a:rPr>
              <a:t>Protobuf</a:t>
            </a:r>
            <a:r>
              <a:rPr lang="de-DE" sz="1200" dirty="0">
                <a:latin typeface="Calibri Light" panose="020F0302020204030204" pitchFamily="34" charset="0"/>
                <a:ea typeface="Calibri Light" panose="020F0302020204030204" pitchFamily="34" charset="0"/>
                <a:cs typeface="Calibri Light" panose="020F0302020204030204" pitchFamily="34" charset="0"/>
              </a:rPr>
              <a:t>-Nachricht für den Menschen </a:t>
            </a:r>
            <a:r>
              <a:rPr lang="de-DE" sz="1200" b="1" dirty="0">
                <a:latin typeface="Calibri Light" panose="020F0302020204030204" pitchFamily="34" charset="0"/>
                <a:ea typeface="Calibri Light" panose="020F0302020204030204" pitchFamily="34" charset="0"/>
                <a:cs typeface="Calibri Light" panose="020F0302020204030204" pitchFamily="34" charset="0"/>
              </a:rPr>
              <a:t>nicht lesbar</a:t>
            </a:r>
            <a:r>
              <a:rPr lang="de-DE" sz="1200" dirty="0">
                <a:latin typeface="Calibri Light" panose="020F0302020204030204" pitchFamily="34" charset="0"/>
                <a:ea typeface="Calibri Light" panose="020F0302020204030204" pitchFamily="34" charset="0"/>
                <a:cs typeface="Calibri Light" panose="020F0302020204030204" pitchFamily="34" charset="0"/>
              </a:rPr>
              <a:t>, da die Nachricht im </a:t>
            </a:r>
            <a:r>
              <a:rPr lang="de-DE" sz="1200" b="1" dirty="0">
                <a:latin typeface="Calibri Light" panose="020F0302020204030204" pitchFamily="34" charset="0"/>
                <a:ea typeface="Calibri Light" panose="020F0302020204030204" pitchFamily="34" charset="0"/>
                <a:cs typeface="Calibri Light" panose="020F0302020204030204" pitchFamily="34" charset="0"/>
              </a:rPr>
              <a:t>Binärformat serialisiert wird</a:t>
            </a:r>
            <a:r>
              <a:rPr lang="de-DE" sz="1200" dirty="0">
                <a:latin typeface="Calibri Light" panose="020F0302020204030204" pitchFamily="34" charset="0"/>
                <a:ea typeface="Calibri Light" panose="020F0302020204030204" pitchFamily="34" charset="0"/>
                <a:cs typeface="Calibri Light" panose="020F0302020204030204" pitchFamily="34" charset="0"/>
              </a:rPr>
              <a:t>.</a:t>
            </a:r>
          </a:p>
          <a:p>
            <a:pPr>
              <a:buNone/>
            </a:pPr>
            <a:endParaRPr lang="de-DE" sz="1200" dirty="0">
              <a:latin typeface="Calibri Light" panose="020F0302020204030204" pitchFamily="34" charset="0"/>
              <a:ea typeface="Calibri Light" panose="020F0302020204030204" pitchFamily="34" charset="0"/>
              <a:cs typeface="Calibri Light" panose="020F0302020204030204" pitchFamily="34" charset="0"/>
            </a:endParaRPr>
          </a:p>
          <a:p>
            <a:pPr>
              <a:buNone/>
            </a:pPr>
            <a:r>
              <a:rPr lang="de-DE" sz="1200" dirty="0">
                <a:latin typeface="Calibri Light" panose="020F0302020204030204" pitchFamily="34" charset="0"/>
                <a:ea typeface="Calibri Light" panose="020F0302020204030204" pitchFamily="34" charset="0"/>
                <a:cs typeface="Calibri Light" panose="020F0302020204030204" pitchFamily="34" charset="0"/>
              </a:rPr>
              <a:t>Die Größe einer serialisierten Nachricht in</a:t>
            </a:r>
            <a:r>
              <a:rPr lang="de-DE" sz="1200" b="1" dirty="0">
                <a:latin typeface="Calibri Light" panose="020F0302020204030204" pitchFamily="34" charset="0"/>
                <a:ea typeface="Calibri Light" panose="020F0302020204030204" pitchFamily="34" charset="0"/>
                <a:cs typeface="Calibri Light" panose="020F0302020204030204" pitchFamily="34" charset="0"/>
              </a:rPr>
              <a:t> </a:t>
            </a:r>
            <a:r>
              <a:rPr lang="de-DE" sz="1200" b="1" dirty="0" err="1">
                <a:latin typeface="Calibri Light" panose="020F0302020204030204" pitchFamily="34" charset="0"/>
                <a:ea typeface="Calibri Light" panose="020F0302020204030204" pitchFamily="34" charset="0"/>
                <a:cs typeface="Calibri Light" panose="020F0302020204030204" pitchFamily="34" charset="0"/>
              </a:rPr>
              <a:t>Protobuf</a:t>
            </a:r>
            <a:r>
              <a:rPr lang="de-DE" sz="1200" b="1" dirty="0">
                <a:latin typeface="Calibri Light" panose="020F0302020204030204" pitchFamily="34" charset="0"/>
                <a:ea typeface="Calibri Light" panose="020F0302020204030204" pitchFamily="34" charset="0"/>
                <a:cs typeface="Calibri Light" panose="020F0302020204030204" pitchFamily="34" charset="0"/>
              </a:rPr>
              <a:t> ist 60 % kleiner als bei JSON</a:t>
            </a:r>
            <a:r>
              <a:rPr lang="de-DE" sz="1200" dirty="0">
                <a:latin typeface="Calibri Light" panose="020F0302020204030204" pitchFamily="34" charset="0"/>
                <a:ea typeface="Calibri Light" panose="020F0302020204030204" pitchFamily="34" charset="0"/>
                <a:cs typeface="Calibri Light" panose="020F0302020204030204" pitchFamily="34" charset="0"/>
              </a:rPr>
              <a:t>.</a:t>
            </a:r>
          </a:p>
          <a:p>
            <a:pPr>
              <a:buNone/>
            </a:pPr>
            <a:r>
              <a:rPr lang="de-DE" sz="1200" b="1" dirty="0" err="1">
                <a:latin typeface="Calibri Light" panose="020F0302020204030204" pitchFamily="34" charset="0"/>
                <a:ea typeface="Calibri Light" panose="020F0302020204030204" pitchFamily="34" charset="0"/>
                <a:cs typeface="Calibri Light" panose="020F0302020204030204" pitchFamily="34" charset="0"/>
              </a:rPr>
              <a:t>Protobuf</a:t>
            </a:r>
            <a:r>
              <a:rPr lang="de-DE" sz="1200" dirty="0">
                <a:latin typeface="Calibri Light" panose="020F0302020204030204" pitchFamily="34" charset="0"/>
                <a:ea typeface="Calibri Light" panose="020F0302020204030204" pitchFamily="34" charset="0"/>
                <a:cs typeface="Calibri Light" panose="020F0302020204030204" pitchFamily="34" charset="0"/>
              </a:rPr>
              <a:t> ist schneller beim Kodieren und Dekodieren als </a:t>
            </a:r>
            <a:r>
              <a:rPr lang="de-DE" sz="1200" b="1" dirty="0">
                <a:latin typeface="Calibri Light" panose="020F0302020204030204" pitchFamily="34" charset="0"/>
                <a:ea typeface="Calibri Light" panose="020F0302020204030204" pitchFamily="34" charset="0"/>
                <a:cs typeface="Calibri Light" panose="020F0302020204030204" pitchFamily="34" charset="0"/>
              </a:rPr>
              <a:t>JSON</a:t>
            </a:r>
            <a:r>
              <a:rPr lang="de-DE" sz="1200" dirty="0">
                <a:latin typeface="Calibri Light" panose="020F0302020204030204" pitchFamily="34" charset="0"/>
                <a:ea typeface="Calibri Light" panose="020F0302020204030204" pitchFamily="34" charset="0"/>
                <a:cs typeface="Calibri Light" panose="020F0302020204030204" pitchFamily="34" charset="0"/>
              </a:rPr>
              <a:t>.</a:t>
            </a:r>
          </a:p>
          <a:p>
            <a:pPr>
              <a:buNone/>
            </a:pPr>
            <a:endParaRPr lang="de-DE" sz="1200" dirty="0">
              <a:latin typeface="Calibri Light" panose="020F0302020204030204" pitchFamily="34" charset="0"/>
              <a:ea typeface="Calibri Light" panose="020F0302020204030204" pitchFamily="34" charset="0"/>
              <a:cs typeface="Calibri Light" panose="020F0302020204030204" pitchFamily="34" charset="0"/>
            </a:endParaRPr>
          </a:p>
          <a:p>
            <a:pPr>
              <a:buNone/>
            </a:pPr>
            <a:r>
              <a:rPr lang="de-DE" sz="1200" dirty="0">
                <a:latin typeface="Calibri Light" panose="020F0302020204030204" pitchFamily="34" charset="0"/>
                <a:ea typeface="Calibri Light" panose="020F0302020204030204" pitchFamily="34" charset="0"/>
                <a:cs typeface="Calibri Light" panose="020F0302020204030204" pitchFamily="34" charset="0"/>
              </a:rPr>
              <a:t>Die Struktur der Nachrichten und Dienste wird in einer separaten </a:t>
            </a:r>
            <a:r>
              <a:rPr lang="de-DE" sz="1200" b="1" i="1" dirty="0">
                <a:latin typeface="Calibri Light" panose="020F0302020204030204" pitchFamily="34" charset="0"/>
                <a:ea typeface="Calibri Light" panose="020F0302020204030204" pitchFamily="34" charset="0"/>
                <a:cs typeface="Calibri Light" panose="020F0302020204030204" pitchFamily="34" charset="0"/>
              </a:rPr>
              <a:t>„.</a:t>
            </a:r>
            <a:r>
              <a:rPr lang="de-DE" sz="1200" b="1" i="1" dirty="0" err="1">
                <a:latin typeface="Calibri Light" panose="020F0302020204030204" pitchFamily="34" charset="0"/>
                <a:ea typeface="Calibri Light" panose="020F0302020204030204" pitchFamily="34" charset="0"/>
                <a:cs typeface="Calibri Light" panose="020F0302020204030204" pitchFamily="34" charset="0"/>
              </a:rPr>
              <a:t>proto</a:t>
            </a:r>
            <a:r>
              <a:rPr lang="de-DE" sz="1200" b="1" i="1" dirty="0">
                <a:latin typeface="Calibri Light" panose="020F0302020204030204" pitchFamily="34" charset="0"/>
                <a:ea typeface="Calibri Light" panose="020F0302020204030204" pitchFamily="34" charset="0"/>
                <a:cs typeface="Calibri Light" panose="020F0302020204030204" pitchFamily="34" charset="0"/>
              </a:rPr>
              <a:t>“-Datei </a:t>
            </a:r>
            <a:r>
              <a:rPr lang="de-DE" sz="1200" dirty="0">
                <a:latin typeface="Calibri Light" panose="020F0302020204030204" pitchFamily="34" charset="0"/>
                <a:ea typeface="Calibri Light" panose="020F0302020204030204" pitchFamily="34" charset="0"/>
                <a:cs typeface="Calibri Light" panose="020F0302020204030204" pitchFamily="34" charset="0"/>
              </a:rPr>
              <a:t>deklariert – ähnlich wie </a:t>
            </a:r>
            <a:r>
              <a:rPr lang="de-DE" sz="1200" b="1" dirty="0">
                <a:latin typeface="Calibri Light" panose="020F0302020204030204" pitchFamily="34" charset="0"/>
                <a:ea typeface="Calibri Light" panose="020F0302020204030204" pitchFamily="34" charset="0"/>
                <a:cs typeface="Calibri Light" panose="020F0302020204030204" pitchFamily="34" charset="0"/>
              </a:rPr>
              <a:t>WSDL</a:t>
            </a:r>
            <a:r>
              <a:rPr lang="de-DE" sz="1200" dirty="0">
                <a:latin typeface="Calibri Light" panose="020F0302020204030204" pitchFamily="34" charset="0"/>
                <a:ea typeface="Calibri Light" panose="020F0302020204030204" pitchFamily="34" charset="0"/>
                <a:cs typeface="Calibri Light" panose="020F0302020204030204" pitchFamily="34" charset="0"/>
              </a:rPr>
              <a:t> bei </a:t>
            </a:r>
            <a:r>
              <a:rPr lang="de-DE" sz="1200" b="1" dirty="0">
                <a:latin typeface="Calibri Light" panose="020F0302020204030204" pitchFamily="34" charset="0"/>
                <a:ea typeface="Calibri Light" panose="020F0302020204030204" pitchFamily="34" charset="0"/>
                <a:cs typeface="Calibri Light" panose="020F0302020204030204" pitchFamily="34" charset="0"/>
              </a:rPr>
              <a:t>SOAP</a:t>
            </a:r>
            <a:r>
              <a:rPr lang="de-DE" sz="1200" dirty="0">
                <a:latin typeface="Calibri Light" panose="020F0302020204030204" pitchFamily="34" charset="0"/>
                <a:ea typeface="Calibri Light" panose="020F0302020204030204" pitchFamily="34" charset="0"/>
                <a:cs typeface="Calibri Light" panose="020F0302020204030204" pitchFamily="34" charset="0"/>
              </a:rPr>
              <a:t>-Webdiensten, die </a:t>
            </a:r>
            <a:r>
              <a:rPr lang="de-DE" sz="1200" b="1" dirty="0">
                <a:latin typeface="Calibri Light" panose="020F0302020204030204" pitchFamily="34" charset="0"/>
                <a:ea typeface="Calibri Light" panose="020F0302020204030204" pitchFamily="34" charset="0"/>
                <a:cs typeface="Calibri Light" panose="020F0302020204030204" pitchFamily="34" charset="0"/>
              </a:rPr>
              <a:t>XML-Schemata</a:t>
            </a:r>
            <a:r>
              <a:rPr lang="de-DE" sz="1200" dirty="0">
                <a:latin typeface="Calibri Light" panose="020F0302020204030204" pitchFamily="34" charset="0"/>
                <a:ea typeface="Calibri Light" panose="020F0302020204030204" pitchFamily="34" charset="0"/>
                <a:cs typeface="Calibri Light" panose="020F0302020204030204" pitchFamily="34" charset="0"/>
              </a:rPr>
              <a:t> (</a:t>
            </a:r>
            <a:r>
              <a:rPr lang="de-DE" sz="1200" b="1" dirty="0">
                <a:latin typeface="Calibri Light" panose="020F0302020204030204" pitchFamily="34" charset="0"/>
                <a:ea typeface="Calibri Light" panose="020F0302020204030204" pitchFamily="34" charset="0"/>
                <a:cs typeface="Calibri Light" panose="020F0302020204030204" pitchFamily="34" charset="0"/>
              </a:rPr>
              <a:t>XSD</a:t>
            </a:r>
            <a:r>
              <a:rPr lang="de-DE" sz="1200" dirty="0">
                <a:latin typeface="Calibri Light" panose="020F0302020204030204" pitchFamily="34" charset="0"/>
                <a:ea typeface="Calibri Light" panose="020F0302020204030204" pitchFamily="34" charset="0"/>
                <a:cs typeface="Calibri Light" panose="020F0302020204030204" pitchFamily="34" charset="0"/>
              </a:rPr>
              <a:t>) verwenden.</a:t>
            </a:r>
          </a:p>
          <a:p>
            <a:pPr>
              <a:buNone/>
            </a:pPr>
            <a:endParaRPr lang="de-DE" sz="1200" dirty="0">
              <a:latin typeface="Calibri Light" panose="020F0302020204030204" pitchFamily="34" charset="0"/>
              <a:ea typeface="Calibri Light" panose="020F0302020204030204" pitchFamily="34" charset="0"/>
              <a:cs typeface="Calibri Light" panose="020F0302020204030204" pitchFamily="34" charset="0"/>
            </a:endParaRPr>
          </a:p>
          <a:p>
            <a:pPr>
              <a:buNone/>
            </a:pPr>
            <a:r>
              <a:rPr lang="de-DE" sz="1200" dirty="0">
                <a:latin typeface="Calibri Light" panose="020F0302020204030204" pitchFamily="34" charset="0"/>
                <a:ea typeface="Calibri Light" panose="020F0302020204030204" pitchFamily="34" charset="0"/>
                <a:cs typeface="Calibri Light" panose="020F0302020204030204" pitchFamily="34" charset="0"/>
              </a:rPr>
              <a:t>Diese „</a:t>
            </a:r>
            <a:r>
              <a:rPr lang="de-DE" sz="1200" b="1" dirty="0">
                <a:latin typeface="Calibri Light" panose="020F0302020204030204" pitchFamily="34" charset="0"/>
                <a:ea typeface="Calibri Light" panose="020F0302020204030204" pitchFamily="34" charset="0"/>
                <a:cs typeface="Calibri Light" panose="020F0302020204030204" pitchFamily="34" charset="0"/>
              </a:rPr>
              <a:t>.</a:t>
            </a:r>
            <a:r>
              <a:rPr lang="de-DE" sz="1200" b="1" dirty="0" err="1">
                <a:latin typeface="Calibri Light" panose="020F0302020204030204" pitchFamily="34" charset="0"/>
                <a:ea typeface="Calibri Light" panose="020F0302020204030204" pitchFamily="34" charset="0"/>
                <a:cs typeface="Calibri Light" panose="020F0302020204030204" pitchFamily="34" charset="0"/>
              </a:rPr>
              <a:t>proto</a:t>
            </a:r>
            <a:r>
              <a:rPr lang="de-DE" sz="1200" dirty="0">
                <a:latin typeface="Calibri Light" panose="020F0302020204030204" pitchFamily="34" charset="0"/>
                <a:ea typeface="Calibri Light" panose="020F0302020204030204" pitchFamily="34" charset="0"/>
                <a:cs typeface="Calibri Light" panose="020F0302020204030204" pitchFamily="34" charset="0"/>
              </a:rPr>
              <a:t>“-Datei wird anschließend kompiliert, um </a:t>
            </a:r>
            <a:r>
              <a:rPr lang="de-DE" sz="1200" b="1" dirty="0">
                <a:latin typeface="Calibri Light" panose="020F0302020204030204" pitchFamily="34" charset="0"/>
                <a:ea typeface="Calibri Light" panose="020F0302020204030204" pitchFamily="34" charset="0"/>
                <a:cs typeface="Calibri Light" panose="020F0302020204030204" pitchFamily="34" charset="0"/>
              </a:rPr>
              <a:t>Stub-Code</a:t>
            </a:r>
            <a:r>
              <a:rPr lang="de-DE" sz="1200" dirty="0">
                <a:latin typeface="Calibri Light" panose="020F0302020204030204" pitchFamily="34" charset="0"/>
                <a:ea typeface="Calibri Light" panose="020F0302020204030204" pitchFamily="34" charset="0"/>
                <a:cs typeface="Calibri Light" panose="020F0302020204030204" pitchFamily="34" charset="0"/>
              </a:rPr>
              <a:t> in verschiedenen Programmiersprachen zu erzeugen:</a:t>
            </a:r>
          </a:p>
          <a:p>
            <a:r>
              <a:rPr lang="de-DE" sz="1200" b="1" dirty="0">
                <a:latin typeface="Calibri Light" panose="020F0302020204030204" pitchFamily="34" charset="0"/>
                <a:ea typeface="Calibri Light" panose="020F0302020204030204" pitchFamily="34" charset="0"/>
                <a:cs typeface="Calibri Light" panose="020F0302020204030204" pitchFamily="34" charset="0"/>
              </a:rPr>
              <a:t>C++, Java, Python, C#, Dart, Go, Ruby, </a:t>
            </a:r>
            <a:r>
              <a:rPr lang="de-DE" sz="1200" b="1" dirty="0" err="1">
                <a:latin typeface="Calibri Light" panose="020F0302020204030204" pitchFamily="34" charset="0"/>
                <a:ea typeface="Calibri Light" panose="020F0302020204030204" pitchFamily="34" charset="0"/>
                <a:cs typeface="Calibri Light" panose="020F0302020204030204" pitchFamily="34" charset="0"/>
              </a:rPr>
              <a:t>Kotlin</a:t>
            </a:r>
            <a:r>
              <a:rPr lang="de-DE" sz="1200" b="1" dirty="0">
                <a:latin typeface="Calibri Light" panose="020F0302020204030204" pitchFamily="34" charset="0"/>
                <a:ea typeface="Calibri Light" panose="020F0302020204030204" pitchFamily="34" charset="0"/>
                <a:cs typeface="Calibri Light" panose="020F0302020204030204" pitchFamily="34" charset="0"/>
              </a:rPr>
              <a:t>, </a:t>
            </a:r>
            <a:r>
              <a:rPr lang="de-DE" sz="1200" b="1" dirty="0" err="1">
                <a:latin typeface="Calibri Light" panose="020F0302020204030204" pitchFamily="34" charset="0"/>
                <a:ea typeface="Calibri Light" panose="020F0302020204030204" pitchFamily="34" charset="0"/>
                <a:cs typeface="Calibri Light" panose="020F0302020204030204" pitchFamily="34" charset="0"/>
              </a:rPr>
              <a:t>Objective</a:t>
            </a:r>
            <a:r>
              <a:rPr lang="de-DE" sz="1200" b="1" dirty="0">
                <a:latin typeface="Calibri Light" panose="020F0302020204030204" pitchFamily="34" charset="0"/>
                <a:ea typeface="Calibri Light" panose="020F0302020204030204" pitchFamily="34" charset="0"/>
                <a:cs typeface="Calibri Light" panose="020F0302020204030204" pitchFamily="34" charset="0"/>
              </a:rPr>
              <a:t>-C</a:t>
            </a:r>
            <a:r>
              <a:rPr lang="de-DE" sz="1200" dirty="0">
                <a:latin typeface="Calibri Light" panose="020F0302020204030204" pitchFamily="34" charset="0"/>
                <a:ea typeface="Calibri Light" panose="020F0302020204030204" pitchFamily="34" charset="0"/>
                <a:cs typeface="Calibri Light" panose="020F0302020204030204" pitchFamily="34" charset="0"/>
              </a:rPr>
              <a:t>.</a:t>
            </a:r>
          </a:p>
          <a:p>
            <a:endParaRPr lang="fr-FR" dirty="0"/>
          </a:p>
        </p:txBody>
      </p:sp>
      <p:sp>
        <p:nvSpPr>
          <p:cNvPr id="1094" name="Google Shape;492;p52">
            <a:extLst>
              <a:ext uri="{FF2B5EF4-FFF2-40B4-BE49-F238E27FC236}">
                <a16:creationId xmlns:a16="http://schemas.microsoft.com/office/drawing/2014/main" id="{50CCED02-EB59-EC19-9339-94AA80B4F21F}"/>
              </a:ext>
            </a:extLst>
          </p:cNvPr>
          <p:cNvSpPr txBox="1">
            <a:spLocks/>
          </p:cNvSpPr>
          <p:nvPr/>
        </p:nvSpPr>
        <p:spPr>
          <a:xfrm>
            <a:off x="599507" y="149858"/>
            <a:ext cx="2173971" cy="389578"/>
          </a:xfrm>
          <a:prstGeom prst="rect">
            <a:avLst/>
          </a:prstGeom>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fr-FR" sz="1800" dirty="0"/>
              <a:t>Protocol Buffer</a:t>
            </a:r>
          </a:p>
        </p:txBody>
      </p:sp>
    </p:spTree>
    <p:extLst>
      <p:ext uri="{BB962C8B-B14F-4D97-AF65-F5344CB8AC3E}">
        <p14:creationId xmlns:p14="http://schemas.microsoft.com/office/powerpoint/2010/main" val="34447405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607A7A-3CE8-D6C1-FFA4-A08803E09DB2}"/>
            </a:ext>
          </a:extLst>
        </p:cNvPr>
        <p:cNvGrpSpPr/>
        <p:nvPr/>
      </p:nvGrpSpPr>
      <p:grpSpPr>
        <a:xfrm>
          <a:off x="0" y="0"/>
          <a:ext cx="0" cy="0"/>
          <a:chOff x="0" y="0"/>
          <a:chExt cx="0" cy="0"/>
        </a:xfrm>
      </p:grpSpPr>
      <p:sp>
        <p:nvSpPr>
          <p:cNvPr id="1058" name="ZoneTexte 1057">
            <a:extLst>
              <a:ext uri="{FF2B5EF4-FFF2-40B4-BE49-F238E27FC236}">
                <a16:creationId xmlns:a16="http://schemas.microsoft.com/office/drawing/2014/main" id="{2F53B529-BEAB-ACB5-6938-4B368E821974}"/>
              </a:ext>
            </a:extLst>
          </p:cNvPr>
          <p:cNvSpPr txBox="1"/>
          <p:nvPr/>
        </p:nvSpPr>
        <p:spPr>
          <a:xfrm>
            <a:off x="3754489" y="96892"/>
            <a:ext cx="5347121" cy="4995894"/>
          </a:xfrm>
          <a:prstGeom prst="rect">
            <a:avLst/>
          </a:prstGeom>
          <a:noFill/>
          <a:ln>
            <a:solidFill>
              <a:schemeClr val="tx2"/>
            </a:solidFill>
          </a:ln>
        </p:spPr>
        <p:txBody>
          <a:bodyPr wrap="square" rtlCol="0">
            <a:spAutoFit/>
          </a:bodyPr>
          <a:lstStyle/>
          <a:p>
            <a:endParaRPr lang="fr-FR" dirty="0"/>
          </a:p>
        </p:txBody>
      </p:sp>
      <p:pic>
        <p:nvPicPr>
          <p:cNvPr id="1059" name="Picture 2" descr="Settings PNG Transparent Images | PNG All">
            <a:extLst>
              <a:ext uri="{FF2B5EF4-FFF2-40B4-BE49-F238E27FC236}">
                <a16:creationId xmlns:a16="http://schemas.microsoft.com/office/drawing/2014/main" id="{B33BF2AC-3D5F-2AF2-22DA-BA29533F90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61626" y="1363373"/>
            <a:ext cx="947928" cy="869841"/>
          </a:xfrm>
          <a:prstGeom prst="rect">
            <a:avLst/>
          </a:prstGeom>
          <a:noFill/>
          <a:extLst>
            <a:ext uri="{909E8E84-426E-40DD-AFC4-6F175D3DCCD1}">
              <a14:hiddenFill xmlns:a14="http://schemas.microsoft.com/office/drawing/2010/main">
                <a:solidFill>
                  <a:srgbClr val="FFFFFF"/>
                </a:solidFill>
              </a14:hiddenFill>
            </a:ext>
          </a:extLst>
        </p:spPr>
      </p:pic>
      <p:sp>
        <p:nvSpPr>
          <p:cNvPr id="1060" name="Flèche : courbe vers la gauche 1059">
            <a:extLst>
              <a:ext uri="{FF2B5EF4-FFF2-40B4-BE49-F238E27FC236}">
                <a16:creationId xmlns:a16="http://schemas.microsoft.com/office/drawing/2014/main" id="{DC2B5ABE-C8A3-24F3-6F07-2E9B5699AAAC}"/>
              </a:ext>
            </a:extLst>
          </p:cNvPr>
          <p:cNvSpPr/>
          <p:nvPr/>
        </p:nvSpPr>
        <p:spPr>
          <a:xfrm>
            <a:off x="5970851" y="1162683"/>
            <a:ext cx="454172" cy="1320126"/>
          </a:xfrm>
          <a:prstGeom prst="curved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1061" name="Organigramme : Disque magnétique 1060">
            <a:extLst>
              <a:ext uri="{FF2B5EF4-FFF2-40B4-BE49-F238E27FC236}">
                <a16:creationId xmlns:a16="http://schemas.microsoft.com/office/drawing/2014/main" id="{6EA00B25-A636-AF85-8BE5-7A857994179A}"/>
              </a:ext>
            </a:extLst>
          </p:cNvPr>
          <p:cNvSpPr/>
          <p:nvPr/>
        </p:nvSpPr>
        <p:spPr>
          <a:xfrm>
            <a:off x="5062501" y="327001"/>
            <a:ext cx="2852202" cy="399672"/>
          </a:xfrm>
          <a:prstGeom prst="flowChartMagneticDisk">
            <a:avLst/>
          </a:prstGeom>
          <a:solidFill>
            <a:srgbClr val="65E3AA"/>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solidFill>
                  <a:srgbClr val="000000"/>
                </a:solidFill>
              </a:rPr>
              <a:t>bank.proto</a:t>
            </a:r>
          </a:p>
        </p:txBody>
      </p:sp>
      <p:pic>
        <p:nvPicPr>
          <p:cNvPr id="1062" name="Picture 2" descr="Settings PNG Transparent Images | PNG All">
            <a:extLst>
              <a:ext uri="{FF2B5EF4-FFF2-40B4-BE49-F238E27FC236}">
                <a16:creationId xmlns:a16="http://schemas.microsoft.com/office/drawing/2014/main" id="{1A0827DD-600D-4943-8355-2172899B5F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82754" y="1352270"/>
            <a:ext cx="947928" cy="869841"/>
          </a:xfrm>
          <a:prstGeom prst="rect">
            <a:avLst/>
          </a:prstGeom>
          <a:noFill/>
          <a:extLst>
            <a:ext uri="{909E8E84-426E-40DD-AFC4-6F175D3DCCD1}">
              <a14:hiddenFill xmlns:a14="http://schemas.microsoft.com/office/drawing/2010/main">
                <a:solidFill>
                  <a:srgbClr val="FFFFFF"/>
                </a:solidFill>
              </a14:hiddenFill>
            </a:ext>
          </a:extLst>
        </p:spPr>
      </p:pic>
      <p:sp>
        <p:nvSpPr>
          <p:cNvPr id="1063" name="Flèche : courbe vers la gauche 1062">
            <a:extLst>
              <a:ext uri="{FF2B5EF4-FFF2-40B4-BE49-F238E27FC236}">
                <a16:creationId xmlns:a16="http://schemas.microsoft.com/office/drawing/2014/main" id="{8EA023BD-D06E-3E7A-C585-DA7011D04D7C}"/>
              </a:ext>
            </a:extLst>
          </p:cNvPr>
          <p:cNvSpPr/>
          <p:nvPr/>
        </p:nvSpPr>
        <p:spPr>
          <a:xfrm>
            <a:off x="7291979" y="1151580"/>
            <a:ext cx="454172" cy="1320126"/>
          </a:xfrm>
          <a:prstGeom prst="curved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cxnSp>
        <p:nvCxnSpPr>
          <p:cNvPr id="1064" name="Connecteur droit avec flèche 1063">
            <a:extLst>
              <a:ext uri="{FF2B5EF4-FFF2-40B4-BE49-F238E27FC236}">
                <a16:creationId xmlns:a16="http://schemas.microsoft.com/office/drawing/2014/main" id="{E4D33481-91E1-A8F8-0DC0-D5B87D4F9565}"/>
              </a:ext>
            </a:extLst>
          </p:cNvPr>
          <p:cNvCxnSpPr/>
          <p:nvPr/>
        </p:nvCxnSpPr>
        <p:spPr>
          <a:xfrm>
            <a:off x="5758903" y="726673"/>
            <a:ext cx="0" cy="6255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65" name="Connecteur droit avec flèche 1064">
            <a:extLst>
              <a:ext uri="{FF2B5EF4-FFF2-40B4-BE49-F238E27FC236}">
                <a16:creationId xmlns:a16="http://schemas.microsoft.com/office/drawing/2014/main" id="{40BD7BA5-9DCF-35F7-A7CC-8982A916F40E}"/>
              </a:ext>
            </a:extLst>
          </p:cNvPr>
          <p:cNvCxnSpPr/>
          <p:nvPr/>
        </p:nvCxnSpPr>
        <p:spPr>
          <a:xfrm>
            <a:off x="7098203" y="727682"/>
            <a:ext cx="0" cy="6255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66" name="Rectangle 1065">
            <a:extLst>
              <a:ext uri="{FF2B5EF4-FFF2-40B4-BE49-F238E27FC236}">
                <a16:creationId xmlns:a16="http://schemas.microsoft.com/office/drawing/2014/main" id="{C3D46FE1-9266-10BF-3B07-CE1CF8FC0C31}"/>
              </a:ext>
            </a:extLst>
          </p:cNvPr>
          <p:cNvSpPr/>
          <p:nvPr/>
        </p:nvSpPr>
        <p:spPr>
          <a:xfrm>
            <a:off x="3834915" y="2846157"/>
            <a:ext cx="1705022" cy="2022568"/>
          </a:xfrm>
          <a:prstGeom prst="rect">
            <a:avLst/>
          </a:prstGeom>
          <a:ln>
            <a:solidFill>
              <a:schemeClr val="bg1"/>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fr-FR" sz="1100" dirty="0">
              <a:solidFill>
                <a:schemeClr val="bg1">
                  <a:lumMod val="10000"/>
                </a:schemeClr>
              </a:solidFill>
            </a:endParaRPr>
          </a:p>
        </p:txBody>
      </p:sp>
      <p:sp>
        <p:nvSpPr>
          <p:cNvPr id="1067" name="Rectangle 1066">
            <a:extLst>
              <a:ext uri="{FF2B5EF4-FFF2-40B4-BE49-F238E27FC236}">
                <a16:creationId xmlns:a16="http://schemas.microsoft.com/office/drawing/2014/main" id="{F0147D9B-15CD-4811-CBD9-21ED2D08D980}"/>
              </a:ext>
            </a:extLst>
          </p:cNvPr>
          <p:cNvSpPr/>
          <p:nvPr/>
        </p:nvSpPr>
        <p:spPr>
          <a:xfrm>
            <a:off x="3821092" y="2617001"/>
            <a:ext cx="1718846" cy="242225"/>
          </a:xfrm>
          <a:prstGeom prst="rect">
            <a:avLst/>
          </a:prstGeom>
          <a:solidFill>
            <a:srgbClr val="00B0F0"/>
          </a:solidFill>
          <a:ln>
            <a:solidFill>
              <a:schemeClr val="bg1"/>
            </a:solidFill>
          </a:ln>
        </p:spPr>
        <p:style>
          <a:lnRef idx="1">
            <a:schemeClr val="dk1"/>
          </a:lnRef>
          <a:fillRef idx="2">
            <a:schemeClr val="dk1"/>
          </a:fillRef>
          <a:effectRef idx="1">
            <a:schemeClr val="dk1"/>
          </a:effectRef>
          <a:fontRef idx="minor">
            <a:schemeClr val="dk1"/>
          </a:fontRef>
        </p:style>
        <p:txBody>
          <a:bodyPr rtlCol="0" anchor="ctr"/>
          <a:lstStyle/>
          <a:p>
            <a:pPr algn="ctr"/>
            <a:r>
              <a:rPr lang="fr-FR" sz="1100" dirty="0">
                <a:solidFill>
                  <a:srgbClr val="000000"/>
                </a:solidFill>
              </a:rPr>
              <a:t>Java Client</a:t>
            </a:r>
            <a:endParaRPr lang="fr-FR" dirty="0">
              <a:solidFill>
                <a:srgbClr val="000000"/>
              </a:solidFill>
            </a:endParaRPr>
          </a:p>
        </p:txBody>
      </p:sp>
      <p:sp>
        <p:nvSpPr>
          <p:cNvPr id="1068" name="Rectangle 1067">
            <a:extLst>
              <a:ext uri="{FF2B5EF4-FFF2-40B4-BE49-F238E27FC236}">
                <a16:creationId xmlns:a16="http://schemas.microsoft.com/office/drawing/2014/main" id="{382AD108-3D3D-A106-394D-C10FEB5BDB06}"/>
              </a:ext>
            </a:extLst>
          </p:cNvPr>
          <p:cNvSpPr/>
          <p:nvPr/>
        </p:nvSpPr>
        <p:spPr>
          <a:xfrm rot="16200000">
            <a:off x="4674952" y="3572824"/>
            <a:ext cx="2251728" cy="340073"/>
          </a:xfrm>
          <a:prstGeom prst="rect">
            <a:avLst/>
          </a:prstGeom>
          <a:solidFill>
            <a:srgbClr val="D1FFA1"/>
          </a:solidFill>
          <a:ln/>
        </p:spPr>
        <p:style>
          <a:lnRef idx="0">
            <a:schemeClr val="dk1"/>
          </a:lnRef>
          <a:fillRef idx="3">
            <a:schemeClr val="dk1"/>
          </a:fillRef>
          <a:effectRef idx="3">
            <a:schemeClr val="dk1"/>
          </a:effectRef>
          <a:fontRef idx="minor">
            <a:schemeClr val="lt1"/>
          </a:fontRef>
        </p:style>
        <p:txBody>
          <a:bodyPr rtlCol="0" anchor="ctr"/>
          <a:lstStyle/>
          <a:p>
            <a:pPr algn="ctr"/>
            <a:r>
              <a:rPr lang="fr-FR" sz="1100" dirty="0">
                <a:solidFill>
                  <a:schemeClr val="bg1">
                    <a:lumMod val="10000"/>
                  </a:schemeClr>
                </a:solidFill>
              </a:rPr>
              <a:t>Java Stub Code</a:t>
            </a:r>
            <a:endParaRPr lang="fr-FR" dirty="0">
              <a:solidFill>
                <a:schemeClr val="bg1">
                  <a:lumMod val="10000"/>
                </a:schemeClr>
              </a:solidFill>
            </a:endParaRPr>
          </a:p>
        </p:txBody>
      </p:sp>
      <p:cxnSp>
        <p:nvCxnSpPr>
          <p:cNvPr id="1069" name="Connecteur droit avec flèche 1068">
            <a:extLst>
              <a:ext uri="{FF2B5EF4-FFF2-40B4-BE49-F238E27FC236}">
                <a16:creationId xmlns:a16="http://schemas.microsoft.com/office/drawing/2014/main" id="{747B2A7F-DF15-1E13-CAA9-CD9414E277C7}"/>
              </a:ext>
            </a:extLst>
          </p:cNvPr>
          <p:cNvCxnSpPr>
            <a:cxnSpLocks/>
          </p:cNvCxnSpPr>
          <p:nvPr/>
        </p:nvCxnSpPr>
        <p:spPr>
          <a:xfrm>
            <a:off x="5796245" y="2222111"/>
            <a:ext cx="0" cy="3301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70" name="Rectangle 1069">
            <a:extLst>
              <a:ext uri="{FF2B5EF4-FFF2-40B4-BE49-F238E27FC236}">
                <a16:creationId xmlns:a16="http://schemas.microsoft.com/office/drawing/2014/main" id="{0E46E0F6-EB10-5482-4A92-D819826870EF}"/>
              </a:ext>
            </a:extLst>
          </p:cNvPr>
          <p:cNvSpPr/>
          <p:nvPr/>
        </p:nvSpPr>
        <p:spPr>
          <a:xfrm>
            <a:off x="7348196" y="2847164"/>
            <a:ext cx="1705022" cy="2021561"/>
          </a:xfrm>
          <a:prstGeom prst="rect">
            <a:avLst/>
          </a:prstGeom>
          <a:ln>
            <a:solidFill>
              <a:schemeClr val="bg1"/>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fr-FR" sz="1100" dirty="0">
              <a:solidFill>
                <a:schemeClr val="bg1">
                  <a:lumMod val="10000"/>
                </a:schemeClr>
              </a:solidFill>
            </a:endParaRPr>
          </a:p>
        </p:txBody>
      </p:sp>
      <p:sp>
        <p:nvSpPr>
          <p:cNvPr id="1071" name="Rectangle 1070">
            <a:extLst>
              <a:ext uri="{FF2B5EF4-FFF2-40B4-BE49-F238E27FC236}">
                <a16:creationId xmlns:a16="http://schemas.microsoft.com/office/drawing/2014/main" id="{A3B76D14-CDE7-4354-4CF5-218B79EF57BA}"/>
              </a:ext>
            </a:extLst>
          </p:cNvPr>
          <p:cNvSpPr/>
          <p:nvPr/>
        </p:nvSpPr>
        <p:spPr>
          <a:xfrm>
            <a:off x="7334373" y="2618008"/>
            <a:ext cx="1718846" cy="242225"/>
          </a:xfrm>
          <a:prstGeom prst="rect">
            <a:avLst/>
          </a:prstGeom>
          <a:solidFill>
            <a:srgbClr val="00B0F0"/>
          </a:solidFill>
          <a:ln>
            <a:solidFill>
              <a:schemeClr val="bg1"/>
            </a:solidFill>
          </a:ln>
        </p:spPr>
        <p:style>
          <a:lnRef idx="1">
            <a:schemeClr val="dk1"/>
          </a:lnRef>
          <a:fillRef idx="2">
            <a:schemeClr val="dk1"/>
          </a:fillRef>
          <a:effectRef idx="1">
            <a:schemeClr val="dk1"/>
          </a:effectRef>
          <a:fontRef idx="minor">
            <a:schemeClr val="dk1"/>
          </a:fontRef>
        </p:style>
        <p:txBody>
          <a:bodyPr rtlCol="0" anchor="ctr"/>
          <a:lstStyle/>
          <a:p>
            <a:pPr algn="ctr"/>
            <a:r>
              <a:rPr lang="fr-FR" sz="1100" dirty="0">
                <a:solidFill>
                  <a:srgbClr val="000000"/>
                </a:solidFill>
              </a:rPr>
              <a:t>C++ Server</a:t>
            </a:r>
            <a:endParaRPr lang="fr-FR" dirty="0">
              <a:solidFill>
                <a:srgbClr val="000000"/>
              </a:solidFill>
            </a:endParaRPr>
          </a:p>
        </p:txBody>
      </p:sp>
      <p:sp>
        <p:nvSpPr>
          <p:cNvPr id="1072" name="Rectangle 1071">
            <a:extLst>
              <a:ext uri="{FF2B5EF4-FFF2-40B4-BE49-F238E27FC236}">
                <a16:creationId xmlns:a16="http://schemas.microsoft.com/office/drawing/2014/main" id="{580410F5-FA38-6A84-2EDB-B57445369111}"/>
              </a:ext>
            </a:extLst>
          </p:cNvPr>
          <p:cNvSpPr/>
          <p:nvPr/>
        </p:nvSpPr>
        <p:spPr>
          <a:xfrm rot="16200000">
            <a:off x="5987515" y="3576355"/>
            <a:ext cx="2244665" cy="340073"/>
          </a:xfrm>
          <a:prstGeom prst="rect">
            <a:avLst/>
          </a:prstGeom>
          <a:solidFill>
            <a:srgbClr val="D1FFA1"/>
          </a:solidFill>
          <a:ln/>
        </p:spPr>
        <p:style>
          <a:lnRef idx="0">
            <a:schemeClr val="dk1"/>
          </a:lnRef>
          <a:fillRef idx="3">
            <a:schemeClr val="dk1"/>
          </a:fillRef>
          <a:effectRef idx="3">
            <a:schemeClr val="dk1"/>
          </a:effectRef>
          <a:fontRef idx="minor">
            <a:schemeClr val="lt1"/>
          </a:fontRef>
        </p:style>
        <p:txBody>
          <a:bodyPr rtlCol="0" anchor="ctr"/>
          <a:lstStyle/>
          <a:p>
            <a:pPr algn="ctr"/>
            <a:r>
              <a:rPr lang="fr-FR" sz="1100" dirty="0">
                <a:solidFill>
                  <a:schemeClr val="bg1">
                    <a:lumMod val="10000"/>
                  </a:schemeClr>
                </a:solidFill>
              </a:rPr>
              <a:t>	C++ Stub Code</a:t>
            </a:r>
            <a:endParaRPr lang="fr-FR" dirty="0">
              <a:solidFill>
                <a:schemeClr val="bg1">
                  <a:lumMod val="10000"/>
                </a:schemeClr>
              </a:solidFill>
            </a:endParaRPr>
          </a:p>
        </p:txBody>
      </p:sp>
      <p:sp>
        <p:nvSpPr>
          <p:cNvPr id="1073" name="Rectangle 1072">
            <a:extLst>
              <a:ext uri="{FF2B5EF4-FFF2-40B4-BE49-F238E27FC236}">
                <a16:creationId xmlns:a16="http://schemas.microsoft.com/office/drawing/2014/main" id="{42689D0E-4A05-AB20-F987-F6C858BD1056}"/>
              </a:ext>
            </a:extLst>
          </p:cNvPr>
          <p:cNvSpPr/>
          <p:nvPr/>
        </p:nvSpPr>
        <p:spPr>
          <a:xfrm>
            <a:off x="4102700" y="3482676"/>
            <a:ext cx="1268641" cy="593224"/>
          </a:xfrm>
          <a:prstGeom prst="rect">
            <a:avLst/>
          </a:prstGeom>
          <a:ln>
            <a:solidFill>
              <a:schemeClr val="bg1"/>
            </a:solidFill>
          </a:ln>
        </p:spPr>
        <p:style>
          <a:lnRef idx="1">
            <a:schemeClr val="dk1"/>
          </a:lnRef>
          <a:fillRef idx="2">
            <a:schemeClr val="dk1"/>
          </a:fillRef>
          <a:effectRef idx="1">
            <a:schemeClr val="dk1"/>
          </a:effectRef>
          <a:fontRef idx="minor">
            <a:schemeClr val="dk1"/>
          </a:fontRef>
        </p:style>
        <p:txBody>
          <a:bodyPr rtlCol="0" anchor="ctr"/>
          <a:lstStyle/>
          <a:p>
            <a:pPr algn="ctr"/>
            <a:r>
              <a:rPr lang="fr-FR" sz="1100" dirty="0">
                <a:solidFill>
                  <a:schemeClr val="bg1">
                    <a:lumMod val="10000"/>
                  </a:schemeClr>
                </a:solidFill>
              </a:rPr>
              <a:t>Id=‘’6835…332’’</a:t>
            </a:r>
            <a:br>
              <a:rPr lang="fr-FR" sz="1100" dirty="0">
                <a:solidFill>
                  <a:schemeClr val="bg1">
                    <a:lumMod val="10000"/>
                  </a:schemeClr>
                </a:solidFill>
              </a:rPr>
            </a:br>
            <a:r>
              <a:rPr lang="fr-FR" sz="1100" dirty="0">
                <a:solidFill>
                  <a:schemeClr val="bg1">
                    <a:lumMod val="10000"/>
                  </a:schemeClr>
                </a:solidFill>
              </a:rPr>
              <a:t>Balance=100000</a:t>
            </a:r>
            <a:endParaRPr lang="fr-FR" dirty="0">
              <a:solidFill>
                <a:schemeClr val="bg1">
                  <a:lumMod val="10000"/>
                </a:schemeClr>
              </a:solidFill>
            </a:endParaRPr>
          </a:p>
        </p:txBody>
      </p:sp>
      <p:sp>
        <p:nvSpPr>
          <p:cNvPr id="1074" name="Rectangle 1073">
            <a:extLst>
              <a:ext uri="{FF2B5EF4-FFF2-40B4-BE49-F238E27FC236}">
                <a16:creationId xmlns:a16="http://schemas.microsoft.com/office/drawing/2014/main" id="{7BB2C352-FF8B-7968-8556-8B8CBF4ED0BE}"/>
              </a:ext>
            </a:extLst>
          </p:cNvPr>
          <p:cNvSpPr/>
          <p:nvPr/>
        </p:nvSpPr>
        <p:spPr>
          <a:xfrm>
            <a:off x="4102701" y="3234214"/>
            <a:ext cx="1268640" cy="242225"/>
          </a:xfrm>
          <a:prstGeom prst="rect">
            <a:avLst/>
          </a:prstGeom>
          <a:solidFill>
            <a:srgbClr val="FB9705"/>
          </a:solidFill>
          <a:ln>
            <a:solidFill>
              <a:schemeClr val="bg1"/>
            </a:solidFill>
          </a:ln>
        </p:spPr>
        <p:style>
          <a:lnRef idx="1">
            <a:schemeClr val="dk1"/>
          </a:lnRef>
          <a:fillRef idx="2">
            <a:schemeClr val="dk1"/>
          </a:fillRef>
          <a:effectRef idx="1">
            <a:schemeClr val="dk1"/>
          </a:effectRef>
          <a:fontRef idx="minor">
            <a:schemeClr val="dk1"/>
          </a:fontRef>
        </p:style>
        <p:txBody>
          <a:bodyPr rtlCol="0" anchor="ctr"/>
          <a:lstStyle/>
          <a:p>
            <a:pPr algn="ctr"/>
            <a:r>
              <a:rPr lang="fr-FR" sz="1100" dirty="0">
                <a:solidFill>
                  <a:srgbClr val="000000"/>
                </a:solidFill>
              </a:rPr>
              <a:t>: Account</a:t>
            </a:r>
            <a:endParaRPr lang="fr-FR" dirty="0">
              <a:solidFill>
                <a:srgbClr val="000000"/>
              </a:solidFill>
            </a:endParaRPr>
          </a:p>
        </p:txBody>
      </p:sp>
      <p:sp>
        <p:nvSpPr>
          <p:cNvPr id="1075" name="Rectangle 1074">
            <a:extLst>
              <a:ext uri="{FF2B5EF4-FFF2-40B4-BE49-F238E27FC236}">
                <a16:creationId xmlns:a16="http://schemas.microsoft.com/office/drawing/2014/main" id="{69048FEE-C183-A3A6-32DC-7E1C3C8ABC26}"/>
              </a:ext>
            </a:extLst>
          </p:cNvPr>
          <p:cNvSpPr/>
          <p:nvPr/>
        </p:nvSpPr>
        <p:spPr>
          <a:xfrm>
            <a:off x="7549364" y="4174033"/>
            <a:ext cx="1268641" cy="593224"/>
          </a:xfrm>
          <a:prstGeom prst="rect">
            <a:avLst/>
          </a:prstGeom>
          <a:ln>
            <a:solidFill>
              <a:schemeClr val="bg1"/>
            </a:solidFill>
          </a:ln>
        </p:spPr>
        <p:style>
          <a:lnRef idx="1">
            <a:schemeClr val="dk1"/>
          </a:lnRef>
          <a:fillRef idx="2">
            <a:schemeClr val="dk1"/>
          </a:fillRef>
          <a:effectRef idx="1">
            <a:schemeClr val="dk1"/>
          </a:effectRef>
          <a:fontRef idx="minor">
            <a:schemeClr val="dk1"/>
          </a:fontRef>
        </p:style>
        <p:txBody>
          <a:bodyPr rtlCol="0" anchor="ctr"/>
          <a:lstStyle/>
          <a:p>
            <a:pPr algn="ctr"/>
            <a:r>
              <a:rPr lang="fr-FR" sz="1100" dirty="0">
                <a:solidFill>
                  <a:schemeClr val="bg1">
                    <a:lumMod val="10000"/>
                  </a:schemeClr>
                </a:solidFill>
              </a:rPr>
              <a:t>Id=‘’6835…332’’</a:t>
            </a:r>
            <a:br>
              <a:rPr lang="fr-FR" sz="1100" dirty="0">
                <a:solidFill>
                  <a:schemeClr val="bg1">
                    <a:lumMod val="10000"/>
                  </a:schemeClr>
                </a:solidFill>
              </a:rPr>
            </a:br>
            <a:r>
              <a:rPr lang="fr-FR" sz="1100" dirty="0">
                <a:solidFill>
                  <a:schemeClr val="bg1">
                    <a:lumMod val="10000"/>
                  </a:schemeClr>
                </a:solidFill>
              </a:rPr>
              <a:t>Balance=100000</a:t>
            </a:r>
            <a:endParaRPr lang="fr-FR" dirty="0">
              <a:solidFill>
                <a:schemeClr val="bg1">
                  <a:lumMod val="10000"/>
                </a:schemeClr>
              </a:solidFill>
            </a:endParaRPr>
          </a:p>
        </p:txBody>
      </p:sp>
      <p:sp>
        <p:nvSpPr>
          <p:cNvPr id="1076" name="Rectangle 1075">
            <a:extLst>
              <a:ext uri="{FF2B5EF4-FFF2-40B4-BE49-F238E27FC236}">
                <a16:creationId xmlns:a16="http://schemas.microsoft.com/office/drawing/2014/main" id="{4F87B8FB-36F3-E28E-2990-AB6CDC28986C}"/>
              </a:ext>
            </a:extLst>
          </p:cNvPr>
          <p:cNvSpPr/>
          <p:nvPr/>
        </p:nvSpPr>
        <p:spPr>
          <a:xfrm>
            <a:off x="7549365" y="3925571"/>
            <a:ext cx="1268640" cy="242225"/>
          </a:xfrm>
          <a:prstGeom prst="rect">
            <a:avLst/>
          </a:prstGeom>
          <a:solidFill>
            <a:srgbClr val="FB9705"/>
          </a:solidFill>
          <a:ln>
            <a:solidFill>
              <a:schemeClr val="bg1"/>
            </a:solidFill>
          </a:ln>
        </p:spPr>
        <p:style>
          <a:lnRef idx="1">
            <a:schemeClr val="dk1"/>
          </a:lnRef>
          <a:fillRef idx="2">
            <a:schemeClr val="dk1"/>
          </a:fillRef>
          <a:effectRef idx="1">
            <a:schemeClr val="dk1"/>
          </a:effectRef>
          <a:fontRef idx="minor">
            <a:schemeClr val="dk1"/>
          </a:fontRef>
        </p:style>
        <p:txBody>
          <a:bodyPr rtlCol="0" anchor="ctr"/>
          <a:lstStyle/>
          <a:p>
            <a:pPr algn="ctr"/>
            <a:r>
              <a:rPr lang="fr-FR" sz="1100" dirty="0">
                <a:solidFill>
                  <a:srgbClr val="000000"/>
                </a:solidFill>
              </a:rPr>
              <a:t>: Account</a:t>
            </a:r>
            <a:endParaRPr lang="fr-FR" dirty="0">
              <a:solidFill>
                <a:srgbClr val="000000"/>
              </a:solidFill>
            </a:endParaRPr>
          </a:p>
        </p:txBody>
      </p:sp>
      <p:sp>
        <p:nvSpPr>
          <p:cNvPr id="1077" name="Rectangle 1076">
            <a:extLst>
              <a:ext uri="{FF2B5EF4-FFF2-40B4-BE49-F238E27FC236}">
                <a16:creationId xmlns:a16="http://schemas.microsoft.com/office/drawing/2014/main" id="{5D245B49-550F-F299-3BFE-C8D970DE0EC5}"/>
              </a:ext>
            </a:extLst>
          </p:cNvPr>
          <p:cNvSpPr/>
          <p:nvPr/>
        </p:nvSpPr>
        <p:spPr>
          <a:xfrm>
            <a:off x="7549359" y="3223292"/>
            <a:ext cx="1268641" cy="404029"/>
          </a:xfrm>
          <a:prstGeom prst="rect">
            <a:avLst/>
          </a:prstGeom>
          <a:ln>
            <a:solidFill>
              <a:schemeClr val="bg1"/>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fr-FR" dirty="0">
              <a:solidFill>
                <a:schemeClr val="bg1">
                  <a:lumMod val="10000"/>
                </a:schemeClr>
              </a:solidFill>
            </a:endParaRPr>
          </a:p>
        </p:txBody>
      </p:sp>
      <p:sp>
        <p:nvSpPr>
          <p:cNvPr id="1078" name="Rectangle 1077">
            <a:extLst>
              <a:ext uri="{FF2B5EF4-FFF2-40B4-BE49-F238E27FC236}">
                <a16:creationId xmlns:a16="http://schemas.microsoft.com/office/drawing/2014/main" id="{F7AAB39C-F916-483C-68E7-2A03442FAE76}"/>
              </a:ext>
            </a:extLst>
          </p:cNvPr>
          <p:cNvSpPr/>
          <p:nvPr/>
        </p:nvSpPr>
        <p:spPr>
          <a:xfrm>
            <a:off x="7549360" y="2974830"/>
            <a:ext cx="1268640" cy="242225"/>
          </a:xfrm>
          <a:prstGeom prst="rect">
            <a:avLst/>
          </a:prstGeom>
          <a:solidFill>
            <a:srgbClr val="FB9705"/>
          </a:solidFill>
          <a:ln>
            <a:solidFill>
              <a:schemeClr val="bg1"/>
            </a:solidFill>
          </a:ln>
        </p:spPr>
        <p:style>
          <a:lnRef idx="1">
            <a:schemeClr val="dk1"/>
          </a:lnRef>
          <a:fillRef idx="2">
            <a:schemeClr val="dk1"/>
          </a:fillRef>
          <a:effectRef idx="1">
            <a:schemeClr val="dk1"/>
          </a:effectRef>
          <a:fontRef idx="minor">
            <a:schemeClr val="dk1"/>
          </a:fontRef>
        </p:style>
        <p:txBody>
          <a:bodyPr rtlCol="0" anchor="ctr"/>
          <a:lstStyle/>
          <a:p>
            <a:pPr algn="ctr"/>
            <a:r>
              <a:rPr lang="fr-FR" sz="1100" dirty="0">
                <a:solidFill>
                  <a:srgbClr val="000000"/>
                </a:solidFill>
              </a:rPr>
              <a:t>: </a:t>
            </a:r>
            <a:r>
              <a:rPr lang="fr-FR" sz="1100" dirty="0" err="1">
                <a:solidFill>
                  <a:srgbClr val="000000"/>
                </a:solidFill>
              </a:rPr>
              <a:t>BankService</a:t>
            </a:r>
            <a:endParaRPr lang="fr-FR" dirty="0">
              <a:solidFill>
                <a:srgbClr val="000000"/>
              </a:solidFill>
            </a:endParaRPr>
          </a:p>
        </p:txBody>
      </p:sp>
      <p:cxnSp>
        <p:nvCxnSpPr>
          <p:cNvPr id="1079" name="Connecteur droit avec flèche 1078">
            <a:extLst>
              <a:ext uri="{FF2B5EF4-FFF2-40B4-BE49-F238E27FC236}">
                <a16:creationId xmlns:a16="http://schemas.microsoft.com/office/drawing/2014/main" id="{8DA36E08-ED62-C022-D5CA-9C0AE0927A82}"/>
              </a:ext>
            </a:extLst>
          </p:cNvPr>
          <p:cNvCxnSpPr>
            <a:cxnSpLocks/>
          </p:cNvCxnSpPr>
          <p:nvPr/>
        </p:nvCxnSpPr>
        <p:spPr>
          <a:xfrm>
            <a:off x="7123434" y="2204952"/>
            <a:ext cx="0" cy="3301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80" name="Connecteur droit avec flèche 1079">
            <a:extLst>
              <a:ext uri="{FF2B5EF4-FFF2-40B4-BE49-F238E27FC236}">
                <a16:creationId xmlns:a16="http://schemas.microsoft.com/office/drawing/2014/main" id="{9AEE98F1-2294-9C0B-7223-9FFA586891F6}"/>
              </a:ext>
            </a:extLst>
          </p:cNvPr>
          <p:cNvCxnSpPr>
            <a:cxnSpLocks/>
            <a:stCxn id="1068" idx="0"/>
          </p:cNvCxnSpPr>
          <p:nvPr/>
        </p:nvCxnSpPr>
        <p:spPr>
          <a:xfrm flipH="1">
            <a:off x="5371341" y="3742861"/>
            <a:ext cx="25943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81" name="Rectangle : coins arrondis 1080">
            <a:extLst>
              <a:ext uri="{FF2B5EF4-FFF2-40B4-BE49-F238E27FC236}">
                <a16:creationId xmlns:a16="http://schemas.microsoft.com/office/drawing/2014/main" id="{DEB111AA-3C4B-41F8-2880-CA085DE770E6}"/>
              </a:ext>
            </a:extLst>
          </p:cNvPr>
          <p:cNvSpPr/>
          <p:nvPr/>
        </p:nvSpPr>
        <p:spPr>
          <a:xfrm>
            <a:off x="5970851" y="3100481"/>
            <a:ext cx="968959" cy="1067307"/>
          </a:xfrm>
          <a:prstGeom prst="roundRect">
            <a:avLst/>
          </a:prstGeom>
          <a:no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82" name="Rectangle : coins arrondis 1081">
            <a:extLst>
              <a:ext uri="{FF2B5EF4-FFF2-40B4-BE49-F238E27FC236}">
                <a16:creationId xmlns:a16="http://schemas.microsoft.com/office/drawing/2014/main" id="{B97A0819-5F0D-ED08-2920-684FCA08E66F}"/>
              </a:ext>
            </a:extLst>
          </p:cNvPr>
          <p:cNvSpPr/>
          <p:nvPr/>
        </p:nvSpPr>
        <p:spPr>
          <a:xfrm>
            <a:off x="6001130" y="3925571"/>
            <a:ext cx="158780" cy="150329"/>
          </a:xfrm>
          <a:prstGeom prst="roundRect">
            <a:avLst/>
          </a:prstGeom>
          <a:solidFill>
            <a:srgbClr val="FB970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83" name="Rectangle : coins arrondis 1082">
            <a:extLst>
              <a:ext uri="{FF2B5EF4-FFF2-40B4-BE49-F238E27FC236}">
                <a16:creationId xmlns:a16="http://schemas.microsoft.com/office/drawing/2014/main" id="{C5C3EFFC-AA29-35A9-5120-C23FE1F0C69F}"/>
              </a:ext>
            </a:extLst>
          </p:cNvPr>
          <p:cNvSpPr/>
          <p:nvPr/>
        </p:nvSpPr>
        <p:spPr>
          <a:xfrm>
            <a:off x="6189863" y="3932632"/>
            <a:ext cx="158780" cy="150329"/>
          </a:xfrm>
          <a:prstGeom prst="roundRect">
            <a:avLst/>
          </a:prstGeom>
          <a:solidFill>
            <a:srgbClr val="FB970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84" name="Rectangle : coins arrondis 1083">
            <a:extLst>
              <a:ext uri="{FF2B5EF4-FFF2-40B4-BE49-F238E27FC236}">
                <a16:creationId xmlns:a16="http://schemas.microsoft.com/office/drawing/2014/main" id="{60440BA6-8082-B64F-8BE2-83CE4849D28A}"/>
              </a:ext>
            </a:extLst>
          </p:cNvPr>
          <p:cNvSpPr/>
          <p:nvPr/>
        </p:nvSpPr>
        <p:spPr>
          <a:xfrm>
            <a:off x="6384652" y="3925571"/>
            <a:ext cx="158780" cy="150329"/>
          </a:xfrm>
          <a:prstGeom prst="roundRect">
            <a:avLst/>
          </a:prstGeom>
          <a:solidFill>
            <a:srgbClr val="FB970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85" name="Rectangle : coins arrondis 1084">
            <a:extLst>
              <a:ext uri="{FF2B5EF4-FFF2-40B4-BE49-F238E27FC236}">
                <a16:creationId xmlns:a16="http://schemas.microsoft.com/office/drawing/2014/main" id="{908EB366-FC41-827A-16E8-3CC3A06E8394}"/>
              </a:ext>
            </a:extLst>
          </p:cNvPr>
          <p:cNvSpPr/>
          <p:nvPr/>
        </p:nvSpPr>
        <p:spPr>
          <a:xfrm>
            <a:off x="6573710" y="3932632"/>
            <a:ext cx="158780" cy="150329"/>
          </a:xfrm>
          <a:prstGeom prst="roundRect">
            <a:avLst/>
          </a:prstGeom>
          <a:solidFill>
            <a:srgbClr val="FB970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86" name="Rectangle : coins arrondis 1085">
            <a:extLst>
              <a:ext uri="{FF2B5EF4-FFF2-40B4-BE49-F238E27FC236}">
                <a16:creationId xmlns:a16="http://schemas.microsoft.com/office/drawing/2014/main" id="{21A0EC91-76D5-A4EB-84F9-0EDF862A6FA4}"/>
              </a:ext>
            </a:extLst>
          </p:cNvPr>
          <p:cNvSpPr/>
          <p:nvPr/>
        </p:nvSpPr>
        <p:spPr>
          <a:xfrm>
            <a:off x="6762863" y="3932632"/>
            <a:ext cx="158780" cy="150329"/>
          </a:xfrm>
          <a:prstGeom prst="roundRect">
            <a:avLst/>
          </a:prstGeom>
          <a:solidFill>
            <a:srgbClr val="FB970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87" name="ZoneTexte 1086">
            <a:extLst>
              <a:ext uri="{FF2B5EF4-FFF2-40B4-BE49-F238E27FC236}">
                <a16:creationId xmlns:a16="http://schemas.microsoft.com/office/drawing/2014/main" id="{3C1DDA9F-C602-9BB8-3B05-09ABE656469E}"/>
              </a:ext>
            </a:extLst>
          </p:cNvPr>
          <p:cNvSpPr txBox="1"/>
          <p:nvPr/>
        </p:nvSpPr>
        <p:spPr>
          <a:xfrm>
            <a:off x="6001130" y="3234214"/>
            <a:ext cx="898291" cy="577081"/>
          </a:xfrm>
          <a:prstGeom prst="rect">
            <a:avLst/>
          </a:prstGeom>
          <a:noFill/>
        </p:spPr>
        <p:txBody>
          <a:bodyPr wrap="square" rtlCol="0">
            <a:spAutoFit/>
          </a:bodyPr>
          <a:lstStyle/>
          <a:p>
            <a:r>
              <a:rPr lang="fr-FR" sz="1050" dirty="0"/>
              <a:t>Protobuf</a:t>
            </a:r>
            <a:br>
              <a:rPr lang="fr-FR" sz="1050" dirty="0"/>
            </a:br>
            <a:r>
              <a:rPr lang="fr-FR" sz="1050" dirty="0"/>
              <a:t>Binary Account</a:t>
            </a:r>
            <a:endParaRPr lang="fr-FR" dirty="0"/>
          </a:p>
        </p:txBody>
      </p:sp>
      <p:cxnSp>
        <p:nvCxnSpPr>
          <p:cNvPr id="1088" name="Connecteur droit avec flèche 1087">
            <a:extLst>
              <a:ext uri="{FF2B5EF4-FFF2-40B4-BE49-F238E27FC236}">
                <a16:creationId xmlns:a16="http://schemas.microsoft.com/office/drawing/2014/main" id="{2A67E461-8A30-EF10-A920-76355641E141}"/>
              </a:ext>
            </a:extLst>
          </p:cNvPr>
          <p:cNvCxnSpPr>
            <a:cxnSpLocks/>
          </p:cNvCxnSpPr>
          <p:nvPr/>
        </p:nvCxnSpPr>
        <p:spPr>
          <a:xfrm flipV="1">
            <a:off x="7279881" y="3400708"/>
            <a:ext cx="269478" cy="62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89" name="Connecteur droit avec flèche 1088">
            <a:extLst>
              <a:ext uri="{FF2B5EF4-FFF2-40B4-BE49-F238E27FC236}">
                <a16:creationId xmlns:a16="http://schemas.microsoft.com/office/drawing/2014/main" id="{A6D138AB-E86F-9FF2-30A2-E79AC86FEED5}"/>
              </a:ext>
            </a:extLst>
          </p:cNvPr>
          <p:cNvCxnSpPr>
            <a:cxnSpLocks/>
          </p:cNvCxnSpPr>
          <p:nvPr/>
        </p:nvCxnSpPr>
        <p:spPr>
          <a:xfrm flipH="1">
            <a:off x="7279881" y="4450705"/>
            <a:ext cx="269478" cy="62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90" name="ZoneTexte 1089">
            <a:extLst>
              <a:ext uri="{FF2B5EF4-FFF2-40B4-BE49-F238E27FC236}">
                <a16:creationId xmlns:a16="http://schemas.microsoft.com/office/drawing/2014/main" id="{205F9272-7576-B602-8CCA-7C07486238CD}"/>
              </a:ext>
            </a:extLst>
          </p:cNvPr>
          <p:cNvSpPr txBox="1"/>
          <p:nvPr/>
        </p:nvSpPr>
        <p:spPr>
          <a:xfrm>
            <a:off x="6005813" y="2793992"/>
            <a:ext cx="898291" cy="307777"/>
          </a:xfrm>
          <a:prstGeom prst="rect">
            <a:avLst/>
          </a:prstGeom>
          <a:noFill/>
        </p:spPr>
        <p:txBody>
          <a:bodyPr wrap="square" rtlCol="0">
            <a:spAutoFit/>
          </a:bodyPr>
          <a:lstStyle/>
          <a:p>
            <a:r>
              <a:rPr lang="fr-FR" dirty="0"/>
              <a:t>Network</a:t>
            </a:r>
          </a:p>
        </p:txBody>
      </p:sp>
      <p:sp>
        <p:nvSpPr>
          <p:cNvPr id="1091" name="ZoneTexte 1090">
            <a:extLst>
              <a:ext uri="{FF2B5EF4-FFF2-40B4-BE49-F238E27FC236}">
                <a16:creationId xmlns:a16="http://schemas.microsoft.com/office/drawing/2014/main" id="{876CEF97-14FD-4495-0DA6-B3D65F9C7082}"/>
              </a:ext>
            </a:extLst>
          </p:cNvPr>
          <p:cNvSpPr txBox="1"/>
          <p:nvPr/>
        </p:nvSpPr>
        <p:spPr>
          <a:xfrm>
            <a:off x="4474744" y="1638376"/>
            <a:ext cx="898291" cy="738664"/>
          </a:xfrm>
          <a:prstGeom prst="rect">
            <a:avLst/>
          </a:prstGeom>
          <a:noFill/>
        </p:spPr>
        <p:txBody>
          <a:bodyPr wrap="square" rtlCol="0">
            <a:spAutoFit/>
          </a:bodyPr>
          <a:lstStyle/>
          <a:p>
            <a:pPr algn="ctr"/>
            <a:r>
              <a:rPr lang="fr-FR" dirty="0"/>
              <a:t>Protobuf</a:t>
            </a:r>
            <a:br>
              <a:rPr lang="fr-FR" dirty="0"/>
            </a:br>
            <a:r>
              <a:rPr lang="fr-FR" dirty="0"/>
              <a:t>Java</a:t>
            </a:r>
            <a:br>
              <a:rPr lang="fr-FR" dirty="0"/>
            </a:br>
            <a:r>
              <a:rPr lang="fr-FR" dirty="0"/>
              <a:t>Compiler</a:t>
            </a:r>
          </a:p>
        </p:txBody>
      </p:sp>
      <p:sp>
        <p:nvSpPr>
          <p:cNvPr id="1092" name="ZoneTexte 1091">
            <a:extLst>
              <a:ext uri="{FF2B5EF4-FFF2-40B4-BE49-F238E27FC236}">
                <a16:creationId xmlns:a16="http://schemas.microsoft.com/office/drawing/2014/main" id="{4EF74AD0-819D-3D8A-E79C-C6CCA64C1153}"/>
              </a:ext>
            </a:extLst>
          </p:cNvPr>
          <p:cNvSpPr txBox="1"/>
          <p:nvPr/>
        </p:nvSpPr>
        <p:spPr>
          <a:xfrm>
            <a:off x="7891120" y="1366877"/>
            <a:ext cx="898291" cy="738664"/>
          </a:xfrm>
          <a:prstGeom prst="rect">
            <a:avLst/>
          </a:prstGeom>
          <a:noFill/>
        </p:spPr>
        <p:txBody>
          <a:bodyPr wrap="square" rtlCol="0">
            <a:spAutoFit/>
          </a:bodyPr>
          <a:lstStyle/>
          <a:p>
            <a:pPr algn="ctr"/>
            <a:r>
              <a:rPr lang="fr-FR" dirty="0"/>
              <a:t>Protobuf</a:t>
            </a:r>
            <a:br>
              <a:rPr lang="fr-FR" dirty="0"/>
            </a:br>
            <a:r>
              <a:rPr lang="fr-FR" dirty="0"/>
              <a:t>C++</a:t>
            </a:r>
            <a:br>
              <a:rPr lang="fr-FR" dirty="0"/>
            </a:br>
            <a:r>
              <a:rPr lang="fr-FR" dirty="0"/>
              <a:t>Compiler</a:t>
            </a:r>
          </a:p>
        </p:txBody>
      </p:sp>
      <p:sp>
        <p:nvSpPr>
          <p:cNvPr id="1093" name="ZoneTexte 1092">
            <a:extLst>
              <a:ext uri="{FF2B5EF4-FFF2-40B4-BE49-F238E27FC236}">
                <a16:creationId xmlns:a16="http://schemas.microsoft.com/office/drawing/2014/main" id="{7309E391-4373-79EE-CE44-8288EB3B5985}"/>
              </a:ext>
            </a:extLst>
          </p:cNvPr>
          <p:cNvSpPr txBox="1"/>
          <p:nvPr/>
        </p:nvSpPr>
        <p:spPr>
          <a:xfrm>
            <a:off x="42390" y="800498"/>
            <a:ext cx="3647556" cy="1600438"/>
          </a:xfrm>
          <a:prstGeom prst="rect">
            <a:avLst/>
          </a:prstGeom>
          <a:noFill/>
          <a:ln>
            <a:solidFill>
              <a:schemeClr val="tx2"/>
            </a:solidFill>
          </a:ln>
        </p:spPr>
        <p:txBody>
          <a:bodyPr wrap="square" rtlCol="0">
            <a:spAutoFit/>
          </a:bodyPr>
          <a:lstStyle/>
          <a:p>
            <a:pPr>
              <a:buNone/>
            </a:pPr>
            <a:r>
              <a:rPr lang="de-DE" sz="1200" b="1" dirty="0">
                <a:latin typeface="Calibri Light" panose="020F0302020204030204" pitchFamily="34" charset="0"/>
                <a:ea typeface="Calibri Light" panose="020F0302020204030204" pitchFamily="34" charset="0"/>
                <a:cs typeface="Calibri Light" panose="020F0302020204030204" pitchFamily="34" charset="0"/>
              </a:rPr>
              <a:t>Ziele von </a:t>
            </a:r>
            <a:r>
              <a:rPr lang="de-DE" sz="1200" b="1" dirty="0" err="1">
                <a:latin typeface="Calibri Light" panose="020F0302020204030204" pitchFamily="34" charset="0"/>
                <a:ea typeface="Calibri Light" panose="020F0302020204030204" pitchFamily="34" charset="0"/>
                <a:cs typeface="Calibri Light" panose="020F0302020204030204" pitchFamily="34" charset="0"/>
              </a:rPr>
              <a:t>Protobuf</a:t>
            </a:r>
            <a:r>
              <a:rPr lang="de-DE" sz="1200" b="1" dirty="0">
                <a:latin typeface="Calibri Light" panose="020F0302020204030204" pitchFamily="34" charset="0"/>
                <a:ea typeface="Calibri Light" panose="020F0302020204030204" pitchFamily="34" charset="0"/>
                <a:cs typeface="Calibri Light" panose="020F0302020204030204" pitchFamily="34" charset="0"/>
              </a:rPr>
              <a:t>:</a:t>
            </a:r>
            <a:endParaRPr lang="de-DE" sz="1200" dirty="0">
              <a:latin typeface="Calibri Light" panose="020F0302020204030204" pitchFamily="34" charset="0"/>
              <a:ea typeface="Calibri Light" panose="020F0302020204030204" pitchFamily="34" charset="0"/>
              <a:cs typeface="Calibri Light" panose="020F0302020204030204" pitchFamily="34" charset="0"/>
            </a:endParaRPr>
          </a:p>
          <a:p>
            <a:r>
              <a:rPr lang="de-DE" sz="1200" dirty="0">
                <a:latin typeface="Calibri Light" panose="020F0302020204030204" pitchFamily="34" charset="0"/>
                <a:ea typeface="Calibri Light" panose="020F0302020204030204" pitchFamily="34" charset="0"/>
                <a:cs typeface="Calibri Light" panose="020F0302020204030204" pitchFamily="34" charset="0"/>
              </a:rPr>
              <a:t>Verteilte Anwendungen </a:t>
            </a:r>
            <a:r>
              <a:rPr lang="de-DE" sz="1200" b="1" dirty="0">
                <a:latin typeface="Calibri Light" panose="020F0302020204030204" pitchFamily="34" charset="0"/>
                <a:ea typeface="Calibri Light" panose="020F0302020204030204" pitchFamily="34" charset="0"/>
                <a:cs typeface="Calibri Light" panose="020F0302020204030204" pitchFamily="34" charset="0"/>
              </a:rPr>
              <a:t>auf sehr performante Weise</a:t>
            </a:r>
            <a:r>
              <a:rPr lang="de-DE" sz="1200" dirty="0">
                <a:latin typeface="Calibri Light" panose="020F0302020204030204" pitchFamily="34" charset="0"/>
                <a:ea typeface="Calibri Light" panose="020F0302020204030204" pitchFamily="34" charset="0"/>
                <a:cs typeface="Calibri Light" panose="020F0302020204030204" pitchFamily="34" charset="0"/>
              </a:rPr>
              <a:t> miteinander kommunizieren lassen.</a:t>
            </a:r>
          </a:p>
          <a:p>
            <a:endParaRPr lang="de-DE" sz="1200" dirty="0">
              <a:latin typeface="Calibri Light" panose="020F0302020204030204" pitchFamily="34" charset="0"/>
              <a:ea typeface="Calibri Light" panose="020F0302020204030204" pitchFamily="34" charset="0"/>
              <a:cs typeface="Calibri Light" panose="020F0302020204030204" pitchFamily="34" charset="0"/>
            </a:endParaRPr>
          </a:p>
          <a:p>
            <a:r>
              <a:rPr lang="de-DE" sz="1200" dirty="0">
                <a:latin typeface="Calibri Light" panose="020F0302020204030204" pitchFamily="34" charset="0"/>
                <a:ea typeface="Calibri Light" panose="020F0302020204030204" pitchFamily="34" charset="0"/>
                <a:cs typeface="Calibri Light" panose="020F0302020204030204" pitchFamily="34" charset="0"/>
              </a:rPr>
              <a:t>Ein </a:t>
            </a:r>
            <a:r>
              <a:rPr lang="de-DE" sz="1200" b="1" dirty="0">
                <a:latin typeface="Calibri Light" panose="020F0302020204030204" pitchFamily="34" charset="0"/>
                <a:ea typeface="Calibri Light" panose="020F0302020204030204" pitchFamily="34" charset="0"/>
                <a:cs typeface="Calibri Light" panose="020F0302020204030204" pitchFamily="34" charset="0"/>
              </a:rPr>
              <a:t>leistungsfähigeres Modell zum Kodieren und Dekodieren</a:t>
            </a:r>
            <a:r>
              <a:rPr lang="de-DE" sz="1200" dirty="0">
                <a:latin typeface="Calibri Light" panose="020F0302020204030204" pitchFamily="34" charset="0"/>
                <a:ea typeface="Calibri Light" panose="020F0302020204030204" pitchFamily="34" charset="0"/>
                <a:cs typeface="Calibri Light" panose="020F0302020204030204" pitchFamily="34" charset="0"/>
              </a:rPr>
              <a:t> bieten als bestehende Lösungen wie XML-Parser oder JSON-</a:t>
            </a:r>
            <a:r>
              <a:rPr lang="de-DE" sz="1200" dirty="0" err="1">
                <a:latin typeface="Calibri Light" panose="020F0302020204030204" pitchFamily="34" charset="0"/>
                <a:ea typeface="Calibri Light" panose="020F0302020204030204" pitchFamily="34" charset="0"/>
                <a:cs typeface="Calibri Light" panose="020F0302020204030204" pitchFamily="34" charset="0"/>
              </a:rPr>
              <a:t>Serialisierungswerkzeuge</a:t>
            </a:r>
            <a:r>
              <a:rPr lang="de-DE" sz="1200" dirty="0">
                <a:latin typeface="Calibri Light" panose="020F0302020204030204" pitchFamily="34" charset="0"/>
                <a:ea typeface="Calibri Light" panose="020F0302020204030204" pitchFamily="34" charset="0"/>
                <a:cs typeface="Calibri Light" panose="020F0302020204030204" pitchFamily="34" charset="0"/>
              </a:rPr>
              <a:t>.</a:t>
            </a:r>
          </a:p>
          <a:p>
            <a:endParaRPr lang="fr-FR" dirty="0"/>
          </a:p>
        </p:txBody>
      </p:sp>
      <p:sp>
        <p:nvSpPr>
          <p:cNvPr id="1094" name="Google Shape;492;p52">
            <a:extLst>
              <a:ext uri="{FF2B5EF4-FFF2-40B4-BE49-F238E27FC236}">
                <a16:creationId xmlns:a16="http://schemas.microsoft.com/office/drawing/2014/main" id="{AA33018B-8913-7E48-7623-DD4DCF98AA59}"/>
              </a:ext>
            </a:extLst>
          </p:cNvPr>
          <p:cNvSpPr txBox="1">
            <a:spLocks/>
          </p:cNvSpPr>
          <p:nvPr/>
        </p:nvSpPr>
        <p:spPr>
          <a:xfrm>
            <a:off x="393615" y="137259"/>
            <a:ext cx="2773478" cy="389578"/>
          </a:xfrm>
          <a:prstGeom prst="rect">
            <a:avLst/>
          </a:prstGeom>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fr-FR" sz="1800" dirty="0"/>
              <a:t>Protocol Buffer: Ziele</a:t>
            </a:r>
          </a:p>
        </p:txBody>
      </p:sp>
    </p:spTree>
    <p:extLst>
      <p:ext uri="{BB962C8B-B14F-4D97-AF65-F5344CB8AC3E}">
        <p14:creationId xmlns:p14="http://schemas.microsoft.com/office/powerpoint/2010/main" val="517155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4A36989-ED9F-D9DC-6C46-25C2B90C568A}"/>
              </a:ext>
            </a:extLst>
          </p:cNvPr>
          <p:cNvSpPr/>
          <p:nvPr/>
        </p:nvSpPr>
        <p:spPr>
          <a:xfrm>
            <a:off x="5775767" y="397894"/>
            <a:ext cx="2017109" cy="2197184"/>
          </a:xfrm>
          <a:prstGeom prst="rect">
            <a:avLst/>
          </a:prstGeom>
          <a:ln/>
        </p:spPr>
        <p:style>
          <a:lnRef idx="1">
            <a:schemeClr val="dk1"/>
          </a:lnRef>
          <a:fillRef idx="2">
            <a:schemeClr val="dk1"/>
          </a:fillRef>
          <a:effectRef idx="1">
            <a:schemeClr val="dk1"/>
          </a:effectRef>
          <a:fontRef idx="minor">
            <a:schemeClr val="dk1"/>
          </a:fontRef>
        </p:style>
        <p:txBody>
          <a:bodyPr rtlCol="0" anchor="ctr"/>
          <a:lstStyle/>
          <a:p>
            <a:pPr algn="ctr"/>
            <a:endParaRPr lang="fr-FR" sz="1100" dirty="0">
              <a:solidFill>
                <a:schemeClr val="bg1">
                  <a:lumMod val="10000"/>
                </a:schemeClr>
              </a:solidFill>
            </a:endParaRPr>
          </a:p>
        </p:txBody>
      </p:sp>
      <p:sp>
        <p:nvSpPr>
          <p:cNvPr id="3" name="Rectangle 2">
            <a:extLst>
              <a:ext uri="{FF2B5EF4-FFF2-40B4-BE49-F238E27FC236}">
                <a16:creationId xmlns:a16="http://schemas.microsoft.com/office/drawing/2014/main" id="{55B85782-35EE-853A-7A29-6EA91218057D}"/>
              </a:ext>
            </a:extLst>
          </p:cNvPr>
          <p:cNvSpPr/>
          <p:nvPr/>
        </p:nvSpPr>
        <p:spPr>
          <a:xfrm>
            <a:off x="5767999" y="155669"/>
            <a:ext cx="2026041" cy="242225"/>
          </a:xfrm>
          <a:prstGeom prst="rect">
            <a:avLst/>
          </a:prstGeom>
          <a:solidFill>
            <a:srgbClr val="00B0F0"/>
          </a:solidFill>
          <a:ln>
            <a:solidFill>
              <a:schemeClr val="bg1">
                <a:lumMod val="25000"/>
              </a:schemeClr>
            </a:solidFill>
          </a:ln>
        </p:spPr>
        <p:style>
          <a:lnRef idx="1">
            <a:schemeClr val="dk1"/>
          </a:lnRef>
          <a:fillRef idx="2">
            <a:schemeClr val="dk1"/>
          </a:fillRef>
          <a:effectRef idx="1">
            <a:schemeClr val="dk1"/>
          </a:effectRef>
          <a:fontRef idx="minor">
            <a:schemeClr val="dk1"/>
          </a:fontRef>
        </p:style>
        <p:txBody>
          <a:bodyPr rtlCol="0" anchor="ctr"/>
          <a:lstStyle/>
          <a:p>
            <a:pPr algn="ctr"/>
            <a:r>
              <a:rPr lang="fr-FR" sz="1100" dirty="0">
                <a:solidFill>
                  <a:srgbClr val="000000"/>
                </a:solidFill>
              </a:rPr>
              <a:t>Application Server</a:t>
            </a:r>
            <a:endParaRPr lang="fr-FR" dirty="0">
              <a:solidFill>
                <a:srgbClr val="000000"/>
              </a:solidFill>
            </a:endParaRPr>
          </a:p>
        </p:txBody>
      </p:sp>
      <p:sp>
        <p:nvSpPr>
          <p:cNvPr id="4" name="Rectangle 3">
            <a:extLst>
              <a:ext uri="{FF2B5EF4-FFF2-40B4-BE49-F238E27FC236}">
                <a16:creationId xmlns:a16="http://schemas.microsoft.com/office/drawing/2014/main" id="{86985CB9-4E2B-28DB-40F6-C55C2BB9F257}"/>
              </a:ext>
            </a:extLst>
          </p:cNvPr>
          <p:cNvSpPr/>
          <p:nvPr/>
        </p:nvSpPr>
        <p:spPr>
          <a:xfrm>
            <a:off x="5990976" y="977885"/>
            <a:ext cx="1532130" cy="1260344"/>
          </a:xfrm>
          <a:prstGeom prst="rect">
            <a:avLst/>
          </a:prstGeom>
          <a:solidFill>
            <a:srgbClr val="FFE76E"/>
          </a:solidFill>
          <a:ln>
            <a:solidFill>
              <a:schemeClr val="bg1"/>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fr-FR" sz="1100" dirty="0">
              <a:solidFill>
                <a:schemeClr val="bg1">
                  <a:lumMod val="10000"/>
                </a:schemeClr>
              </a:solidFill>
            </a:endParaRPr>
          </a:p>
        </p:txBody>
      </p:sp>
      <p:sp>
        <p:nvSpPr>
          <p:cNvPr id="5" name="Rectangle 4">
            <a:extLst>
              <a:ext uri="{FF2B5EF4-FFF2-40B4-BE49-F238E27FC236}">
                <a16:creationId xmlns:a16="http://schemas.microsoft.com/office/drawing/2014/main" id="{5D66C860-8D84-C3B5-61E4-0148FDF12687}"/>
              </a:ext>
            </a:extLst>
          </p:cNvPr>
          <p:cNvSpPr/>
          <p:nvPr/>
        </p:nvSpPr>
        <p:spPr>
          <a:xfrm>
            <a:off x="5980935" y="730014"/>
            <a:ext cx="1560339" cy="242225"/>
          </a:xfrm>
          <a:prstGeom prst="rect">
            <a:avLst/>
          </a:prstGeom>
          <a:solidFill>
            <a:schemeClr val="tx2">
              <a:lumMod val="60000"/>
              <a:lumOff val="40000"/>
            </a:schemeClr>
          </a:solidFill>
          <a:ln>
            <a:solidFill>
              <a:schemeClr val="bg1"/>
            </a:solidFill>
          </a:ln>
        </p:spPr>
        <p:style>
          <a:lnRef idx="1">
            <a:schemeClr val="dk1"/>
          </a:lnRef>
          <a:fillRef idx="2">
            <a:schemeClr val="dk1"/>
          </a:fillRef>
          <a:effectRef idx="1">
            <a:schemeClr val="dk1"/>
          </a:effectRef>
          <a:fontRef idx="minor">
            <a:schemeClr val="dk1"/>
          </a:fontRef>
        </p:style>
        <p:txBody>
          <a:bodyPr rtlCol="0" anchor="ctr"/>
          <a:lstStyle/>
          <a:p>
            <a:pPr algn="ctr"/>
            <a:r>
              <a:rPr lang="fr-FR" sz="1100" dirty="0">
                <a:solidFill>
                  <a:srgbClr val="000000"/>
                </a:solidFill>
              </a:rPr>
              <a:t>Java Application</a:t>
            </a:r>
            <a:endParaRPr lang="fr-FR" dirty="0">
              <a:solidFill>
                <a:srgbClr val="000000"/>
              </a:solidFill>
            </a:endParaRPr>
          </a:p>
        </p:txBody>
      </p:sp>
      <p:sp>
        <p:nvSpPr>
          <p:cNvPr id="6" name="Rectangle 5">
            <a:extLst>
              <a:ext uri="{FF2B5EF4-FFF2-40B4-BE49-F238E27FC236}">
                <a16:creationId xmlns:a16="http://schemas.microsoft.com/office/drawing/2014/main" id="{21DBC21C-99DF-8CB3-B96B-600DD8E99313}"/>
              </a:ext>
            </a:extLst>
          </p:cNvPr>
          <p:cNvSpPr/>
          <p:nvPr/>
        </p:nvSpPr>
        <p:spPr>
          <a:xfrm>
            <a:off x="6213243" y="1442516"/>
            <a:ext cx="1087595" cy="365727"/>
          </a:xfrm>
          <a:prstGeom prst="rect">
            <a:avLst/>
          </a:prstGeom>
          <a:solidFill>
            <a:srgbClr val="65E3AA"/>
          </a:solidFill>
          <a:ln/>
        </p:spPr>
        <p:style>
          <a:lnRef idx="0">
            <a:schemeClr val="dk1"/>
          </a:lnRef>
          <a:fillRef idx="3">
            <a:schemeClr val="dk1"/>
          </a:fillRef>
          <a:effectRef idx="3">
            <a:schemeClr val="dk1"/>
          </a:effectRef>
          <a:fontRef idx="minor">
            <a:schemeClr val="lt1"/>
          </a:fontRef>
        </p:style>
        <p:txBody>
          <a:bodyPr rtlCol="0" anchor="ctr"/>
          <a:lstStyle/>
          <a:p>
            <a:pPr algn="ctr"/>
            <a:r>
              <a:rPr lang="fr-FR" sz="1100" dirty="0">
                <a:solidFill>
                  <a:schemeClr val="bg1">
                    <a:lumMod val="10000"/>
                  </a:schemeClr>
                </a:solidFill>
              </a:rPr>
              <a:t>Web service</a:t>
            </a:r>
          </a:p>
        </p:txBody>
      </p:sp>
      <p:sp>
        <p:nvSpPr>
          <p:cNvPr id="7" name="Organigramme : Disque magnétique 6">
            <a:extLst>
              <a:ext uri="{FF2B5EF4-FFF2-40B4-BE49-F238E27FC236}">
                <a16:creationId xmlns:a16="http://schemas.microsoft.com/office/drawing/2014/main" id="{FD607EFB-CF33-ECB3-6845-742A3F8BE3D8}"/>
              </a:ext>
            </a:extLst>
          </p:cNvPr>
          <p:cNvSpPr/>
          <p:nvPr/>
        </p:nvSpPr>
        <p:spPr>
          <a:xfrm>
            <a:off x="8017970" y="1262529"/>
            <a:ext cx="890179" cy="691056"/>
          </a:xfrm>
          <a:prstGeom prst="flowChartMagneticDisk">
            <a:avLst/>
          </a:prstGeom>
          <a:solidFill>
            <a:srgbClr val="EABA32"/>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200" dirty="0">
                <a:ln w="3175">
                  <a:solidFill>
                    <a:schemeClr val="tx1"/>
                  </a:solidFill>
                </a:ln>
              </a:rPr>
              <a:t>MongoDB</a:t>
            </a:r>
          </a:p>
        </p:txBody>
      </p:sp>
      <p:sp>
        <p:nvSpPr>
          <p:cNvPr id="8" name="Rectangle 7">
            <a:extLst>
              <a:ext uri="{FF2B5EF4-FFF2-40B4-BE49-F238E27FC236}">
                <a16:creationId xmlns:a16="http://schemas.microsoft.com/office/drawing/2014/main" id="{9B69182C-F585-49BD-BFCD-F7B045B9782C}"/>
              </a:ext>
            </a:extLst>
          </p:cNvPr>
          <p:cNvSpPr/>
          <p:nvPr/>
        </p:nvSpPr>
        <p:spPr>
          <a:xfrm>
            <a:off x="1328855" y="406990"/>
            <a:ext cx="2017109" cy="2197184"/>
          </a:xfrm>
          <a:prstGeom prst="rect">
            <a:avLst/>
          </a:prstGeom>
          <a:ln/>
        </p:spPr>
        <p:style>
          <a:lnRef idx="1">
            <a:schemeClr val="dk1"/>
          </a:lnRef>
          <a:fillRef idx="2">
            <a:schemeClr val="dk1"/>
          </a:fillRef>
          <a:effectRef idx="1">
            <a:schemeClr val="dk1"/>
          </a:effectRef>
          <a:fontRef idx="minor">
            <a:schemeClr val="dk1"/>
          </a:fontRef>
        </p:style>
        <p:txBody>
          <a:bodyPr rtlCol="0" anchor="ctr"/>
          <a:lstStyle/>
          <a:p>
            <a:pPr algn="ctr"/>
            <a:endParaRPr lang="fr-FR" sz="1100" dirty="0">
              <a:solidFill>
                <a:schemeClr val="bg1">
                  <a:lumMod val="10000"/>
                </a:schemeClr>
              </a:solidFill>
            </a:endParaRPr>
          </a:p>
        </p:txBody>
      </p:sp>
      <p:sp>
        <p:nvSpPr>
          <p:cNvPr id="9" name="Rectangle 8">
            <a:extLst>
              <a:ext uri="{FF2B5EF4-FFF2-40B4-BE49-F238E27FC236}">
                <a16:creationId xmlns:a16="http://schemas.microsoft.com/office/drawing/2014/main" id="{7B9BA0F9-8220-D14C-5EF3-6B041134A6C9}"/>
              </a:ext>
            </a:extLst>
          </p:cNvPr>
          <p:cNvSpPr/>
          <p:nvPr/>
        </p:nvSpPr>
        <p:spPr>
          <a:xfrm>
            <a:off x="1321087" y="164765"/>
            <a:ext cx="2026041" cy="242225"/>
          </a:xfrm>
          <a:prstGeom prst="rect">
            <a:avLst/>
          </a:prstGeom>
          <a:solidFill>
            <a:srgbClr val="00B0F0"/>
          </a:solidFill>
          <a:ln>
            <a:solidFill>
              <a:schemeClr val="bg1">
                <a:lumMod val="25000"/>
              </a:schemeClr>
            </a:solidFill>
          </a:ln>
        </p:spPr>
        <p:style>
          <a:lnRef idx="1">
            <a:schemeClr val="dk1"/>
          </a:lnRef>
          <a:fillRef idx="2">
            <a:schemeClr val="dk1"/>
          </a:fillRef>
          <a:effectRef idx="1">
            <a:schemeClr val="dk1"/>
          </a:effectRef>
          <a:fontRef idx="minor">
            <a:schemeClr val="dk1"/>
          </a:fontRef>
        </p:style>
        <p:txBody>
          <a:bodyPr rtlCol="0" anchor="ctr"/>
          <a:lstStyle/>
          <a:p>
            <a:pPr algn="ctr"/>
            <a:r>
              <a:rPr lang="fr-FR" sz="1100" dirty="0">
                <a:solidFill>
                  <a:srgbClr val="000000"/>
                </a:solidFill>
              </a:rPr>
              <a:t>Application Server</a:t>
            </a:r>
            <a:endParaRPr lang="fr-FR" dirty="0">
              <a:solidFill>
                <a:srgbClr val="000000"/>
              </a:solidFill>
            </a:endParaRPr>
          </a:p>
        </p:txBody>
      </p:sp>
      <p:sp>
        <p:nvSpPr>
          <p:cNvPr id="10" name="Rectangle 9">
            <a:extLst>
              <a:ext uri="{FF2B5EF4-FFF2-40B4-BE49-F238E27FC236}">
                <a16:creationId xmlns:a16="http://schemas.microsoft.com/office/drawing/2014/main" id="{96DA91DE-85F3-1989-7F50-8DC87AFD5083}"/>
              </a:ext>
            </a:extLst>
          </p:cNvPr>
          <p:cNvSpPr/>
          <p:nvPr/>
        </p:nvSpPr>
        <p:spPr>
          <a:xfrm>
            <a:off x="1544064" y="986981"/>
            <a:ext cx="1532130" cy="1260344"/>
          </a:xfrm>
          <a:prstGeom prst="rect">
            <a:avLst/>
          </a:prstGeom>
          <a:solidFill>
            <a:srgbClr val="FFE76E"/>
          </a:solidFill>
          <a:ln>
            <a:solidFill>
              <a:schemeClr val="bg1"/>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fr-FR" sz="1100" dirty="0">
              <a:solidFill>
                <a:schemeClr val="bg1">
                  <a:lumMod val="10000"/>
                </a:schemeClr>
              </a:solidFill>
            </a:endParaRPr>
          </a:p>
        </p:txBody>
      </p:sp>
      <p:sp>
        <p:nvSpPr>
          <p:cNvPr id="11" name="Rectangle 10">
            <a:extLst>
              <a:ext uri="{FF2B5EF4-FFF2-40B4-BE49-F238E27FC236}">
                <a16:creationId xmlns:a16="http://schemas.microsoft.com/office/drawing/2014/main" id="{06EC41EF-21D2-B22E-C874-0B52049ABB84}"/>
              </a:ext>
            </a:extLst>
          </p:cNvPr>
          <p:cNvSpPr/>
          <p:nvPr/>
        </p:nvSpPr>
        <p:spPr>
          <a:xfrm>
            <a:off x="1534023" y="739110"/>
            <a:ext cx="1560339" cy="242225"/>
          </a:xfrm>
          <a:prstGeom prst="rect">
            <a:avLst/>
          </a:prstGeom>
          <a:solidFill>
            <a:schemeClr val="tx2">
              <a:lumMod val="60000"/>
              <a:lumOff val="40000"/>
            </a:schemeClr>
          </a:solidFill>
          <a:ln>
            <a:solidFill>
              <a:schemeClr val="bg1"/>
            </a:solidFill>
          </a:ln>
        </p:spPr>
        <p:style>
          <a:lnRef idx="1">
            <a:schemeClr val="dk1"/>
          </a:lnRef>
          <a:fillRef idx="2">
            <a:schemeClr val="dk1"/>
          </a:fillRef>
          <a:effectRef idx="1">
            <a:schemeClr val="dk1"/>
          </a:effectRef>
          <a:fontRef idx="minor">
            <a:schemeClr val="dk1"/>
          </a:fontRef>
        </p:style>
        <p:txBody>
          <a:bodyPr rtlCol="0" anchor="ctr"/>
          <a:lstStyle/>
          <a:p>
            <a:pPr algn="ctr"/>
            <a:r>
              <a:rPr lang="fr-FR" sz="1100" dirty="0">
                <a:solidFill>
                  <a:srgbClr val="000000"/>
                </a:solidFill>
              </a:rPr>
              <a:t>Python Application</a:t>
            </a:r>
            <a:endParaRPr lang="fr-FR" dirty="0">
              <a:solidFill>
                <a:srgbClr val="000000"/>
              </a:solidFill>
            </a:endParaRPr>
          </a:p>
        </p:txBody>
      </p:sp>
      <p:sp>
        <p:nvSpPr>
          <p:cNvPr id="12" name="Rectangle 11">
            <a:extLst>
              <a:ext uri="{FF2B5EF4-FFF2-40B4-BE49-F238E27FC236}">
                <a16:creationId xmlns:a16="http://schemas.microsoft.com/office/drawing/2014/main" id="{59D6BF4F-BC62-0FF1-71A7-08C775F1E69F}"/>
              </a:ext>
            </a:extLst>
          </p:cNvPr>
          <p:cNvSpPr/>
          <p:nvPr/>
        </p:nvSpPr>
        <p:spPr>
          <a:xfrm>
            <a:off x="1766331" y="1451612"/>
            <a:ext cx="1087595" cy="365727"/>
          </a:xfrm>
          <a:prstGeom prst="rect">
            <a:avLst/>
          </a:prstGeom>
          <a:solidFill>
            <a:srgbClr val="00B0F0"/>
          </a:solidFill>
          <a:ln/>
        </p:spPr>
        <p:style>
          <a:lnRef idx="0">
            <a:schemeClr val="dk1"/>
          </a:lnRef>
          <a:fillRef idx="3">
            <a:schemeClr val="dk1"/>
          </a:fillRef>
          <a:effectRef idx="3">
            <a:schemeClr val="dk1"/>
          </a:effectRef>
          <a:fontRef idx="minor">
            <a:schemeClr val="lt1"/>
          </a:fontRef>
        </p:style>
        <p:txBody>
          <a:bodyPr rtlCol="0" anchor="ctr"/>
          <a:lstStyle/>
          <a:p>
            <a:pPr algn="ctr"/>
            <a:r>
              <a:rPr lang="fr-FR" sz="1100" dirty="0">
                <a:solidFill>
                  <a:schemeClr val="bg1">
                    <a:lumMod val="10000"/>
                  </a:schemeClr>
                </a:solidFill>
              </a:rPr>
              <a:t>Client Web service</a:t>
            </a:r>
          </a:p>
        </p:txBody>
      </p:sp>
      <p:sp>
        <p:nvSpPr>
          <p:cNvPr id="13" name="Organigramme : Disque magnétique 12">
            <a:extLst>
              <a:ext uri="{FF2B5EF4-FFF2-40B4-BE49-F238E27FC236}">
                <a16:creationId xmlns:a16="http://schemas.microsoft.com/office/drawing/2014/main" id="{2D33300C-0FAB-356D-5489-26C8C0811356}"/>
              </a:ext>
            </a:extLst>
          </p:cNvPr>
          <p:cNvSpPr/>
          <p:nvPr/>
        </p:nvSpPr>
        <p:spPr>
          <a:xfrm>
            <a:off x="172756" y="1271625"/>
            <a:ext cx="890179" cy="691056"/>
          </a:xfrm>
          <a:prstGeom prst="flowChartMagneticDisk">
            <a:avLst/>
          </a:prstGeom>
          <a:solidFill>
            <a:srgbClr val="EABA32"/>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200" dirty="0">
                <a:ln w="3175">
                  <a:solidFill>
                    <a:schemeClr val="tx1"/>
                  </a:solidFill>
                </a:ln>
              </a:rPr>
              <a:t>MySQL</a:t>
            </a:r>
          </a:p>
        </p:txBody>
      </p:sp>
      <p:cxnSp>
        <p:nvCxnSpPr>
          <p:cNvPr id="15" name="Connecteur droit 14">
            <a:extLst>
              <a:ext uri="{FF2B5EF4-FFF2-40B4-BE49-F238E27FC236}">
                <a16:creationId xmlns:a16="http://schemas.microsoft.com/office/drawing/2014/main" id="{40DDFA08-8188-812B-E23B-AD0E8D4EC8DF}"/>
              </a:ext>
            </a:extLst>
          </p:cNvPr>
          <p:cNvCxnSpPr>
            <a:stCxn id="13" idx="4"/>
            <a:endCxn id="10" idx="1"/>
          </p:cNvCxnSpPr>
          <p:nvPr/>
        </p:nvCxnSpPr>
        <p:spPr>
          <a:xfrm>
            <a:off x="1062935" y="1617153"/>
            <a:ext cx="481129" cy="0"/>
          </a:xfrm>
          <a:prstGeom prst="line">
            <a:avLst/>
          </a:prstGeom>
        </p:spPr>
        <p:style>
          <a:lnRef idx="2">
            <a:schemeClr val="dk1"/>
          </a:lnRef>
          <a:fillRef idx="0">
            <a:schemeClr val="dk1"/>
          </a:fillRef>
          <a:effectRef idx="1">
            <a:schemeClr val="dk1"/>
          </a:effectRef>
          <a:fontRef idx="minor">
            <a:schemeClr val="tx1"/>
          </a:fontRef>
        </p:style>
      </p:cxnSp>
      <p:cxnSp>
        <p:nvCxnSpPr>
          <p:cNvPr id="16" name="Connecteur droit 15">
            <a:extLst>
              <a:ext uri="{FF2B5EF4-FFF2-40B4-BE49-F238E27FC236}">
                <a16:creationId xmlns:a16="http://schemas.microsoft.com/office/drawing/2014/main" id="{B2367661-2B8C-526A-AB6B-BB96E56BC750}"/>
              </a:ext>
            </a:extLst>
          </p:cNvPr>
          <p:cNvCxnSpPr/>
          <p:nvPr/>
        </p:nvCxnSpPr>
        <p:spPr>
          <a:xfrm>
            <a:off x="7547913" y="1667193"/>
            <a:ext cx="481129" cy="0"/>
          </a:xfrm>
          <a:prstGeom prst="line">
            <a:avLst/>
          </a:prstGeom>
        </p:spPr>
        <p:style>
          <a:lnRef idx="2">
            <a:schemeClr val="dk1"/>
          </a:lnRef>
          <a:fillRef idx="0">
            <a:schemeClr val="dk1"/>
          </a:fillRef>
          <a:effectRef idx="1">
            <a:schemeClr val="dk1"/>
          </a:effectRef>
          <a:fontRef idx="minor">
            <a:schemeClr val="tx1"/>
          </a:fontRef>
        </p:style>
      </p:cxnSp>
      <p:pic>
        <p:nvPicPr>
          <p:cNvPr id="18" name="Image 17">
            <a:extLst>
              <a:ext uri="{FF2B5EF4-FFF2-40B4-BE49-F238E27FC236}">
                <a16:creationId xmlns:a16="http://schemas.microsoft.com/office/drawing/2014/main" id="{A7662A9E-F9AE-137E-814A-95F83301F261}"/>
              </a:ext>
            </a:extLst>
          </p:cNvPr>
          <p:cNvPicPr>
            <a:picLocks noChangeAspect="1"/>
          </p:cNvPicPr>
          <p:nvPr/>
        </p:nvPicPr>
        <p:blipFill>
          <a:blip r:embed="rId2"/>
          <a:stretch>
            <a:fillRect/>
          </a:stretch>
        </p:blipFill>
        <p:spPr>
          <a:xfrm>
            <a:off x="5823489" y="2716157"/>
            <a:ext cx="3136937" cy="760150"/>
          </a:xfrm>
          <a:prstGeom prst="rect">
            <a:avLst/>
          </a:prstGeom>
          <a:ln>
            <a:solidFill>
              <a:schemeClr val="bg2">
                <a:lumMod val="50000"/>
              </a:schemeClr>
            </a:solidFill>
          </a:ln>
        </p:spPr>
      </p:pic>
      <p:sp>
        <p:nvSpPr>
          <p:cNvPr id="21" name="Flèche : double flèche horizontale 20">
            <a:extLst>
              <a:ext uri="{FF2B5EF4-FFF2-40B4-BE49-F238E27FC236}">
                <a16:creationId xmlns:a16="http://schemas.microsoft.com/office/drawing/2014/main" id="{BB9B3B0E-2C0C-6B1F-659A-9EBD5DF5B1E9}"/>
              </a:ext>
            </a:extLst>
          </p:cNvPr>
          <p:cNvSpPr/>
          <p:nvPr/>
        </p:nvSpPr>
        <p:spPr>
          <a:xfrm>
            <a:off x="3083962" y="1453244"/>
            <a:ext cx="2896973" cy="500341"/>
          </a:xfrm>
          <a:prstGeom prst="leftRightArrow">
            <a:avLst/>
          </a:prstGeom>
          <a:solidFill>
            <a:srgbClr val="BF7F00"/>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t>Http</a:t>
            </a:r>
          </a:p>
        </p:txBody>
      </p:sp>
      <p:sp>
        <p:nvSpPr>
          <p:cNvPr id="22" name="ZoneTexte 21">
            <a:extLst>
              <a:ext uri="{FF2B5EF4-FFF2-40B4-BE49-F238E27FC236}">
                <a16:creationId xmlns:a16="http://schemas.microsoft.com/office/drawing/2014/main" id="{1C219F57-ECB7-D981-F163-2E8B416D5FD9}"/>
              </a:ext>
            </a:extLst>
          </p:cNvPr>
          <p:cNvSpPr txBox="1"/>
          <p:nvPr/>
        </p:nvSpPr>
        <p:spPr>
          <a:xfrm>
            <a:off x="3389147" y="225188"/>
            <a:ext cx="2130946" cy="1054135"/>
          </a:xfrm>
          <a:prstGeom prst="rect">
            <a:avLst/>
          </a:prstGeom>
          <a:noFill/>
        </p:spPr>
        <p:txBody>
          <a:bodyPr wrap="square" rtlCol="0">
            <a:spAutoFit/>
          </a:bodyPr>
          <a:lstStyle/>
          <a:p>
            <a:r>
              <a:rPr lang="fr-FR" sz="1250" b="1" dirty="0"/>
              <a:t>Web services</a:t>
            </a:r>
            <a:r>
              <a:rPr lang="fr-FR" sz="1250" dirty="0"/>
              <a:t>:(</a:t>
            </a:r>
            <a:r>
              <a:rPr lang="fr-FR" sz="1250" dirty="0" err="1"/>
              <a:t>Nach</a:t>
            </a:r>
            <a:r>
              <a:rPr lang="fr-FR" sz="1250" dirty="0"/>
              <a:t> 2000)</a:t>
            </a:r>
            <a:br>
              <a:rPr lang="fr-FR" sz="1250" dirty="0"/>
            </a:br>
            <a:r>
              <a:rPr lang="fr-FR" sz="1250" dirty="0"/>
              <a:t>- SOAP(http + XML)</a:t>
            </a:r>
            <a:br>
              <a:rPr lang="fr-FR" sz="1250" dirty="0"/>
            </a:br>
            <a:r>
              <a:rPr lang="fr-FR" sz="1250" dirty="0"/>
              <a:t>- </a:t>
            </a:r>
            <a:r>
              <a:rPr lang="fr-FR" sz="1250" dirty="0" err="1"/>
              <a:t>Rest</a:t>
            </a:r>
            <a:r>
              <a:rPr lang="fr-FR" sz="1250" dirty="0"/>
              <a:t>(http + </a:t>
            </a:r>
            <a:r>
              <a:rPr lang="fr-FR" sz="1250" dirty="0" err="1"/>
              <a:t>Json</a:t>
            </a:r>
            <a:r>
              <a:rPr lang="fr-FR" sz="1250" dirty="0"/>
              <a:t>, …)</a:t>
            </a:r>
          </a:p>
          <a:p>
            <a:pPr marL="171450" indent="-171450">
              <a:buFontTx/>
              <a:buChar char="-"/>
            </a:pPr>
            <a:r>
              <a:rPr lang="fr-FR" sz="1250" dirty="0"/>
              <a:t>GraphQL(http + </a:t>
            </a:r>
            <a:r>
              <a:rPr lang="fr-FR" sz="1250" dirty="0" err="1"/>
              <a:t>Json</a:t>
            </a:r>
            <a:r>
              <a:rPr lang="fr-FR" sz="1250" dirty="0"/>
              <a:t>,..)</a:t>
            </a:r>
          </a:p>
          <a:p>
            <a:pPr marL="171450" indent="-171450">
              <a:buFontTx/>
              <a:buChar char="-"/>
            </a:pPr>
            <a:r>
              <a:rPr lang="fr-FR" sz="1250" dirty="0" err="1"/>
              <a:t>gRPC</a:t>
            </a:r>
            <a:r>
              <a:rPr lang="fr-FR" sz="1250" dirty="0"/>
              <a:t>(http2 + Protobuf)</a:t>
            </a:r>
          </a:p>
        </p:txBody>
      </p:sp>
      <p:pic>
        <p:nvPicPr>
          <p:cNvPr id="24" name="Image 23">
            <a:extLst>
              <a:ext uri="{FF2B5EF4-FFF2-40B4-BE49-F238E27FC236}">
                <a16:creationId xmlns:a16="http://schemas.microsoft.com/office/drawing/2014/main" id="{AEDF2FAF-24F5-DFC3-E26C-C08FC85DA0B6}"/>
              </a:ext>
            </a:extLst>
          </p:cNvPr>
          <p:cNvPicPr>
            <a:picLocks noChangeAspect="1"/>
          </p:cNvPicPr>
          <p:nvPr/>
        </p:nvPicPr>
        <p:blipFill>
          <a:blip r:embed="rId3"/>
          <a:stretch>
            <a:fillRect/>
          </a:stretch>
        </p:blipFill>
        <p:spPr>
          <a:xfrm>
            <a:off x="3450988" y="2127506"/>
            <a:ext cx="2162920" cy="1194058"/>
          </a:xfrm>
          <a:prstGeom prst="rect">
            <a:avLst/>
          </a:prstGeom>
          <a:ln>
            <a:solidFill>
              <a:schemeClr val="bg2">
                <a:lumMod val="50000"/>
              </a:schemeClr>
            </a:solidFill>
          </a:ln>
        </p:spPr>
      </p:pic>
      <p:pic>
        <p:nvPicPr>
          <p:cNvPr id="26" name="Image 25">
            <a:extLst>
              <a:ext uri="{FF2B5EF4-FFF2-40B4-BE49-F238E27FC236}">
                <a16:creationId xmlns:a16="http://schemas.microsoft.com/office/drawing/2014/main" id="{E50142B6-CA5B-238B-BB76-DAB51DA4FB34}"/>
              </a:ext>
            </a:extLst>
          </p:cNvPr>
          <p:cNvPicPr>
            <a:picLocks noChangeAspect="1"/>
          </p:cNvPicPr>
          <p:nvPr/>
        </p:nvPicPr>
        <p:blipFill>
          <a:blip r:embed="rId4"/>
          <a:stretch>
            <a:fillRect/>
          </a:stretch>
        </p:blipFill>
        <p:spPr>
          <a:xfrm>
            <a:off x="2673585" y="3476307"/>
            <a:ext cx="2674438" cy="1046519"/>
          </a:xfrm>
          <a:prstGeom prst="rect">
            <a:avLst/>
          </a:prstGeom>
          <a:ln>
            <a:solidFill>
              <a:schemeClr val="bg2">
                <a:lumMod val="50000"/>
              </a:schemeClr>
            </a:solidFill>
          </a:ln>
        </p:spPr>
      </p:pic>
      <p:cxnSp>
        <p:nvCxnSpPr>
          <p:cNvPr id="28" name="Connecteur droit avec flèche 27">
            <a:extLst>
              <a:ext uri="{FF2B5EF4-FFF2-40B4-BE49-F238E27FC236}">
                <a16:creationId xmlns:a16="http://schemas.microsoft.com/office/drawing/2014/main" id="{CEF15214-C909-99F2-820B-F8E7AA3E775D}"/>
              </a:ext>
            </a:extLst>
          </p:cNvPr>
          <p:cNvCxnSpPr>
            <a:stCxn id="18" idx="1"/>
          </p:cNvCxnSpPr>
          <p:nvPr/>
        </p:nvCxnSpPr>
        <p:spPr>
          <a:xfrm flipH="1">
            <a:off x="5613908" y="3096232"/>
            <a:ext cx="20958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9" name="Connecteur droit avec flèche 28">
            <a:extLst>
              <a:ext uri="{FF2B5EF4-FFF2-40B4-BE49-F238E27FC236}">
                <a16:creationId xmlns:a16="http://schemas.microsoft.com/office/drawing/2014/main" id="{BA7F7717-69BD-30C3-52F2-BE86AED64573}"/>
              </a:ext>
            </a:extLst>
          </p:cNvPr>
          <p:cNvCxnSpPr>
            <a:cxnSpLocks/>
            <a:endCxn id="26" idx="3"/>
          </p:cNvCxnSpPr>
          <p:nvPr/>
        </p:nvCxnSpPr>
        <p:spPr>
          <a:xfrm flipH="1">
            <a:off x="5348023" y="3476307"/>
            <a:ext cx="642953" cy="52326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33" name="Image 32">
            <a:extLst>
              <a:ext uri="{FF2B5EF4-FFF2-40B4-BE49-F238E27FC236}">
                <a16:creationId xmlns:a16="http://schemas.microsoft.com/office/drawing/2014/main" id="{5FBF0F6F-04C0-A296-1920-E0E340F36424}"/>
              </a:ext>
            </a:extLst>
          </p:cNvPr>
          <p:cNvPicPr>
            <a:picLocks noChangeAspect="1"/>
          </p:cNvPicPr>
          <p:nvPr/>
        </p:nvPicPr>
        <p:blipFill>
          <a:blip r:embed="rId5"/>
          <a:stretch>
            <a:fillRect/>
          </a:stretch>
        </p:blipFill>
        <p:spPr>
          <a:xfrm>
            <a:off x="276702" y="3061305"/>
            <a:ext cx="1837067" cy="1506063"/>
          </a:xfrm>
          <a:prstGeom prst="rect">
            <a:avLst/>
          </a:prstGeom>
          <a:ln>
            <a:solidFill>
              <a:schemeClr val="bg2">
                <a:lumMod val="50000"/>
              </a:schemeClr>
            </a:solidFill>
          </a:ln>
        </p:spPr>
      </p:pic>
      <p:sp>
        <p:nvSpPr>
          <p:cNvPr id="34" name="Rectangle 33">
            <a:extLst>
              <a:ext uri="{FF2B5EF4-FFF2-40B4-BE49-F238E27FC236}">
                <a16:creationId xmlns:a16="http://schemas.microsoft.com/office/drawing/2014/main" id="{E1207C08-3AB5-6B2D-97F8-685624707BBA}"/>
              </a:ext>
            </a:extLst>
          </p:cNvPr>
          <p:cNvSpPr/>
          <p:nvPr/>
        </p:nvSpPr>
        <p:spPr>
          <a:xfrm>
            <a:off x="263054" y="2814711"/>
            <a:ext cx="1857540" cy="242225"/>
          </a:xfrm>
          <a:prstGeom prst="rect">
            <a:avLst/>
          </a:prstGeom>
          <a:solidFill>
            <a:schemeClr val="accent1"/>
          </a:solidFill>
          <a:ln>
            <a:solidFill>
              <a:schemeClr val="bg1">
                <a:lumMod val="25000"/>
              </a:schemeClr>
            </a:solidFill>
          </a:ln>
        </p:spPr>
        <p:style>
          <a:lnRef idx="1">
            <a:schemeClr val="dk1"/>
          </a:lnRef>
          <a:fillRef idx="2">
            <a:schemeClr val="dk1"/>
          </a:fillRef>
          <a:effectRef idx="1">
            <a:schemeClr val="dk1"/>
          </a:effectRef>
          <a:fontRef idx="minor">
            <a:schemeClr val="dk1"/>
          </a:fontRef>
        </p:style>
        <p:txBody>
          <a:bodyPr rtlCol="0" anchor="ctr"/>
          <a:lstStyle/>
          <a:p>
            <a:pPr algn="ctr"/>
            <a:r>
              <a:rPr lang="fr-FR" sz="1100" dirty="0">
                <a:solidFill>
                  <a:srgbClr val="000000"/>
                </a:solidFill>
              </a:rPr>
              <a:t>bank.proto(GRPC)</a:t>
            </a:r>
            <a:endParaRPr lang="fr-FR" dirty="0">
              <a:solidFill>
                <a:srgbClr val="000000"/>
              </a:solidFill>
            </a:endParaRPr>
          </a:p>
        </p:txBody>
      </p:sp>
      <p:sp>
        <p:nvSpPr>
          <p:cNvPr id="35" name="ZoneTexte 34">
            <a:extLst>
              <a:ext uri="{FF2B5EF4-FFF2-40B4-BE49-F238E27FC236}">
                <a16:creationId xmlns:a16="http://schemas.microsoft.com/office/drawing/2014/main" id="{074355D2-D549-CF37-FD61-5020421B45FF}"/>
              </a:ext>
            </a:extLst>
          </p:cNvPr>
          <p:cNvSpPr txBox="1"/>
          <p:nvPr/>
        </p:nvSpPr>
        <p:spPr>
          <a:xfrm>
            <a:off x="4708478" y="2893325"/>
            <a:ext cx="811615" cy="307777"/>
          </a:xfrm>
          <a:prstGeom prst="rect">
            <a:avLst/>
          </a:prstGeom>
          <a:noFill/>
        </p:spPr>
        <p:txBody>
          <a:bodyPr wrap="square" rtlCol="0">
            <a:spAutoFit/>
          </a:bodyPr>
          <a:lstStyle/>
          <a:p>
            <a:r>
              <a:rPr lang="fr-FR" dirty="0">
                <a:solidFill>
                  <a:srgbClr val="FF0000"/>
                </a:solidFill>
              </a:rPr>
              <a:t>132 B</a:t>
            </a:r>
          </a:p>
        </p:txBody>
      </p:sp>
      <p:sp>
        <p:nvSpPr>
          <p:cNvPr id="36" name="ZoneTexte 35">
            <a:extLst>
              <a:ext uri="{FF2B5EF4-FFF2-40B4-BE49-F238E27FC236}">
                <a16:creationId xmlns:a16="http://schemas.microsoft.com/office/drawing/2014/main" id="{5226ACD7-4CDE-F9DD-0679-5CC3F885FC9C}"/>
              </a:ext>
            </a:extLst>
          </p:cNvPr>
          <p:cNvSpPr txBox="1"/>
          <p:nvPr/>
        </p:nvSpPr>
        <p:spPr>
          <a:xfrm>
            <a:off x="4676630" y="4198962"/>
            <a:ext cx="811615" cy="307777"/>
          </a:xfrm>
          <a:prstGeom prst="rect">
            <a:avLst/>
          </a:prstGeom>
          <a:noFill/>
        </p:spPr>
        <p:txBody>
          <a:bodyPr wrap="square" rtlCol="0">
            <a:spAutoFit/>
          </a:bodyPr>
          <a:lstStyle/>
          <a:p>
            <a:r>
              <a:rPr lang="fr-FR" dirty="0">
                <a:solidFill>
                  <a:srgbClr val="FF0000"/>
                </a:solidFill>
              </a:rPr>
              <a:t>183 B</a:t>
            </a:r>
          </a:p>
        </p:txBody>
      </p:sp>
      <p:pic>
        <p:nvPicPr>
          <p:cNvPr id="38" name="Image 37">
            <a:extLst>
              <a:ext uri="{FF2B5EF4-FFF2-40B4-BE49-F238E27FC236}">
                <a16:creationId xmlns:a16="http://schemas.microsoft.com/office/drawing/2014/main" id="{969902CC-71ED-6310-4304-1762FB2C3458}"/>
              </a:ext>
            </a:extLst>
          </p:cNvPr>
          <p:cNvPicPr>
            <a:picLocks noChangeAspect="1"/>
          </p:cNvPicPr>
          <p:nvPr/>
        </p:nvPicPr>
        <p:blipFill>
          <a:blip r:embed="rId6"/>
          <a:stretch>
            <a:fillRect/>
          </a:stretch>
        </p:blipFill>
        <p:spPr>
          <a:xfrm>
            <a:off x="1712794" y="4618954"/>
            <a:ext cx="5220753" cy="220217"/>
          </a:xfrm>
          <a:prstGeom prst="rect">
            <a:avLst/>
          </a:prstGeom>
          <a:ln>
            <a:solidFill>
              <a:schemeClr val="bg2">
                <a:lumMod val="50000"/>
              </a:schemeClr>
            </a:solidFill>
          </a:ln>
        </p:spPr>
      </p:pic>
      <p:cxnSp>
        <p:nvCxnSpPr>
          <p:cNvPr id="40" name="Connecteur droit 39">
            <a:extLst>
              <a:ext uri="{FF2B5EF4-FFF2-40B4-BE49-F238E27FC236}">
                <a16:creationId xmlns:a16="http://schemas.microsoft.com/office/drawing/2014/main" id="{A461CF55-C6CF-0A2A-F421-B50387109C6E}"/>
              </a:ext>
            </a:extLst>
          </p:cNvPr>
          <p:cNvCxnSpPr/>
          <p:nvPr/>
        </p:nvCxnSpPr>
        <p:spPr>
          <a:xfrm>
            <a:off x="4135272" y="4618954"/>
            <a:ext cx="0" cy="220217"/>
          </a:xfrm>
          <a:prstGeom prst="line">
            <a:avLst/>
          </a:prstGeom>
          <a:ln w="12700"/>
        </p:spPr>
        <p:style>
          <a:lnRef idx="1">
            <a:schemeClr val="dk1"/>
          </a:lnRef>
          <a:fillRef idx="0">
            <a:schemeClr val="dk1"/>
          </a:fillRef>
          <a:effectRef idx="0">
            <a:schemeClr val="dk1"/>
          </a:effectRef>
          <a:fontRef idx="minor">
            <a:schemeClr val="tx1"/>
          </a:fontRef>
        </p:style>
      </p:cxnSp>
      <p:cxnSp>
        <p:nvCxnSpPr>
          <p:cNvPr id="41" name="Connecteur droit 40">
            <a:extLst>
              <a:ext uri="{FF2B5EF4-FFF2-40B4-BE49-F238E27FC236}">
                <a16:creationId xmlns:a16="http://schemas.microsoft.com/office/drawing/2014/main" id="{3CABA557-FD15-E95E-812D-5939A6BA0966}"/>
              </a:ext>
            </a:extLst>
          </p:cNvPr>
          <p:cNvCxnSpPr/>
          <p:nvPr/>
        </p:nvCxnSpPr>
        <p:spPr>
          <a:xfrm>
            <a:off x="5631982" y="4614402"/>
            <a:ext cx="0" cy="220217"/>
          </a:xfrm>
          <a:prstGeom prst="line">
            <a:avLst/>
          </a:prstGeom>
          <a:ln w="12700"/>
        </p:spPr>
        <p:style>
          <a:lnRef idx="1">
            <a:schemeClr val="dk1"/>
          </a:lnRef>
          <a:fillRef idx="0">
            <a:schemeClr val="dk1"/>
          </a:fillRef>
          <a:effectRef idx="0">
            <a:schemeClr val="dk1"/>
          </a:effectRef>
          <a:fontRef idx="minor">
            <a:schemeClr val="tx1"/>
          </a:fontRef>
        </p:style>
      </p:cxnSp>
      <p:cxnSp>
        <p:nvCxnSpPr>
          <p:cNvPr id="42" name="Connecteur droit 41">
            <a:extLst>
              <a:ext uri="{FF2B5EF4-FFF2-40B4-BE49-F238E27FC236}">
                <a16:creationId xmlns:a16="http://schemas.microsoft.com/office/drawing/2014/main" id="{A592D2F1-28D8-0464-BD98-5F53D106FEBA}"/>
              </a:ext>
            </a:extLst>
          </p:cNvPr>
          <p:cNvCxnSpPr/>
          <p:nvPr/>
        </p:nvCxnSpPr>
        <p:spPr>
          <a:xfrm>
            <a:off x="6293899" y="4607578"/>
            <a:ext cx="0" cy="220217"/>
          </a:xfrm>
          <a:prstGeom prst="line">
            <a:avLst/>
          </a:prstGeom>
          <a:ln w="12700"/>
        </p:spPr>
        <p:style>
          <a:lnRef idx="1">
            <a:schemeClr val="dk1"/>
          </a:lnRef>
          <a:fillRef idx="0">
            <a:schemeClr val="dk1"/>
          </a:fillRef>
          <a:effectRef idx="0">
            <a:schemeClr val="dk1"/>
          </a:effectRef>
          <a:fontRef idx="minor">
            <a:schemeClr val="tx1"/>
          </a:fontRef>
        </p:style>
      </p:cxnSp>
      <p:cxnSp>
        <p:nvCxnSpPr>
          <p:cNvPr id="43" name="Connecteur droit avec flèche 42">
            <a:extLst>
              <a:ext uri="{FF2B5EF4-FFF2-40B4-BE49-F238E27FC236}">
                <a16:creationId xmlns:a16="http://schemas.microsoft.com/office/drawing/2014/main" id="{10F6A381-45D3-ED2A-3F96-4C0542E0566D}"/>
              </a:ext>
            </a:extLst>
          </p:cNvPr>
          <p:cNvCxnSpPr>
            <a:cxnSpLocks/>
            <a:stCxn id="18" idx="2"/>
          </p:cNvCxnSpPr>
          <p:nvPr/>
        </p:nvCxnSpPr>
        <p:spPr>
          <a:xfrm flipH="1">
            <a:off x="5907839" y="3476307"/>
            <a:ext cx="1484119" cy="111989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6" name="ZoneTexte 45">
            <a:extLst>
              <a:ext uri="{FF2B5EF4-FFF2-40B4-BE49-F238E27FC236}">
                <a16:creationId xmlns:a16="http://schemas.microsoft.com/office/drawing/2014/main" id="{50DA087F-439B-44BC-0DEE-0D65A2D6C621}"/>
              </a:ext>
            </a:extLst>
          </p:cNvPr>
          <p:cNvSpPr txBox="1"/>
          <p:nvPr/>
        </p:nvSpPr>
        <p:spPr>
          <a:xfrm>
            <a:off x="6307688" y="4263113"/>
            <a:ext cx="993150" cy="307777"/>
          </a:xfrm>
          <a:prstGeom prst="rect">
            <a:avLst/>
          </a:prstGeom>
          <a:noFill/>
        </p:spPr>
        <p:txBody>
          <a:bodyPr wrap="square" rtlCol="0">
            <a:spAutoFit/>
          </a:bodyPr>
          <a:lstStyle/>
          <a:p>
            <a:r>
              <a:rPr lang="fr-FR" dirty="0">
                <a:solidFill>
                  <a:srgbClr val="FF0000"/>
                </a:solidFill>
              </a:rPr>
              <a:t>Protobuf</a:t>
            </a:r>
          </a:p>
        </p:txBody>
      </p:sp>
    </p:spTree>
    <p:extLst>
      <p:ext uri="{BB962C8B-B14F-4D97-AF65-F5344CB8AC3E}">
        <p14:creationId xmlns:p14="http://schemas.microsoft.com/office/powerpoint/2010/main" val="4211314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E9486174-8022-DB2E-15AA-334845175649}"/>
              </a:ext>
            </a:extLst>
          </p:cNvPr>
          <p:cNvPicPr>
            <a:picLocks noChangeAspect="1"/>
          </p:cNvPicPr>
          <p:nvPr/>
        </p:nvPicPr>
        <p:blipFill>
          <a:blip r:embed="rId2"/>
          <a:stretch>
            <a:fillRect/>
          </a:stretch>
        </p:blipFill>
        <p:spPr>
          <a:xfrm>
            <a:off x="122830" y="627117"/>
            <a:ext cx="3637128" cy="4315139"/>
          </a:xfrm>
          <a:prstGeom prst="rect">
            <a:avLst/>
          </a:prstGeom>
          <a:ln>
            <a:solidFill>
              <a:schemeClr val="bg2">
                <a:lumMod val="50000"/>
              </a:schemeClr>
            </a:solidFill>
          </a:ln>
        </p:spPr>
      </p:pic>
      <p:pic>
        <p:nvPicPr>
          <p:cNvPr id="11" name="Image 10">
            <a:extLst>
              <a:ext uri="{FF2B5EF4-FFF2-40B4-BE49-F238E27FC236}">
                <a16:creationId xmlns:a16="http://schemas.microsoft.com/office/drawing/2014/main" id="{869C3C81-A239-4999-69B5-BA427232FE25}"/>
              </a:ext>
            </a:extLst>
          </p:cNvPr>
          <p:cNvPicPr>
            <a:picLocks noChangeAspect="1"/>
          </p:cNvPicPr>
          <p:nvPr/>
        </p:nvPicPr>
        <p:blipFill>
          <a:blip r:embed="rId3"/>
          <a:stretch>
            <a:fillRect/>
          </a:stretch>
        </p:blipFill>
        <p:spPr>
          <a:xfrm>
            <a:off x="2442951" y="2178074"/>
            <a:ext cx="6599492" cy="2766300"/>
          </a:xfrm>
          <a:prstGeom prst="rect">
            <a:avLst/>
          </a:prstGeom>
          <a:ln>
            <a:solidFill>
              <a:schemeClr val="bg2">
                <a:lumMod val="50000"/>
              </a:schemeClr>
            </a:solidFill>
          </a:ln>
        </p:spPr>
      </p:pic>
      <p:sp>
        <p:nvSpPr>
          <p:cNvPr id="12" name="Google Shape;523;p54">
            <a:extLst>
              <a:ext uri="{FF2B5EF4-FFF2-40B4-BE49-F238E27FC236}">
                <a16:creationId xmlns:a16="http://schemas.microsoft.com/office/drawing/2014/main" id="{94BE7661-2A94-2549-2CA3-17F8CBE1936B}"/>
              </a:ext>
            </a:extLst>
          </p:cNvPr>
          <p:cNvSpPr txBox="1">
            <a:spLocks/>
          </p:cNvSpPr>
          <p:nvPr/>
        </p:nvSpPr>
        <p:spPr>
          <a:xfrm>
            <a:off x="1272690" y="105149"/>
            <a:ext cx="3415316" cy="47641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1pPr>
            <a:lvl2pPr marR="0" lvl="1" algn="ctr"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2pPr>
            <a:lvl3pPr marR="0" lvl="2" algn="ctr"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3pPr>
            <a:lvl4pPr marR="0" lvl="3" algn="ctr"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4pPr>
            <a:lvl5pPr marR="0" lvl="4" algn="ctr"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5pPr>
            <a:lvl6pPr marR="0" lvl="5" algn="ctr"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6pPr>
            <a:lvl7pPr marR="0" lvl="6" algn="ctr"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7pPr>
            <a:lvl8pPr marR="0" lvl="7" algn="ctr"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8pPr>
            <a:lvl9pPr marR="0" lvl="8" algn="ctr"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9pPr>
          </a:lstStyle>
          <a:p>
            <a:r>
              <a:rPr lang="fr-FR" sz="2000" dirty="0" err="1"/>
              <a:t>Protofile</a:t>
            </a:r>
            <a:r>
              <a:rPr lang="fr-FR" sz="2000" dirty="0"/>
              <a:t>: bank.proto</a:t>
            </a:r>
          </a:p>
        </p:txBody>
      </p:sp>
    </p:spTree>
    <p:extLst>
      <p:ext uri="{BB962C8B-B14F-4D97-AF65-F5344CB8AC3E}">
        <p14:creationId xmlns:p14="http://schemas.microsoft.com/office/powerpoint/2010/main" val="35031303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F7CF4FFB-541D-4A9B-B0D5-46D58E8B56BB}"/>
              </a:ext>
            </a:extLst>
          </p:cNvPr>
          <p:cNvPicPr>
            <a:picLocks noChangeAspect="1"/>
          </p:cNvPicPr>
          <p:nvPr/>
        </p:nvPicPr>
        <p:blipFill>
          <a:blip r:embed="rId2"/>
          <a:stretch>
            <a:fillRect/>
          </a:stretch>
        </p:blipFill>
        <p:spPr>
          <a:xfrm>
            <a:off x="2582629" y="687312"/>
            <a:ext cx="3292732" cy="4103469"/>
          </a:xfrm>
          <a:prstGeom prst="rect">
            <a:avLst/>
          </a:prstGeom>
          <a:ln>
            <a:solidFill>
              <a:schemeClr val="bg2">
                <a:lumMod val="50000"/>
              </a:schemeClr>
            </a:solidFill>
          </a:ln>
        </p:spPr>
      </p:pic>
      <p:pic>
        <p:nvPicPr>
          <p:cNvPr id="5" name="Image 4">
            <a:extLst>
              <a:ext uri="{FF2B5EF4-FFF2-40B4-BE49-F238E27FC236}">
                <a16:creationId xmlns:a16="http://schemas.microsoft.com/office/drawing/2014/main" id="{FA587F62-476B-DF7E-B8FF-A5F974F1AE33}"/>
              </a:ext>
            </a:extLst>
          </p:cNvPr>
          <p:cNvPicPr>
            <a:picLocks noChangeAspect="1"/>
          </p:cNvPicPr>
          <p:nvPr/>
        </p:nvPicPr>
        <p:blipFill>
          <a:blip r:embed="rId3"/>
          <a:stretch>
            <a:fillRect/>
          </a:stretch>
        </p:blipFill>
        <p:spPr>
          <a:xfrm>
            <a:off x="6187705" y="546073"/>
            <a:ext cx="2644369" cy="4244708"/>
          </a:xfrm>
          <a:prstGeom prst="rect">
            <a:avLst/>
          </a:prstGeom>
          <a:ln>
            <a:solidFill>
              <a:schemeClr val="bg2">
                <a:lumMod val="50000"/>
              </a:schemeClr>
            </a:solidFill>
          </a:ln>
        </p:spPr>
      </p:pic>
      <p:sp>
        <p:nvSpPr>
          <p:cNvPr id="6" name="Google Shape;523;p54">
            <a:extLst>
              <a:ext uri="{FF2B5EF4-FFF2-40B4-BE49-F238E27FC236}">
                <a16:creationId xmlns:a16="http://schemas.microsoft.com/office/drawing/2014/main" id="{6754CC17-81D6-154B-02D9-1274266B3C26}"/>
              </a:ext>
            </a:extLst>
          </p:cNvPr>
          <p:cNvSpPr txBox="1">
            <a:spLocks/>
          </p:cNvSpPr>
          <p:nvPr/>
        </p:nvSpPr>
        <p:spPr>
          <a:xfrm>
            <a:off x="163774" y="114514"/>
            <a:ext cx="3705366" cy="47641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1pPr>
            <a:lvl2pPr marR="0" lvl="1" algn="ctr"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2pPr>
            <a:lvl3pPr marR="0" lvl="2" algn="ctr"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3pPr>
            <a:lvl4pPr marR="0" lvl="3" algn="ctr"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4pPr>
            <a:lvl5pPr marR="0" lvl="4" algn="ctr"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5pPr>
            <a:lvl6pPr marR="0" lvl="5" algn="ctr"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6pPr>
            <a:lvl7pPr marR="0" lvl="6" algn="ctr"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7pPr>
            <a:lvl8pPr marR="0" lvl="7" algn="ctr"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8pPr>
            <a:lvl9pPr marR="0" lvl="8" algn="ctr"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9pPr>
          </a:lstStyle>
          <a:p>
            <a:r>
              <a:rPr lang="fr-FR" sz="2000" dirty="0"/>
              <a:t>Kompilierung bank.proto</a:t>
            </a:r>
          </a:p>
        </p:txBody>
      </p:sp>
      <p:sp>
        <p:nvSpPr>
          <p:cNvPr id="7" name="ZoneTexte 6">
            <a:extLst>
              <a:ext uri="{FF2B5EF4-FFF2-40B4-BE49-F238E27FC236}">
                <a16:creationId xmlns:a16="http://schemas.microsoft.com/office/drawing/2014/main" id="{690DB658-169B-46B5-8F80-FB5C240F0D7A}"/>
              </a:ext>
            </a:extLst>
          </p:cNvPr>
          <p:cNvSpPr txBox="1"/>
          <p:nvPr/>
        </p:nvSpPr>
        <p:spPr>
          <a:xfrm>
            <a:off x="163774" y="1016758"/>
            <a:ext cx="2306471" cy="1600438"/>
          </a:xfrm>
          <a:prstGeom prst="rect">
            <a:avLst/>
          </a:prstGeom>
          <a:noFill/>
        </p:spPr>
        <p:txBody>
          <a:bodyPr wrap="square" rtlCol="0">
            <a:spAutoFit/>
          </a:bodyPr>
          <a:lstStyle/>
          <a:p>
            <a:r>
              <a:rPr lang="de-DE" dirty="0">
                <a:latin typeface="Calibri Light" panose="020F0302020204030204" pitchFamily="34" charset="0"/>
                <a:ea typeface="Calibri Light" panose="020F0302020204030204" pitchFamily="34" charset="0"/>
                <a:cs typeface="Calibri Light" panose="020F0302020204030204" pitchFamily="34" charset="0"/>
              </a:rPr>
              <a:t>Nach der Kompilierung der .proto-Datei wird ein Verzeichnis namens </a:t>
            </a:r>
            <a:r>
              <a:rPr lang="de-DE" dirty="0" err="1">
                <a:latin typeface="Calibri Light" panose="020F0302020204030204" pitchFamily="34" charset="0"/>
                <a:ea typeface="Calibri Light" panose="020F0302020204030204" pitchFamily="34" charset="0"/>
                <a:cs typeface="Calibri Light" panose="020F0302020204030204" pitchFamily="34" charset="0"/>
              </a:rPr>
              <a:t>stub</a:t>
            </a:r>
            <a:r>
              <a:rPr lang="de-DE" dirty="0">
                <a:latin typeface="Calibri Light" panose="020F0302020204030204" pitchFamily="34" charset="0"/>
                <a:ea typeface="Calibri Light" panose="020F0302020204030204" pitchFamily="34" charset="0"/>
                <a:cs typeface="Calibri Light" panose="020F0302020204030204" pitchFamily="34" charset="0"/>
              </a:rPr>
              <a:t> generiert, das zwei zentrale Dateien enthält: </a:t>
            </a:r>
            <a:r>
              <a:rPr lang="de-DE" b="1" dirty="0">
                <a:latin typeface="Calibri Light" panose="020F0302020204030204" pitchFamily="34" charset="0"/>
                <a:ea typeface="Calibri Light" panose="020F0302020204030204" pitchFamily="34" charset="0"/>
                <a:cs typeface="Calibri Light" panose="020F0302020204030204" pitchFamily="34" charset="0"/>
              </a:rPr>
              <a:t>Bank</a:t>
            </a:r>
            <a:r>
              <a:rPr lang="de-DE" dirty="0">
                <a:latin typeface="Calibri Light" panose="020F0302020204030204" pitchFamily="34" charset="0"/>
                <a:ea typeface="Calibri Light" panose="020F0302020204030204" pitchFamily="34" charset="0"/>
                <a:cs typeface="Calibri Light" panose="020F0302020204030204" pitchFamily="34" charset="0"/>
              </a:rPr>
              <a:t> und </a:t>
            </a:r>
            <a:r>
              <a:rPr lang="de-DE" b="1" dirty="0" err="1">
                <a:latin typeface="Calibri Light" panose="020F0302020204030204" pitchFamily="34" charset="0"/>
                <a:ea typeface="Calibri Light" panose="020F0302020204030204" pitchFamily="34" charset="0"/>
                <a:cs typeface="Calibri Light" panose="020F0302020204030204" pitchFamily="34" charset="0"/>
              </a:rPr>
              <a:t>BankServiceGrpc</a:t>
            </a:r>
            <a:endParaRPr lang="de-DE" b="1" dirty="0">
              <a:latin typeface="Calibri Light" panose="020F0302020204030204" pitchFamily="34" charset="0"/>
              <a:ea typeface="Calibri Light" panose="020F0302020204030204" pitchFamily="34" charset="0"/>
              <a:cs typeface="Calibri Light" panose="020F0302020204030204" pitchFamily="34" charset="0"/>
            </a:endParaRPr>
          </a:p>
          <a:p>
            <a:endParaRPr lang="fr-FR" dirty="0"/>
          </a:p>
        </p:txBody>
      </p:sp>
    </p:spTree>
    <p:extLst>
      <p:ext uri="{BB962C8B-B14F-4D97-AF65-F5344CB8AC3E}">
        <p14:creationId xmlns:p14="http://schemas.microsoft.com/office/powerpoint/2010/main" val="15001887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22">
          <a:extLst>
            <a:ext uri="{FF2B5EF4-FFF2-40B4-BE49-F238E27FC236}">
              <a16:creationId xmlns:a16="http://schemas.microsoft.com/office/drawing/2014/main" id="{D70F61A9-CE0B-C172-F15F-E3F071958FEB}"/>
            </a:ext>
          </a:extLst>
        </p:cNvPr>
        <p:cNvGrpSpPr/>
        <p:nvPr/>
      </p:nvGrpSpPr>
      <p:grpSpPr>
        <a:xfrm>
          <a:off x="0" y="0"/>
          <a:ext cx="0" cy="0"/>
          <a:chOff x="0" y="0"/>
          <a:chExt cx="0" cy="0"/>
        </a:xfrm>
      </p:grpSpPr>
      <p:sp>
        <p:nvSpPr>
          <p:cNvPr id="2" name="Google Shape;523;p54">
            <a:extLst>
              <a:ext uri="{FF2B5EF4-FFF2-40B4-BE49-F238E27FC236}">
                <a16:creationId xmlns:a16="http://schemas.microsoft.com/office/drawing/2014/main" id="{066EF427-2FA6-25AD-6846-E018FFC62AA9}"/>
              </a:ext>
            </a:extLst>
          </p:cNvPr>
          <p:cNvSpPr txBox="1">
            <a:spLocks/>
          </p:cNvSpPr>
          <p:nvPr/>
        </p:nvSpPr>
        <p:spPr>
          <a:xfrm>
            <a:off x="668739" y="200684"/>
            <a:ext cx="8250072" cy="47641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1pPr>
            <a:lvl2pPr marR="0" lvl="1" algn="ctr"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2pPr>
            <a:lvl3pPr marR="0" lvl="2" algn="ctr"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3pPr>
            <a:lvl4pPr marR="0" lvl="3" algn="ctr"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4pPr>
            <a:lvl5pPr marR="0" lvl="4" algn="ctr"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5pPr>
            <a:lvl6pPr marR="0" lvl="5" algn="ctr"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6pPr>
            <a:lvl7pPr marR="0" lvl="6" algn="ctr"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7pPr>
            <a:lvl8pPr marR="0" lvl="7" algn="ctr"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8pPr>
            <a:lvl9pPr marR="0" lvl="8" algn="ctr"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9pPr>
          </a:lstStyle>
          <a:p>
            <a:r>
              <a:rPr lang="fr-FR" sz="1600" dirty="0" err="1"/>
              <a:t>Was</a:t>
            </a:r>
            <a:r>
              <a:rPr lang="fr-FR" sz="1600" dirty="0"/>
              <a:t> </a:t>
            </a:r>
            <a:r>
              <a:rPr lang="fr-FR" sz="1600" dirty="0" err="1"/>
              <a:t>ist</a:t>
            </a:r>
            <a:r>
              <a:rPr lang="fr-FR" sz="1600" dirty="0"/>
              <a:t> in den </a:t>
            </a:r>
            <a:r>
              <a:rPr lang="fr-FR" sz="1600" dirty="0" err="1"/>
              <a:t>Dateien</a:t>
            </a:r>
            <a:r>
              <a:rPr lang="fr-FR" sz="1600" dirty="0"/>
              <a:t> </a:t>
            </a:r>
            <a:r>
              <a:rPr lang="fr-FR" sz="1600" dirty="0" err="1"/>
              <a:t>enthalten</a:t>
            </a:r>
            <a:r>
              <a:rPr lang="fr-FR" sz="1600" dirty="0"/>
              <a:t>(Bank </a:t>
            </a:r>
            <a:r>
              <a:rPr lang="fr-FR" sz="1600" dirty="0" err="1"/>
              <a:t>und</a:t>
            </a:r>
            <a:r>
              <a:rPr lang="fr-FR" sz="1600" dirty="0"/>
              <a:t> </a:t>
            </a:r>
            <a:r>
              <a:rPr lang="fr-FR" sz="1600" dirty="0" err="1"/>
              <a:t>BankServiceGrpc</a:t>
            </a:r>
            <a:endParaRPr lang="fr-FR" sz="1600" dirty="0"/>
          </a:p>
        </p:txBody>
      </p:sp>
      <p:sp>
        <p:nvSpPr>
          <p:cNvPr id="3" name="ZoneTexte 2">
            <a:extLst>
              <a:ext uri="{FF2B5EF4-FFF2-40B4-BE49-F238E27FC236}">
                <a16:creationId xmlns:a16="http://schemas.microsoft.com/office/drawing/2014/main" id="{87D2A811-3A01-AA9F-230E-0D7063C5499F}"/>
              </a:ext>
            </a:extLst>
          </p:cNvPr>
          <p:cNvSpPr txBox="1"/>
          <p:nvPr/>
        </p:nvSpPr>
        <p:spPr>
          <a:xfrm>
            <a:off x="559558" y="677095"/>
            <a:ext cx="7792872" cy="4555093"/>
          </a:xfrm>
          <a:prstGeom prst="rect">
            <a:avLst/>
          </a:prstGeom>
          <a:noFill/>
        </p:spPr>
        <p:txBody>
          <a:bodyPr wrap="square" rtlCol="0">
            <a:spAutoFit/>
          </a:bodyPr>
          <a:lstStyle/>
          <a:p>
            <a:r>
              <a:rPr lang="fr-FR" sz="1200" b="1" dirty="0">
                <a:latin typeface="Calibri Light" panose="020F0302020204030204" pitchFamily="34" charset="0"/>
                <a:ea typeface="Calibri Light" panose="020F0302020204030204" pitchFamily="34" charset="0"/>
                <a:cs typeface="Calibri Light" panose="020F0302020204030204" pitchFamily="34" charset="0"/>
              </a:rPr>
              <a:t>Bank.java</a:t>
            </a:r>
          </a:p>
          <a:p>
            <a:r>
              <a:rPr lang="fr-FR" sz="1200" dirty="0" err="1">
                <a:latin typeface="Calibri Light" panose="020F0302020204030204" pitchFamily="34" charset="0"/>
                <a:ea typeface="Calibri Light" panose="020F0302020204030204" pitchFamily="34" charset="0"/>
                <a:cs typeface="Calibri Light" panose="020F0302020204030204" pitchFamily="34" charset="0"/>
              </a:rPr>
              <a:t>Nach</a:t>
            </a:r>
            <a:r>
              <a:rPr lang="fr-FR" sz="1200" dirty="0">
                <a:latin typeface="Calibri Light" panose="020F0302020204030204" pitchFamily="34" charset="0"/>
                <a:ea typeface="Calibri Light" panose="020F0302020204030204" pitchFamily="34" charset="0"/>
                <a:cs typeface="Calibri Light" panose="020F0302020204030204" pitchFamily="34" charset="0"/>
              </a:rPr>
              <a:t> der Kompilierung der .proto-</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Datei</a:t>
            </a:r>
            <a:r>
              <a:rPr lang="fr-FR" sz="1200" dirty="0">
                <a:latin typeface="Calibri Light" panose="020F0302020204030204" pitchFamily="34" charset="0"/>
                <a:ea typeface="Calibri Light" panose="020F0302020204030204" pitchFamily="34" charset="0"/>
                <a:cs typeface="Calibri Light" panose="020F0302020204030204" pitchFamily="34" charset="0"/>
              </a:rPr>
              <a:t>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erstellt</a:t>
            </a:r>
            <a:r>
              <a:rPr lang="fr-FR" sz="1200" dirty="0">
                <a:latin typeface="Calibri Light" panose="020F0302020204030204" pitchFamily="34" charset="0"/>
                <a:ea typeface="Calibri Light" panose="020F0302020204030204" pitchFamily="34" charset="0"/>
                <a:cs typeface="Calibri Light" panose="020F0302020204030204" pitchFamily="34" charset="0"/>
              </a:rPr>
              <a:t> der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Protokoll</a:t>
            </a:r>
            <a:r>
              <a:rPr lang="fr-FR" sz="1200" dirty="0">
                <a:latin typeface="Calibri Light" panose="020F0302020204030204" pitchFamily="34" charset="0"/>
                <a:ea typeface="Calibri Light" panose="020F0302020204030204" pitchFamily="34" charset="0"/>
                <a:cs typeface="Calibri Light" panose="020F0302020204030204" pitchFamily="34" charset="0"/>
              </a:rPr>
              <a:t>-Compiler (protoc)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automatisch</a:t>
            </a:r>
            <a:r>
              <a:rPr lang="fr-FR" sz="1200" dirty="0">
                <a:latin typeface="Calibri Light" panose="020F0302020204030204" pitchFamily="34" charset="0"/>
                <a:ea typeface="Calibri Light" panose="020F0302020204030204" pitchFamily="34" charset="0"/>
                <a:cs typeface="Calibri Light" panose="020F0302020204030204" pitchFamily="34" charset="0"/>
              </a:rPr>
              <a:t>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eine</a:t>
            </a:r>
            <a:r>
              <a:rPr lang="fr-FR" sz="1200" dirty="0">
                <a:latin typeface="Calibri Light" panose="020F0302020204030204" pitchFamily="34" charset="0"/>
                <a:ea typeface="Calibri Light" panose="020F0302020204030204" pitchFamily="34" charset="0"/>
                <a:cs typeface="Calibri Light" panose="020F0302020204030204" pitchFamily="34" charset="0"/>
              </a:rPr>
              <a:t> Java-</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Datei</a:t>
            </a:r>
            <a:r>
              <a:rPr lang="fr-FR" sz="1200" dirty="0">
                <a:latin typeface="Calibri Light" panose="020F0302020204030204" pitchFamily="34" charset="0"/>
                <a:ea typeface="Calibri Light" panose="020F0302020204030204" pitchFamily="34" charset="0"/>
                <a:cs typeface="Calibri Light" panose="020F0302020204030204" pitchFamily="34" charset="0"/>
              </a:rPr>
              <a:t> mit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dem</a:t>
            </a:r>
            <a:r>
              <a:rPr lang="fr-FR" sz="1200" dirty="0">
                <a:latin typeface="Calibri Light" panose="020F0302020204030204" pitchFamily="34" charset="0"/>
                <a:ea typeface="Calibri Light" panose="020F0302020204030204" pitchFamily="34" charset="0"/>
                <a:cs typeface="Calibri Light" panose="020F0302020204030204" pitchFamily="34" charset="0"/>
              </a:rPr>
              <a:t>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gleichen</a:t>
            </a:r>
            <a:r>
              <a:rPr lang="fr-FR" sz="1200" dirty="0">
                <a:latin typeface="Calibri Light" panose="020F0302020204030204" pitchFamily="34" charset="0"/>
                <a:ea typeface="Calibri Light" panose="020F0302020204030204" pitchFamily="34" charset="0"/>
                <a:cs typeface="Calibri Light" panose="020F0302020204030204" pitchFamily="34" charset="0"/>
              </a:rPr>
              <a:t>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Namen</a:t>
            </a:r>
            <a:r>
              <a:rPr lang="fr-FR" sz="1200" dirty="0">
                <a:latin typeface="Calibri Light" panose="020F0302020204030204" pitchFamily="34" charset="0"/>
                <a:ea typeface="Calibri Light" panose="020F0302020204030204" pitchFamily="34" charset="0"/>
                <a:cs typeface="Calibri Light" panose="020F0302020204030204" pitchFamily="34" charset="0"/>
              </a:rPr>
              <a:t>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wie</a:t>
            </a:r>
            <a:r>
              <a:rPr lang="fr-FR" sz="1200" dirty="0">
                <a:latin typeface="Calibri Light" panose="020F0302020204030204" pitchFamily="34" charset="0"/>
                <a:ea typeface="Calibri Light" panose="020F0302020204030204" pitchFamily="34" charset="0"/>
                <a:cs typeface="Calibri Light" panose="020F0302020204030204" pitchFamily="34" charset="0"/>
              </a:rPr>
              <a:t> die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ursprüngliche</a:t>
            </a:r>
            <a:r>
              <a:rPr lang="fr-FR" sz="1200" dirty="0">
                <a:latin typeface="Calibri Light" panose="020F0302020204030204" pitchFamily="34" charset="0"/>
                <a:ea typeface="Calibri Light" panose="020F0302020204030204" pitchFamily="34" charset="0"/>
                <a:cs typeface="Calibri Light" panose="020F0302020204030204" pitchFamily="34" charset="0"/>
              </a:rPr>
              <a:t> .proto-</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Datei</a:t>
            </a:r>
            <a:r>
              <a:rPr lang="fr-FR" sz="1200" dirty="0">
                <a:latin typeface="Calibri Light" panose="020F0302020204030204" pitchFamily="34" charset="0"/>
                <a:ea typeface="Calibri Light" panose="020F0302020204030204" pitchFamily="34" charset="0"/>
                <a:cs typeface="Calibri Light" panose="020F0302020204030204" pitchFamily="34" charset="0"/>
              </a:rPr>
              <a:t> –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dabei</a:t>
            </a:r>
            <a:r>
              <a:rPr lang="fr-FR" sz="1200" dirty="0">
                <a:latin typeface="Calibri Light" panose="020F0302020204030204" pitchFamily="34" charset="0"/>
                <a:ea typeface="Calibri Light" panose="020F0302020204030204" pitchFamily="34" charset="0"/>
                <a:cs typeface="Calibri Light" panose="020F0302020204030204" pitchFamily="34" charset="0"/>
              </a:rPr>
              <a:t>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wird</a:t>
            </a:r>
            <a:r>
              <a:rPr lang="fr-FR" sz="1200" dirty="0">
                <a:latin typeface="Calibri Light" panose="020F0302020204030204" pitchFamily="34" charset="0"/>
                <a:ea typeface="Calibri Light" panose="020F0302020204030204" pitchFamily="34" charset="0"/>
                <a:cs typeface="Calibri Light" panose="020F0302020204030204" pitchFamily="34" charset="0"/>
              </a:rPr>
              <a:t> der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erste</a:t>
            </a:r>
            <a:r>
              <a:rPr lang="fr-FR" sz="1200" dirty="0">
                <a:latin typeface="Calibri Light" panose="020F0302020204030204" pitchFamily="34" charset="0"/>
                <a:ea typeface="Calibri Light" panose="020F0302020204030204" pitchFamily="34" charset="0"/>
                <a:cs typeface="Calibri Light" panose="020F0302020204030204" pitchFamily="34" charset="0"/>
              </a:rPr>
              <a:t>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Buchstabe</a:t>
            </a:r>
            <a:r>
              <a:rPr lang="fr-FR" sz="1200" dirty="0">
                <a:latin typeface="Calibri Light" panose="020F0302020204030204" pitchFamily="34" charset="0"/>
                <a:ea typeface="Calibri Light" panose="020F0302020204030204" pitchFamily="34" charset="0"/>
                <a:cs typeface="Calibri Light" panose="020F0302020204030204" pitchFamily="34" charset="0"/>
              </a:rPr>
              <a:t>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großgeschrieben</a:t>
            </a:r>
            <a:r>
              <a:rPr lang="fr-FR" sz="1200" dirty="0">
                <a:latin typeface="Calibri Light" panose="020F0302020204030204" pitchFamily="34" charset="0"/>
                <a:ea typeface="Calibri Light" panose="020F0302020204030204" pitchFamily="34" charset="0"/>
                <a:cs typeface="Calibri Light" panose="020F0302020204030204" pitchFamily="34" charset="0"/>
              </a:rPr>
              <a:t>.</a:t>
            </a:r>
          </a:p>
          <a:p>
            <a:r>
              <a:rPr lang="fr-FR" sz="1200" dirty="0" err="1">
                <a:latin typeface="Calibri Light" panose="020F0302020204030204" pitchFamily="34" charset="0"/>
                <a:ea typeface="Calibri Light" panose="020F0302020204030204" pitchFamily="34" charset="0"/>
                <a:cs typeface="Calibri Light" panose="020F0302020204030204" pitchFamily="34" charset="0"/>
              </a:rPr>
              <a:t>Beispiel</a:t>
            </a:r>
            <a:r>
              <a:rPr lang="fr-FR" sz="1200" dirty="0">
                <a:latin typeface="Calibri Light" panose="020F0302020204030204" pitchFamily="34" charset="0"/>
                <a:ea typeface="Calibri Light" panose="020F0302020204030204" pitchFamily="34" charset="0"/>
                <a:cs typeface="Calibri Light" panose="020F0302020204030204" pitchFamily="34" charset="0"/>
              </a:rPr>
              <a:t>: bank.proto → Bank.java</a:t>
            </a:r>
            <a:br>
              <a:rPr lang="fr-FR" sz="1200" dirty="0">
                <a:latin typeface="Calibri Light" panose="020F0302020204030204" pitchFamily="34" charset="0"/>
                <a:ea typeface="Calibri Light" panose="020F0302020204030204" pitchFamily="34" charset="0"/>
                <a:cs typeface="Calibri Light" panose="020F0302020204030204" pitchFamily="34" charset="0"/>
              </a:rPr>
            </a:br>
            <a:endParaRPr lang="fr-FR" sz="1200" dirty="0">
              <a:latin typeface="Calibri Light" panose="020F0302020204030204" pitchFamily="34" charset="0"/>
              <a:ea typeface="Calibri Light" panose="020F0302020204030204" pitchFamily="34" charset="0"/>
              <a:cs typeface="Calibri Light" panose="020F0302020204030204" pitchFamily="34" charset="0"/>
            </a:endParaRPr>
          </a:p>
          <a:p>
            <a:r>
              <a:rPr lang="fr-FR" sz="1200" b="1" dirty="0" err="1">
                <a:latin typeface="Calibri Light" panose="020F0302020204030204" pitchFamily="34" charset="0"/>
                <a:ea typeface="Calibri Light" panose="020F0302020204030204" pitchFamily="34" charset="0"/>
                <a:cs typeface="Calibri Light" panose="020F0302020204030204" pitchFamily="34" charset="0"/>
              </a:rPr>
              <a:t>Diese</a:t>
            </a:r>
            <a:r>
              <a:rPr lang="fr-FR" sz="1200" b="1" dirty="0">
                <a:latin typeface="Calibri Light" panose="020F0302020204030204" pitchFamily="34" charset="0"/>
                <a:ea typeface="Calibri Light" panose="020F0302020204030204" pitchFamily="34" charset="0"/>
                <a:cs typeface="Calibri Light" panose="020F0302020204030204" pitchFamily="34" charset="0"/>
              </a:rPr>
              <a:t> </a:t>
            </a:r>
            <a:r>
              <a:rPr lang="fr-FR" sz="1200" b="1" dirty="0" err="1">
                <a:latin typeface="Calibri Light" panose="020F0302020204030204" pitchFamily="34" charset="0"/>
                <a:ea typeface="Calibri Light" panose="020F0302020204030204" pitchFamily="34" charset="0"/>
                <a:cs typeface="Calibri Light" panose="020F0302020204030204" pitchFamily="34" charset="0"/>
              </a:rPr>
              <a:t>Datei</a:t>
            </a:r>
            <a:r>
              <a:rPr lang="fr-FR" sz="1200" b="1" dirty="0">
                <a:latin typeface="Calibri Light" panose="020F0302020204030204" pitchFamily="34" charset="0"/>
                <a:ea typeface="Calibri Light" panose="020F0302020204030204" pitchFamily="34" charset="0"/>
                <a:cs typeface="Calibri Light" panose="020F0302020204030204" pitchFamily="34" charset="0"/>
              </a:rPr>
              <a:t> </a:t>
            </a:r>
            <a:r>
              <a:rPr lang="fr-FR" sz="1200" b="1" dirty="0" err="1">
                <a:latin typeface="Calibri Light" panose="020F0302020204030204" pitchFamily="34" charset="0"/>
                <a:ea typeface="Calibri Light" panose="020F0302020204030204" pitchFamily="34" charset="0"/>
                <a:cs typeface="Calibri Light" panose="020F0302020204030204" pitchFamily="34" charset="0"/>
              </a:rPr>
              <a:t>enthält</a:t>
            </a:r>
            <a:r>
              <a:rPr lang="fr-FR" sz="1200" dirty="0">
                <a:latin typeface="Calibri Light" panose="020F0302020204030204" pitchFamily="34" charset="0"/>
                <a:ea typeface="Calibri Light" panose="020F0302020204030204" pitchFamily="34" charset="0"/>
                <a:cs typeface="Calibri Light" panose="020F0302020204030204" pitchFamily="34" charset="0"/>
              </a:rPr>
              <a:t>:</a:t>
            </a:r>
          </a:p>
          <a:p>
            <a:r>
              <a:rPr lang="fr-FR" sz="1200" b="1" dirty="0">
                <a:latin typeface="Calibri Light" panose="020F0302020204030204" pitchFamily="34" charset="0"/>
                <a:ea typeface="Calibri Light" panose="020F0302020204030204" pitchFamily="34" charset="0"/>
                <a:cs typeface="Calibri Light" panose="020F0302020204030204" pitchFamily="34" charset="0"/>
              </a:rPr>
              <a:t>Alle </a:t>
            </a:r>
            <a:r>
              <a:rPr lang="fr-FR" sz="1200" b="1" dirty="0" err="1">
                <a:latin typeface="Calibri Light" panose="020F0302020204030204" pitchFamily="34" charset="0"/>
                <a:ea typeface="Calibri Light" panose="020F0302020204030204" pitchFamily="34" charset="0"/>
                <a:cs typeface="Calibri Light" panose="020F0302020204030204" pitchFamily="34" charset="0"/>
              </a:rPr>
              <a:t>Nachrichtendefinitionen</a:t>
            </a:r>
            <a:r>
              <a:rPr lang="fr-FR" sz="1200" b="1" dirty="0">
                <a:latin typeface="Calibri Light" panose="020F0302020204030204" pitchFamily="34" charset="0"/>
                <a:ea typeface="Calibri Light" panose="020F0302020204030204" pitchFamily="34" charset="0"/>
                <a:cs typeface="Calibri Light" panose="020F0302020204030204" pitchFamily="34" charset="0"/>
              </a:rPr>
              <a:t> (Messages), z. B.:</a:t>
            </a:r>
          </a:p>
          <a:p>
            <a:r>
              <a:rPr lang="fr-FR" sz="1200" dirty="0" err="1">
                <a:latin typeface="Calibri Light" panose="020F0302020204030204" pitchFamily="34" charset="0"/>
                <a:ea typeface="Calibri Light" panose="020F0302020204030204" pitchFamily="34" charset="0"/>
                <a:cs typeface="Calibri Light" panose="020F0302020204030204" pitchFamily="34" charset="0"/>
              </a:rPr>
              <a:t>BankAccount</a:t>
            </a:r>
            <a:endParaRPr lang="fr-FR" sz="1200" dirty="0">
              <a:latin typeface="Calibri Light" panose="020F0302020204030204" pitchFamily="34" charset="0"/>
              <a:ea typeface="Calibri Light" panose="020F0302020204030204" pitchFamily="34" charset="0"/>
              <a:cs typeface="Calibri Light" panose="020F0302020204030204" pitchFamily="34" charset="0"/>
            </a:endParaRPr>
          </a:p>
          <a:p>
            <a:r>
              <a:rPr lang="fr-FR" sz="1200" dirty="0" err="1">
                <a:latin typeface="Calibri Light" panose="020F0302020204030204" pitchFamily="34" charset="0"/>
                <a:ea typeface="Calibri Light" panose="020F0302020204030204" pitchFamily="34" charset="0"/>
                <a:cs typeface="Calibri Light" panose="020F0302020204030204" pitchFamily="34" charset="0"/>
              </a:rPr>
              <a:t>GetAccountRequest</a:t>
            </a:r>
            <a:endParaRPr lang="fr-FR" sz="1200" dirty="0">
              <a:latin typeface="Calibri Light" panose="020F0302020204030204" pitchFamily="34" charset="0"/>
              <a:ea typeface="Calibri Light" panose="020F0302020204030204" pitchFamily="34" charset="0"/>
              <a:cs typeface="Calibri Light" panose="020F0302020204030204" pitchFamily="34" charset="0"/>
            </a:endParaRPr>
          </a:p>
          <a:p>
            <a:r>
              <a:rPr lang="fr-FR" sz="1200" dirty="0" err="1">
                <a:latin typeface="Calibri Light" panose="020F0302020204030204" pitchFamily="34" charset="0"/>
                <a:ea typeface="Calibri Light" panose="020F0302020204030204" pitchFamily="34" charset="0"/>
                <a:cs typeface="Calibri Light" panose="020F0302020204030204" pitchFamily="34" charset="0"/>
              </a:rPr>
              <a:t>GetAccountResponse</a:t>
            </a:r>
            <a:endParaRPr lang="fr-FR" sz="1200" dirty="0">
              <a:latin typeface="Calibri Light" panose="020F0302020204030204" pitchFamily="34" charset="0"/>
              <a:ea typeface="Calibri Light" panose="020F0302020204030204" pitchFamily="34" charset="0"/>
              <a:cs typeface="Calibri Light" panose="020F0302020204030204" pitchFamily="34" charset="0"/>
            </a:endParaRPr>
          </a:p>
          <a:p>
            <a:r>
              <a:rPr lang="fr-FR" sz="1200" dirty="0" err="1">
                <a:latin typeface="Calibri Light" panose="020F0302020204030204" pitchFamily="34" charset="0"/>
                <a:ea typeface="Calibri Light" panose="020F0302020204030204" pitchFamily="34" charset="0"/>
                <a:cs typeface="Calibri Light" panose="020F0302020204030204" pitchFamily="34" charset="0"/>
              </a:rPr>
              <a:t>ConvertCurrencyRequest</a:t>
            </a:r>
            <a:r>
              <a:rPr lang="fr-FR" sz="1200" dirty="0">
                <a:latin typeface="Calibri Light" panose="020F0302020204030204" pitchFamily="34" charset="0"/>
                <a:ea typeface="Calibri Light" panose="020F0302020204030204" pitchFamily="34" charset="0"/>
                <a:cs typeface="Calibri Light" panose="020F0302020204030204" pitchFamily="34" charset="0"/>
              </a:rPr>
              <a:t> etc….</a:t>
            </a:r>
            <a:br>
              <a:rPr lang="fr-FR" sz="1200" dirty="0">
                <a:latin typeface="Calibri Light" panose="020F0302020204030204" pitchFamily="34" charset="0"/>
                <a:ea typeface="Calibri Light" panose="020F0302020204030204" pitchFamily="34" charset="0"/>
                <a:cs typeface="Calibri Light" panose="020F0302020204030204" pitchFamily="34" charset="0"/>
              </a:rPr>
            </a:br>
            <a:endParaRPr lang="fr-FR" sz="1200" dirty="0">
              <a:latin typeface="Calibri Light" panose="020F0302020204030204" pitchFamily="34" charset="0"/>
              <a:ea typeface="Calibri Light" panose="020F0302020204030204" pitchFamily="34" charset="0"/>
              <a:cs typeface="Calibri Light" panose="020F0302020204030204" pitchFamily="34" charset="0"/>
            </a:endParaRPr>
          </a:p>
          <a:p>
            <a:r>
              <a:rPr lang="fr-FR" sz="1200" dirty="0">
                <a:latin typeface="Calibri Light" panose="020F0302020204030204" pitchFamily="34" charset="0"/>
                <a:ea typeface="Calibri Light" panose="020F0302020204030204" pitchFamily="34" charset="0"/>
                <a:cs typeface="Calibri Light" panose="020F0302020204030204" pitchFamily="34" charset="0"/>
              </a:rPr>
              <a:t> </a:t>
            </a:r>
            <a:r>
              <a:rPr lang="fr-FR" sz="1200" b="1" dirty="0">
                <a:latin typeface="Calibri Light" panose="020F0302020204030204" pitchFamily="34" charset="0"/>
                <a:ea typeface="Calibri Light" panose="020F0302020204030204" pitchFamily="34" charset="0"/>
                <a:cs typeface="Calibri Light" panose="020F0302020204030204" pitchFamily="34" charset="0"/>
              </a:rPr>
              <a:t>Alle </a:t>
            </a:r>
            <a:r>
              <a:rPr lang="fr-FR" sz="1200" b="1" dirty="0" err="1">
                <a:latin typeface="Calibri Light" panose="020F0302020204030204" pitchFamily="34" charset="0"/>
                <a:ea typeface="Calibri Light" panose="020F0302020204030204" pitchFamily="34" charset="0"/>
                <a:cs typeface="Calibri Light" panose="020F0302020204030204" pitchFamily="34" charset="0"/>
              </a:rPr>
              <a:t>Enumerationen</a:t>
            </a:r>
            <a:r>
              <a:rPr lang="fr-FR" sz="1200" b="1" dirty="0">
                <a:latin typeface="Calibri Light" panose="020F0302020204030204" pitchFamily="34" charset="0"/>
                <a:ea typeface="Calibri Light" panose="020F0302020204030204" pitchFamily="34" charset="0"/>
                <a:cs typeface="Calibri Light" panose="020F0302020204030204" pitchFamily="34" charset="0"/>
              </a:rPr>
              <a:t> (</a:t>
            </a:r>
            <a:r>
              <a:rPr lang="fr-FR" sz="1200" b="1" dirty="0" err="1">
                <a:latin typeface="Calibri Light" panose="020F0302020204030204" pitchFamily="34" charset="0"/>
                <a:ea typeface="Calibri Light" panose="020F0302020204030204" pitchFamily="34" charset="0"/>
                <a:cs typeface="Calibri Light" panose="020F0302020204030204" pitchFamily="34" charset="0"/>
              </a:rPr>
              <a:t>Enums</a:t>
            </a:r>
            <a:r>
              <a:rPr lang="fr-FR" sz="1200" b="1" dirty="0">
                <a:latin typeface="Calibri Light" panose="020F0302020204030204" pitchFamily="34" charset="0"/>
                <a:ea typeface="Calibri Light" panose="020F0302020204030204" pitchFamily="34" charset="0"/>
                <a:cs typeface="Calibri Light" panose="020F0302020204030204" pitchFamily="34" charset="0"/>
              </a:rPr>
              <a:t>), z. B.:</a:t>
            </a:r>
          </a:p>
          <a:p>
            <a:r>
              <a:rPr lang="fr-FR" sz="1200" dirty="0" err="1">
                <a:latin typeface="Calibri Light" panose="020F0302020204030204" pitchFamily="34" charset="0"/>
                <a:ea typeface="Calibri Light" panose="020F0302020204030204" pitchFamily="34" charset="0"/>
                <a:cs typeface="Calibri Light" panose="020F0302020204030204" pitchFamily="34" charset="0"/>
              </a:rPr>
              <a:t>AccountType</a:t>
            </a:r>
            <a:endParaRPr lang="fr-FR" sz="1200" dirty="0">
              <a:latin typeface="Calibri Light" panose="020F0302020204030204" pitchFamily="34" charset="0"/>
              <a:ea typeface="Calibri Light" panose="020F0302020204030204" pitchFamily="34" charset="0"/>
              <a:cs typeface="Calibri Light" panose="020F0302020204030204" pitchFamily="34" charset="0"/>
            </a:endParaRPr>
          </a:p>
          <a:p>
            <a:r>
              <a:rPr lang="fr-FR" sz="1200" dirty="0" err="1">
                <a:latin typeface="Calibri Light" panose="020F0302020204030204" pitchFamily="34" charset="0"/>
                <a:ea typeface="Calibri Light" panose="020F0302020204030204" pitchFamily="34" charset="0"/>
                <a:cs typeface="Calibri Light" panose="020F0302020204030204" pitchFamily="34" charset="0"/>
              </a:rPr>
              <a:t>AccountState</a:t>
            </a:r>
            <a:endParaRPr lang="fr-FR" sz="1200" dirty="0">
              <a:latin typeface="Calibri Light" panose="020F0302020204030204" pitchFamily="34" charset="0"/>
              <a:ea typeface="Calibri Light" panose="020F0302020204030204" pitchFamily="34" charset="0"/>
              <a:cs typeface="Calibri Light" panose="020F0302020204030204" pitchFamily="34" charset="0"/>
            </a:endParaRPr>
          </a:p>
          <a:p>
            <a:r>
              <a:rPr lang="fr-FR" sz="1200" dirty="0" err="1">
                <a:latin typeface="Calibri Light" panose="020F0302020204030204" pitchFamily="34" charset="0"/>
                <a:ea typeface="Calibri Light" panose="020F0302020204030204" pitchFamily="34" charset="0"/>
                <a:cs typeface="Calibri Light" panose="020F0302020204030204" pitchFamily="34" charset="0"/>
              </a:rPr>
              <a:t>Diese</a:t>
            </a:r>
            <a:r>
              <a:rPr lang="fr-FR" sz="1200" dirty="0">
                <a:latin typeface="Calibri Light" panose="020F0302020204030204" pitchFamily="34" charset="0"/>
                <a:ea typeface="Calibri Light" panose="020F0302020204030204" pitchFamily="34" charset="0"/>
                <a:cs typeface="Calibri Light" panose="020F0302020204030204" pitchFamily="34" charset="0"/>
              </a:rPr>
              <a:t>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Klassen</a:t>
            </a:r>
            <a:r>
              <a:rPr lang="fr-FR" sz="1200" dirty="0">
                <a:latin typeface="Calibri Light" panose="020F0302020204030204" pitchFamily="34" charset="0"/>
                <a:ea typeface="Calibri Light" panose="020F0302020204030204" pitchFamily="34" charset="0"/>
                <a:cs typeface="Calibri Light" panose="020F0302020204030204" pitchFamily="34" charset="0"/>
              </a:rPr>
              <a:t>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sind</a:t>
            </a:r>
            <a:r>
              <a:rPr lang="fr-FR" sz="1200" dirty="0">
                <a:latin typeface="Calibri Light" panose="020F0302020204030204" pitchFamily="34" charset="0"/>
                <a:ea typeface="Calibri Light" panose="020F0302020204030204" pitchFamily="34" charset="0"/>
                <a:cs typeface="Calibri Light" panose="020F0302020204030204" pitchFamily="34" charset="0"/>
              </a:rPr>
              <a:t>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typische</a:t>
            </a:r>
            <a:r>
              <a:rPr lang="fr-FR" sz="1200" dirty="0">
                <a:latin typeface="Calibri Light" panose="020F0302020204030204" pitchFamily="34" charset="0"/>
                <a:ea typeface="Calibri Light" panose="020F0302020204030204" pitchFamily="34" charset="0"/>
                <a:cs typeface="Calibri Light" panose="020F0302020204030204" pitchFamily="34" charset="0"/>
              </a:rPr>
              <a:t>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POJOs</a:t>
            </a:r>
            <a:r>
              <a:rPr lang="fr-FR" sz="1200" dirty="0">
                <a:latin typeface="Calibri Light" panose="020F0302020204030204" pitchFamily="34" charset="0"/>
                <a:ea typeface="Calibri Light" panose="020F0302020204030204" pitchFamily="34" charset="0"/>
                <a:cs typeface="Calibri Light" panose="020F0302020204030204" pitchFamily="34" charset="0"/>
              </a:rPr>
              <a:t> (Plain Old Java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Objects</a:t>
            </a:r>
            <a:r>
              <a:rPr lang="fr-FR" sz="1200" dirty="0">
                <a:latin typeface="Calibri Light" panose="020F0302020204030204" pitchFamily="34" charset="0"/>
                <a:ea typeface="Calibri Light" panose="020F0302020204030204" pitchFamily="34" charset="0"/>
                <a:cs typeface="Calibri Light" panose="020F0302020204030204" pitchFamily="34" charset="0"/>
              </a:rPr>
              <a:t>), die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automatisch</a:t>
            </a:r>
            <a:r>
              <a:rPr lang="fr-FR" sz="1200" dirty="0">
                <a:latin typeface="Calibri Light" panose="020F0302020204030204" pitchFamily="34" charset="0"/>
                <a:ea typeface="Calibri Light" panose="020F0302020204030204" pitchFamily="34" charset="0"/>
                <a:cs typeface="Calibri Light" panose="020F0302020204030204" pitchFamily="34" charset="0"/>
              </a:rPr>
              <a:t>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generiert</a:t>
            </a:r>
            <a:r>
              <a:rPr lang="fr-FR" sz="1200" dirty="0">
                <a:latin typeface="Calibri Light" panose="020F0302020204030204" pitchFamily="34" charset="0"/>
                <a:ea typeface="Calibri Light" panose="020F0302020204030204" pitchFamily="34" charset="0"/>
                <a:cs typeface="Calibri Light" panose="020F0302020204030204" pitchFamily="34" charset="0"/>
              </a:rPr>
              <a:t>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werden</a:t>
            </a:r>
            <a:r>
              <a:rPr lang="fr-FR" sz="1200" dirty="0">
                <a:latin typeface="Calibri Light" panose="020F0302020204030204" pitchFamily="34" charset="0"/>
                <a:ea typeface="Calibri Light" panose="020F0302020204030204" pitchFamily="34" charset="0"/>
                <a:cs typeface="Calibri Light" panose="020F0302020204030204" pitchFamily="34" charset="0"/>
              </a:rPr>
              <a:t>.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Sie</a:t>
            </a:r>
            <a:r>
              <a:rPr lang="fr-FR" sz="1200" dirty="0">
                <a:latin typeface="Calibri Light" panose="020F0302020204030204" pitchFamily="34" charset="0"/>
                <a:ea typeface="Calibri Light" panose="020F0302020204030204" pitchFamily="34" charset="0"/>
                <a:cs typeface="Calibri Light" panose="020F0302020204030204" pitchFamily="34" charset="0"/>
              </a:rPr>
              <a:t>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beinhalten</a:t>
            </a:r>
            <a:r>
              <a:rPr lang="fr-FR" sz="1200" dirty="0">
                <a:latin typeface="Calibri Light" panose="020F0302020204030204" pitchFamily="34" charset="0"/>
                <a:ea typeface="Calibri Light" panose="020F0302020204030204" pitchFamily="34" charset="0"/>
                <a:cs typeface="Calibri Light" panose="020F0302020204030204" pitchFamily="34" charset="0"/>
              </a:rPr>
              <a:t>:</a:t>
            </a:r>
          </a:p>
          <a:p>
            <a:r>
              <a:rPr lang="fr-FR" sz="1200" dirty="0">
                <a:latin typeface="Calibri Light" panose="020F0302020204030204" pitchFamily="34" charset="0"/>
                <a:ea typeface="Calibri Light" panose="020F0302020204030204" pitchFamily="34" charset="0"/>
                <a:cs typeface="Calibri Light" panose="020F0302020204030204" pitchFamily="34" charset="0"/>
              </a:rPr>
              <a:t>Getter-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und</a:t>
            </a:r>
            <a:r>
              <a:rPr lang="fr-FR" sz="1200" dirty="0">
                <a:latin typeface="Calibri Light" panose="020F0302020204030204" pitchFamily="34" charset="0"/>
                <a:ea typeface="Calibri Light" panose="020F0302020204030204" pitchFamily="34" charset="0"/>
                <a:cs typeface="Calibri Light" panose="020F0302020204030204" pitchFamily="34" charset="0"/>
              </a:rPr>
              <a:t> Setter-</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Methoden</a:t>
            </a:r>
            <a:br>
              <a:rPr lang="fr-FR" sz="1200" dirty="0">
                <a:latin typeface="Calibri Light" panose="020F0302020204030204" pitchFamily="34" charset="0"/>
                <a:ea typeface="Calibri Light" panose="020F0302020204030204" pitchFamily="34" charset="0"/>
                <a:cs typeface="Calibri Light" panose="020F0302020204030204" pitchFamily="34" charset="0"/>
              </a:rPr>
            </a:br>
            <a:endParaRPr lang="fr-FR" sz="1200" dirty="0">
              <a:latin typeface="Calibri Light" panose="020F0302020204030204" pitchFamily="34" charset="0"/>
              <a:ea typeface="Calibri Light" panose="020F0302020204030204" pitchFamily="34" charset="0"/>
              <a:cs typeface="Calibri Light" panose="020F0302020204030204" pitchFamily="34" charset="0"/>
            </a:endParaRPr>
          </a:p>
          <a:p>
            <a:r>
              <a:rPr lang="fr-FR" sz="1200" b="1" dirty="0" err="1">
                <a:latin typeface="Calibri Light" panose="020F0302020204030204" pitchFamily="34" charset="0"/>
                <a:ea typeface="Calibri Light" panose="020F0302020204030204" pitchFamily="34" charset="0"/>
                <a:cs typeface="Calibri Light" panose="020F0302020204030204" pitchFamily="34" charset="0"/>
              </a:rPr>
              <a:t>Konstruktoren</a:t>
            </a:r>
            <a:endParaRPr lang="fr-FR" sz="1200" b="1" dirty="0">
              <a:latin typeface="Calibri Light" panose="020F0302020204030204" pitchFamily="34" charset="0"/>
              <a:ea typeface="Calibri Light" panose="020F0302020204030204" pitchFamily="34" charset="0"/>
              <a:cs typeface="Calibri Light" panose="020F0302020204030204" pitchFamily="34" charset="0"/>
            </a:endParaRPr>
          </a:p>
          <a:p>
            <a:r>
              <a:rPr lang="fr-FR" sz="1200" dirty="0" err="1">
                <a:latin typeface="Calibri Light" panose="020F0302020204030204" pitchFamily="34" charset="0"/>
                <a:ea typeface="Calibri Light" panose="020F0302020204030204" pitchFamily="34" charset="0"/>
                <a:cs typeface="Calibri Light" panose="020F0302020204030204" pitchFamily="34" charset="0"/>
              </a:rPr>
              <a:t>Hilfsmethoden</a:t>
            </a:r>
            <a:r>
              <a:rPr lang="fr-FR" sz="1200" dirty="0">
                <a:latin typeface="Calibri Light" panose="020F0302020204030204" pitchFamily="34" charset="0"/>
                <a:ea typeface="Calibri Light" panose="020F0302020204030204" pitchFamily="34" charset="0"/>
                <a:cs typeface="Calibri Light" panose="020F0302020204030204" pitchFamily="34" charset="0"/>
              </a:rPr>
              <a:t>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zur</a:t>
            </a:r>
            <a:r>
              <a:rPr lang="fr-FR" sz="1200" dirty="0">
                <a:latin typeface="Calibri Light" panose="020F0302020204030204" pitchFamily="34" charset="0"/>
                <a:ea typeface="Calibri Light" panose="020F0302020204030204" pitchFamily="34" charset="0"/>
                <a:cs typeface="Calibri Light" panose="020F0302020204030204" pitchFamily="34" charset="0"/>
              </a:rPr>
              <a:t>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Serialisierung</a:t>
            </a:r>
            <a:r>
              <a:rPr lang="fr-FR" sz="1200" dirty="0">
                <a:latin typeface="Calibri Light" panose="020F0302020204030204" pitchFamily="34" charset="0"/>
                <a:ea typeface="Calibri Light" panose="020F0302020204030204" pitchFamily="34" charset="0"/>
                <a:cs typeface="Calibri Light" panose="020F0302020204030204" pitchFamily="34" charset="0"/>
              </a:rPr>
              <a:t>/</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Deserialisierung</a:t>
            </a:r>
            <a:r>
              <a:rPr lang="fr-FR" sz="1200" dirty="0">
                <a:latin typeface="Calibri Light" panose="020F0302020204030204" pitchFamily="34" charset="0"/>
                <a:ea typeface="Calibri Light" panose="020F0302020204030204" pitchFamily="34" charset="0"/>
                <a:cs typeface="Calibri Light" panose="020F0302020204030204" pitchFamily="34" charset="0"/>
              </a:rPr>
              <a:t> von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Nachrichten</a:t>
            </a:r>
            <a:r>
              <a:rPr lang="fr-FR" sz="1200" dirty="0">
                <a:latin typeface="Calibri Light" panose="020F0302020204030204" pitchFamily="34" charset="0"/>
                <a:ea typeface="Calibri Light" panose="020F0302020204030204" pitchFamily="34" charset="0"/>
                <a:cs typeface="Calibri Light" panose="020F0302020204030204" pitchFamily="34" charset="0"/>
              </a:rPr>
              <a:t> ins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Binärformat</a:t>
            </a:r>
            <a:endParaRPr lang="fr-FR" sz="1200" dirty="0">
              <a:latin typeface="Calibri Light" panose="020F0302020204030204" pitchFamily="34" charset="0"/>
              <a:ea typeface="Calibri Light" panose="020F0302020204030204" pitchFamily="34" charset="0"/>
              <a:cs typeface="Calibri Light" panose="020F0302020204030204" pitchFamily="34" charset="0"/>
            </a:endParaRPr>
          </a:p>
          <a:p>
            <a:r>
              <a:rPr lang="fr-FR" sz="1200" dirty="0" err="1">
                <a:latin typeface="Calibri Light" panose="020F0302020204030204" pitchFamily="34" charset="0"/>
                <a:ea typeface="Calibri Light" panose="020F0302020204030204" pitchFamily="34" charset="0"/>
                <a:cs typeface="Calibri Light" panose="020F0302020204030204" pitchFamily="34" charset="0"/>
              </a:rPr>
              <a:t>Methoden</a:t>
            </a:r>
            <a:r>
              <a:rPr lang="fr-FR" sz="1200" dirty="0">
                <a:latin typeface="Calibri Light" panose="020F0302020204030204" pitchFamily="34" charset="0"/>
                <a:ea typeface="Calibri Light" panose="020F0302020204030204" pitchFamily="34" charset="0"/>
                <a:cs typeface="Calibri Light" panose="020F0302020204030204" pitchFamily="34" charset="0"/>
              </a:rPr>
              <a:t>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zur</a:t>
            </a:r>
            <a:r>
              <a:rPr lang="fr-FR" sz="1200" dirty="0">
                <a:latin typeface="Calibri Light" panose="020F0302020204030204" pitchFamily="34" charset="0"/>
                <a:ea typeface="Calibri Light" panose="020F0302020204030204" pitchFamily="34" charset="0"/>
                <a:cs typeface="Calibri Light" panose="020F0302020204030204" pitchFamily="34" charset="0"/>
              </a:rPr>
              <a:t>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Umwandlung</a:t>
            </a:r>
            <a:r>
              <a:rPr lang="fr-FR" sz="1200" dirty="0">
                <a:latin typeface="Calibri Light" panose="020F0302020204030204" pitchFamily="34" charset="0"/>
                <a:ea typeface="Calibri Light" panose="020F0302020204030204" pitchFamily="34" charset="0"/>
                <a:cs typeface="Calibri Light" panose="020F0302020204030204" pitchFamily="34" charset="0"/>
              </a:rPr>
              <a:t> in JSON</a:t>
            </a:r>
            <a:br>
              <a:rPr lang="fr-FR" sz="1200" dirty="0">
                <a:latin typeface="Calibri Light" panose="020F0302020204030204" pitchFamily="34" charset="0"/>
                <a:ea typeface="Calibri Light" panose="020F0302020204030204" pitchFamily="34" charset="0"/>
                <a:cs typeface="Calibri Light" panose="020F0302020204030204" pitchFamily="34" charset="0"/>
              </a:rPr>
            </a:br>
            <a:r>
              <a:rPr lang="fr-FR" sz="1200" dirty="0" err="1">
                <a:latin typeface="Calibri Light" panose="020F0302020204030204" pitchFamily="34" charset="0"/>
                <a:ea typeface="Calibri Light" panose="020F0302020204030204" pitchFamily="34" charset="0"/>
                <a:cs typeface="Calibri Light" panose="020F0302020204030204" pitchFamily="34" charset="0"/>
              </a:rPr>
              <a:t>Diese</a:t>
            </a:r>
            <a:r>
              <a:rPr lang="fr-FR" sz="1200" dirty="0">
                <a:latin typeface="Calibri Light" panose="020F0302020204030204" pitchFamily="34" charset="0"/>
                <a:ea typeface="Calibri Light" panose="020F0302020204030204" pitchFamily="34" charset="0"/>
                <a:cs typeface="Calibri Light" panose="020F0302020204030204" pitchFamily="34" charset="0"/>
              </a:rPr>
              <a:t>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Datei</a:t>
            </a:r>
            <a:r>
              <a:rPr lang="fr-FR" sz="1200" dirty="0">
                <a:latin typeface="Calibri Light" panose="020F0302020204030204" pitchFamily="34" charset="0"/>
                <a:ea typeface="Calibri Light" panose="020F0302020204030204" pitchFamily="34" charset="0"/>
                <a:cs typeface="Calibri Light" panose="020F0302020204030204" pitchFamily="34" charset="0"/>
              </a:rPr>
              <a:t>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bildet</a:t>
            </a:r>
            <a:r>
              <a:rPr lang="fr-FR" sz="1200" dirty="0">
                <a:latin typeface="Calibri Light" panose="020F0302020204030204" pitchFamily="34" charset="0"/>
                <a:ea typeface="Calibri Light" panose="020F0302020204030204" pitchFamily="34" charset="0"/>
                <a:cs typeface="Calibri Light" panose="020F0302020204030204" pitchFamily="34" charset="0"/>
              </a:rPr>
              <a:t>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also</a:t>
            </a:r>
            <a:r>
              <a:rPr lang="fr-FR" sz="1200" dirty="0">
                <a:latin typeface="Calibri Light" panose="020F0302020204030204" pitchFamily="34" charset="0"/>
                <a:ea typeface="Calibri Light" panose="020F0302020204030204" pitchFamily="34" charset="0"/>
                <a:cs typeface="Calibri Light" panose="020F0302020204030204" pitchFamily="34" charset="0"/>
              </a:rPr>
              <a:t>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das</a:t>
            </a:r>
            <a:r>
              <a:rPr lang="fr-FR" sz="1200" dirty="0">
                <a:latin typeface="Calibri Light" panose="020F0302020204030204" pitchFamily="34" charset="0"/>
                <a:ea typeface="Calibri Light" panose="020F0302020204030204" pitchFamily="34" charset="0"/>
                <a:cs typeface="Calibri Light" panose="020F0302020204030204" pitchFamily="34" charset="0"/>
              </a:rPr>
              <a:t>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Herzstück</a:t>
            </a:r>
            <a:r>
              <a:rPr lang="fr-FR" sz="1200" dirty="0">
                <a:latin typeface="Calibri Light" panose="020F0302020204030204" pitchFamily="34" charset="0"/>
                <a:ea typeface="Calibri Light" panose="020F0302020204030204" pitchFamily="34" charset="0"/>
                <a:cs typeface="Calibri Light" panose="020F0302020204030204" pitchFamily="34" charset="0"/>
              </a:rPr>
              <a:t> der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Datenstrukturen</a:t>
            </a:r>
            <a:r>
              <a:rPr lang="fr-FR" sz="1200" dirty="0">
                <a:latin typeface="Calibri Light" panose="020F0302020204030204" pitchFamily="34" charset="0"/>
                <a:ea typeface="Calibri Light" panose="020F0302020204030204" pitchFamily="34" charset="0"/>
                <a:cs typeface="Calibri Light" panose="020F0302020204030204" pitchFamily="34" charset="0"/>
              </a:rPr>
              <a:t>, mit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denen</a:t>
            </a:r>
            <a:r>
              <a:rPr lang="fr-FR" sz="1200" dirty="0">
                <a:latin typeface="Calibri Light" panose="020F0302020204030204" pitchFamily="34" charset="0"/>
                <a:ea typeface="Calibri Light" panose="020F0302020204030204" pitchFamily="34" charset="0"/>
                <a:cs typeface="Calibri Light" panose="020F0302020204030204" pitchFamily="34" charset="0"/>
              </a:rPr>
              <a:t> Client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und</a:t>
            </a:r>
            <a:r>
              <a:rPr lang="fr-FR" sz="1200" dirty="0">
                <a:latin typeface="Calibri Light" panose="020F0302020204030204" pitchFamily="34" charset="0"/>
                <a:ea typeface="Calibri Light" panose="020F0302020204030204" pitchFamily="34" charset="0"/>
                <a:cs typeface="Calibri Light" panose="020F0302020204030204" pitchFamily="34" charset="0"/>
              </a:rPr>
              <a:t> Server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kommunizieren</a:t>
            </a:r>
            <a:r>
              <a:rPr lang="fr-FR" sz="1200" dirty="0">
                <a:latin typeface="Calibri Light" panose="020F0302020204030204" pitchFamily="34" charset="0"/>
                <a:ea typeface="Calibri Light" panose="020F0302020204030204" pitchFamily="34" charset="0"/>
                <a:cs typeface="Calibri Light" panose="020F0302020204030204" pitchFamily="34" charset="0"/>
              </a:rPr>
              <a:t> –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ganz</a:t>
            </a:r>
            <a:r>
              <a:rPr lang="fr-FR" sz="1200" dirty="0">
                <a:latin typeface="Calibri Light" panose="020F0302020204030204" pitchFamily="34" charset="0"/>
                <a:ea typeface="Calibri Light" panose="020F0302020204030204" pitchFamily="34" charset="0"/>
                <a:cs typeface="Calibri Light" panose="020F0302020204030204" pitchFamily="34" charset="0"/>
              </a:rPr>
              <a:t>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ohne</a:t>
            </a:r>
            <a:r>
              <a:rPr lang="fr-FR" sz="1200" dirty="0">
                <a:latin typeface="Calibri Light" panose="020F0302020204030204" pitchFamily="34" charset="0"/>
                <a:ea typeface="Calibri Light" panose="020F0302020204030204" pitchFamily="34" charset="0"/>
                <a:cs typeface="Calibri Light" panose="020F0302020204030204" pitchFamily="34" charset="0"/>
              </a:rPr>
              <a:t> manuelles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Codieren</a:t>
            </a:r>
            <a:r>
              <a:rPr lang="fr-FR" sz="1200" dirty="0">
                <a:latin typeface="Calibri Light" panose="020F0302020204030204" pitchFamily="34" charset="0"/>
                <a:ea typeface="Calibri Light" panose="020F0302020204030204" pitchFamily="34" charset="0"/>
                <a:cs typeface="Calibri Light" panose="020F0302020204030204" pitchFamily="34" charset="0"/>
              </a:rPr>
              <a:t>!</a:t>
            </a:r>
          </a:p>
          <a:p>
            <a:endParaRPr lang="fr-FR" dirty="0"/>
          </a:p>
        </p:txBody>
      </p:sp>
    </p:spTree>
    <p:extLst>
      <p:ext uri="{BB962C8B-B14F-4D97-AF65-F5344CB8AC3E}">
        <p14:creationId xmlns:p14="http://schemas.microsoft.com/office/powerpoint/2010/main" val="19400400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22">
          <a:extLst>
            <a:ext uri="{FF2B5EF4-FFF2-40B4-BE49-F238E27FC236}">
              <a16:creationId xmlns:a16="http://schemas.microsoft.com/office/drawing/2014/main" id="{6FB2252E-A857-84AF-DE1D-57DCBCE5C032}"/>
            </a:ext>
          </a:extLst>
        </p:cNvPr>
        <p:cNvGrpSpPr/>
        <p:nvPr/>
      </p:nvGrpSpPr>
      <p:grpSpPr>
        <a:xfrm>
          <a:off x="0" y="0"/>
          <a:ext cx="0" cy="0"/>
          <a:chOff x="0" y="0"/>
          <a:chExt cx="0" cy="0"/>
        </a:xfrm>
      </p:grpSpPr>
      <p:sp>
        <p:nvSpPr>
          <p:cNvPr id="2" name="Google Shape;523;p54">
            <a:extLst>
              <a:ext uri="{FF2B5EF4-FFF2-40B4-BE49-F238E27FC236}">
                <a16:creationId xmlns:a16="http://schemas.microsoft.com/office/drawing/2014/main" id="{70D80A34-AFDA-A632-9B70-1B06431F1B6A}"/>
              </a:ext>
            </a:extLst>
          </p:cNvPr>
          <p:cNvSpPr txBox="1">
            <a:spLocks/>
          </p:cNvSpPr>
          <p:nvPr/>
        </p:nvSpPr>
        <p:spPr>
          <a:xfrm>
            <a:off x="668739" y="200684"/>
            <a:ext cx="8250072" cy="47641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1pPr>
            <a:lvl2pPr marR="0" lvl="1" algn="ctr"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2pPr>
            <a:lvl3pPr marR="0" lvl="2" algn="ctr"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3pPr>
            <a:lvl4pPr marR="0" lvl="3" algn="ctr"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4pPr>
            <a:lvl5pPr marR="0" lvl="4" algn="ctr"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5pPr>
            <a:lvl6pPr marR="0" lvl="5" algn="ctr"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6pPr>
            <a:lvl7pPr marR="0" lvl="6" algn="ctr"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7pPr>
            <a:lvl8pPr marR="0" lvl="7" algn="ctr"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8pPr>
            <a:lvl9pPr marR="0" lvl="8" algn="ctr"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9pPr>
          </a:lstStyle>
          <a:p>
            <a:r>
              <a:rPr lang="fr-FR" sz="1600" dirty="0" err="1"/>
              <a:t>Was</a:t>
            </a:r>
            <a:r>
              <a:rPr lang="fr-FR" sz="1600" dirty="0"/>
              <a:t> </a:t>
            </a:r>
            <a:r>
              <a:rPr lang="fr-FR" sz="1600" dirty="0" err="1"/>
              <a:t>ist</a:t>
            </a:r>
            <a:r>
              <a:rPr lang="fr-FR" sz="1600" dirty="0"/>
              <a:t> in den </a:t>
            </a:r>
            <a:r>
              <a:rPr lang="fr-FR" sz="1600" dirty="0" err="1"/>
              <a:t>Dateien</a:t>
            </a:r>
            <a:r>
              <a:rPr lang="fr-FR" sz="1600" dirty="0"/>
              <a:t> </a:t>
            </a:r>
            <a:r>
              <a:rPr lang="fr-FR" sz="1600" dirty="0" err="1"/>
              <a:t>enthalten</a:t>
            </a:r>
            <a:r>
              <a:rPr lang="fr-FR" sz="1600" dirty="0"/>
              <a:t>(Bank </a:t>
            </a:r>
            <a:r>
              <a:rPr lang="fr-FR" sz="1600" dirty="0" err="1"/>
              <a:t>und</a:t>
            </a:r>
            <a:r>
              <a:rPr lang="fr-FR" sz="1600" dirty="0"/>
              <a:t> </a:t>
            </a:r>
            <a:r>
              <a:rPr lang="fr-FR" sz="1600" dirty="0" err="1"/>
              <a:t>BankServiceGrpc</a:t>
            </a:r>
            <a:r>
              <a:rPr lang="fr-FR" sz="1600" dirty="0"/>
              <a:t>)</a:t>
            </a:r>
          </a:p>
        </p:txBody>
      </p:sp>
      <p:sp>
        <p:nvSpPr>
          <p:cNvPr id="3" name="ZoneTexte 2">
            <a:extLst>
              <a:ext uri="{FF2B5EF4-FFF2-40B4-BE49-F238E27FC236}">
                <a16:creationId xmlns:a16="http://schemas.microsoft.com/office/drawing/2014/main" id="{BA5B63EF-24FC-9542-7171-7F20ABBC12F5}"/>
              </a:ext>
            </a:extLst>
          </p:cNvPr>
          <p:cNvSpPr txBox="1"/>
          <p:nvPr/>
        </p:nvSpPr>
        <p:spPr>
          <a:xfrm>
            <a:off x="876868" y="990993"/>
            <a:ext cx="6922827" cy="3262432"/>
          </a:xfrm>
          <a:prstGeom prst="rect">
            <a:avLst/>
          </a:prstGeom>
          <a:noFill/>
        </p:spPr>
        <p:txBody>
          <a:bodyPr wrap="square" rtlCol="0">
            <a:spAutoFit/>
          </a:bodyPr>
          <a:lstStyle/>
          <a:p>
            <a:r>
              <a:rPr lang="fr-FR" sz="1200" b="1" dirty="0">
                <a:latin typeface="Calibri Light" panose="020F0302020204030204" pitchFamily="34" charset="0"/>
                <a:ea typeface="Calibri Light" panose="020F0302020204030204" pitchFamily="34" charset="0"/>
                <a:cs typeface="Calibri Light" panose="020F0302020204030204" pitchFamily="34" charset="0"/>
              </a:rPr>
              <a:t>BankServiceGrpc.java</a:t>
            </a:r>
            <a:br>
              <a:rPr lang="fr-FR" sz="1200" b="1" dirty="0">
                <a:latin typeface="Calibri Light" panose="020F0302020204030204" pitchFamily="34" charset="0"/>
                <a:ea typeface="Calibri Light" panose="020F0302020204030204" pitchFamily="34" charset="0"/>
                <a:cs typeface="Calibri Light" panose="020F0302020204030204" pitchFamily="34" charset="0"/>
              </a:rPr>
            </a:br>
            <a:endParaRPr lang="fr-FR" sz="1200" b="1" dirty="0">
              <a:latin typeface="Calibri Light" panose="020F0302020204030204" pitchFamily="34" charset="0"/>
              <a:ea typeface="Calibri Light" panose="020F0302020204030204" pitchFamily="34" charset="0"/>
              <a:cs typeface="Calibri Light" panose="020F0302020204030204" pitchFamily="34" charset="0"/>
            </a:endParaRPr>
          </a:p>
          <a:p>
            <a:r>
              <a:rPr lang="fr-FR" sz="1200" dirty="0">
                <a:latin typeface="Calibri Light" panose="020F0302020204030204" pitchFamily="34" charset="0"/>
                <a:ea typeface="Calibri Light" panose="020F0302020204030204" pitchFamily="34" charset="0"/>
                <a:cs typeface="Calibri Light" panose="020F0302020204030204" pitchFamily="34" charset="0"/>
              </a:rPr>
              <a:t>Der Name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dieser</a:t>
            </a:r>
            <a:r>
              <a:rPr lang="fr-FR" sz="1200" dirty="0">
                <a:latin typeface="Calibri Light" panose="020F0302020204030204" pitchFamily="34" charset="0"/>
                <a:ea typeface="Calibri Light" panose="020F0302020204030204" pitchFamily="34" charset="0"/>
                <a:cs typeface="Calibri Light" panose="020F0302020204030204" pitchFamily="34" charset="0"/>
              </a:rPr>
              <a:t>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Datei</a:t>
            </a:r>
            <a:r>
              <a:rPr lang="fr-FR" sz="1200" dirty="0">
                <a:latin typeface="Calibri Light" panose="020F0302020204030204" pitchFamily="34" charset="0"/>
                <a:ea typeface="Calibri Light" panose="020F0302020204030204" pitchFamily="34" charset="0"/>
                <a:cs typeface="Calibri Light" panose="020F0302020204030204" pitchFamily="34" charset="0"/>
              </a:rPr>
              <a:t>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stammt</a:t>
            </a:r>
            <a:r>
              <a:rPr lang="fr-FR" sz="1200" dirty="0">
                <a:latin typeface="Calibri Light" panose="020F0302020204030204" pitchFamily="34" charset="0"/>
                <a:ea typeface="Calibri Light" panose="020F0302020204030204" pitchFamily="34" charset="0"/>
                <a:cs typeface="Calibri Light" panose="020F0302020204030204" pitchFamily="34" charset="0"/>
              </a:rPr>
              <a:t>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direkt</a:t>
            </a:r>
            <a:r>
              <a:rPr lang="fr-FR" sz="1200" dirty="0">
                <a:latin typeface="Calibri Light" panose="020F0302020204030204" pitchFamily="34" charset="0"/>
                <a:ea typeface="Calibri Light" panose="020F0302020204030204" pitchFamily="34" charset="0"/>
                <a:cs typeface="Calibri Light" panose="020F0302020204030204" pitchFamily="34" charset="0"/>
              </a:rPr>
              <a:t>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vom</a:t>
            </a:r>
            <a:r>
              <a:rPr lang="fr-FR" sz="1200" dirty="0">
                <a:latin typeface="Calibri Light" panose="020F0302020204030204" pitchFamily="34" charset="0"/>
                <a:ea typeface="Calibri Light" panose="020F0302020204030204" pitchFamily="34" charset="0"/>
                <a:cs typeface="Calibri Light" panose="020F0302020204030204" pitchFamily="34" charset="0"/>
              </a:rPr>
              <a:t>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Namen</a:t>
            </a:r>
            <a:r>
              <a:rPr lang="fr-FR" sz="1200" dirty="0">
                <a:latin typeface="Calibri Light" panose="020F0302020204030204" pitchFamily="34" charset="0"/>
                <a:ea typeface="Calibri Light" panose="020F0302020204030204" pitchFamily="34" charset="0"/>
                <a:cs typeface="Calibri Light" panose="020F0302020204030204" pitchFamily="34" charset="0"/>
              </a:rPr>
              <a:t> des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Dienstes</a:t>
            </a:r>
            <a:r>
              <a:rPr lang="fr-FR" sz="1200" dirty="0">
                <a:latin typeface="Calibri Light" panose="020F0302020204030204" pitchFamily="34" charset="0"/>
                <a:ea typeface="Calibri Light" panose="020F0302020204030204" pitchFamily="34" charset="0"/>
                <a:cs typeface="Calibri Light" panose="020F0302020204030204" pitchFamily="34" charset="0"/>
              </a:rPr>
              <a:t>, den in der .proto-</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Datei</a:t>
            </a:r>
            <a:r>
              <a:rPr lang="fr-FR" sz="1200" dirty="0">
                <a:latin typeface="Calibri Light" panose="020F0302020204030204" pitchFamily="34" charset="0"/>
                <a:ea typeface="Calibri Light" panose="020F0302020204030204" pitchFamily="34" charset="0"/>
                <a:cs typeface="Calibri Light" panose="020F0302020204030204" pitchFamily="34" charset="0"/>
              </a:rPr>
              <a:t>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definiert</a:t>
            </a:r>
            <a:r>
              <a:rPr lang="fr-FR" sz="1200" dirty="0">
                <a:latin typeface="Calibri Light" panose="020F0302020204030204" pitchFamily="34" charset="0"/>
                <a:ea typeface="Calibri Light" panose="020F0302020204030204" pitchFamily="34" charset="0"/>
                <a:cs typeface="Calibri Light" panose="020F0302020204030204" pitchFamily="34" charset="0"/>
              </a:rPr>
              <a:t>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wurde</a:t>
            </a:r>
            <a:r>
              <a:rPr lang="fr-FR" sz="1200" dirty="0">
                <a:latin typeface="Calibri Light" panose="020F0302020204030204" pitchFamily="34" charset="0"/>
                <a:ea typeface="Calibri Light" panose="020F0302020204030204" pitchFamily="34" charset="0"/>
                <a:cs typeface="Calibri Light" panose="020F0302020204030204" pitchFamily="34" charset="0"/>
              </a:rPr>
              <a:t>.</a:t>
            </a:r>
          </a:p>
          <a:p>
            <a:r>
              <a:rPr lang="fr-FR" sz="1200" dirty="0" err="1">
                <a:latin typeface="Calibri Light" panose="020F0302020204030204" pitchFamily="34" charset="0"/>
                <a:ea typeface="Calibri Light" panose="020F0302020204030204" pitchFamily="34" charset="0"/>
                <a:cs typeface="Calibri Light" panose="020F0302020204030204" pitchFamily="34" charset="0"/>
              </a:rPr>
              <a:t>Beispiel</a:t>
            </a:r>
            <a:r>
              <a:rPr lang="fr-FR" sz="1200" dirty="0">
                <a:latin typeface="Calibri Light" panose="020F0302020204030204" pitchFamily="34" charset="0"/>
                <a:ea typeface="Calibri Light" panose="020F0302020204030204" pitchFamily="34" charset="0"/>
                <a:cs typeface="Calibri Light" panose="020F0302020204030204" pitchFamily="34" charset="0"/>
              </a:rPr>
              <a:t>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im</a:t>
            </a:r>
            <a:r>
              <a:rPr lang="fr-FR" sz="1200" dirty="0">
                <a:latin typeface="Calibri Light" panose="020F0302020204030204" pitchFamily="34" charset="0"/>
                <a:ea typeface="Calibri Light" panose="020F0302020204030204" pitchFamily="34" charset="0"/>
                <a:cs typeface="Calibri Light" panose="020F0302020204030204" pitchFamily="34" charset="0"/>
              </a:rPr>
              <a:t> .proto:</a:t>
            </a:r>
            <a:br>
              <a:rPr lang="fr-FR" sz="1200" dirty="0">
                <a:latin typeface="Calibri Light" panose="020F0302020204030204" pitchFamily="34" charset="0"/>
                <a:ea typeface="Calibri Light" panose="020F0302020204030204" pitchFamily="34" charset="0"/>
                <a:cs typeface="Calibri Light" panose="020F0302020204030204" pitchFamily="34" charset="0"/>
              </a:rPr>
            </a:br>
            <a:endParaRPr lang="fr-FR" sz="1200" dirty="0">
              <a:latin typeface="Calibri Light" panose="020F0302020204030204" pitchFamily="34" charset="0"/>
              <a:ea typeface="Calibri Light" panose="020F0302020204030204" pitchFamily="34" charset="0"/>
              <a:cs typeface="Calibri Light" panose="020F0302020204030204" pitchFamily="34" charset="0"/>
            </a:endParaRPr>
          </a:p>
          <a:p>
            <a:r>
              <a:rPr lang="fr-FR" sz="1200" b="1" dirty="0">
                <a:latin typeface="Calibri Light" panose="020F0302020204030204" pitchFamily="34" charset="0"/>
                <a:ea typeface="Calibri Light" panose="020F0302020204030204" pitchFamily="34" charset="0"/>
                <a:cs typeface="Calibri Light" panose="020F0302020204030204" pitchFamily="34" charset="0"/>
              </a:rPr>
              <a:t>service </a:t>
            </a:r>
            <a:r>
              <a:rPr lang="fr-FR" sz="1200" b="1" dirty="0" err="1">
                <a:latin typeface="Calibri Light" panose="020F0302020204030204" pitchFamily="34" charset="0"/>
                <a:ea typeface="Calibri Light" panose="020F0302020204030204" pitchFamily="34" charset="0"/>
                <a:cs typeface="Calibri Light" panose="020F0302020204030204" pitchFamily="34" charset="0"/>
              </a:rPr>
              <a:t>BankService</a:t>
            </a:r>
            <a:r>
              <a:rPr lang="fr-FR" sz="1200" b="1" dirty="0">
                <a:latin typeface="Calibri Light" panose="020F0302020204030204" pitchFamily="34" charset="0"/>
                <a:ea typeface="Calibri Light" panose="020F0302020204030204" pitchFamily="34" charset="0"/>
                <a:cs typeface="Calibri Light" panose="020F0302020204030204" pitchFamily="34" charset="0"/>
              </a:rPr>
              <a:t> {</a:t>
            </a:r>
          </a:p>
          <a:p>
            <a:r>
              <a:rPr lang="fr-FR" sz="1200" b="1" dirty="0" err="1">
                <a:latin typeface="Calibri Light" panose="020F0302020204030204" pitchFamily="34" charset="0"/>
                <a:ea typeface="Calibri Light" panose="020F0302020204030204" pitchFamily="34" charset="0"/>
                <a:cs typeface="Calibri Light" panose="020F0302020204030204" pitchFamily="34" charset="0"/>
              </a:rPr>
              <a:t>rpc</a:t>
            </a:r>
            <a:r>
              <a:rPr lang="fr-FR" sz="1200" b="1" dirty="0">
                <a:latin typeface="Calibri Light" panose="020F0302020204030204" pitchFamily="34" charset="0"/>
                <a:ea typeface="Calibri Light" panose="020F0302020204030204" pitchFamily="34" charset="0"/>
                <a:cs typeface="Calibri Light" panose="020F0302020204030204" pitchFamily="34" charset="0"/>
              </a:rPr>
              <a:t> </a:t>
            </a:r>
            <a:r>
              <a:rPr lang="fr-FR" sz="1200" b="1" dirty="0" err="1">
                <a:latin typeface="Calibri Light" panose="020F0302020204030204" pitchFamily="34" charset="0"/>
                <a:ea typeface="Calibri Light" panose="020F0302020204030204" pitchFamily="34" charset="0"/>
                <a:cs typeface="Calibri Light" panose="020F0302020204030204" pitchFamily="34" charset="0"/>
              </a:rPr>
              <a:t>getAccount</a:t>
            </a:r>
            <a:r>
              <a:rPr lang="fr-FR" sz="1200" b="1" dirty="0">
                <a:latin typeface="Calibri Light" panose="020F0302020204030204" pitchFamily="34" charset="0"/>
                <a:ea typeface="Calibri Light" panose="020F0302020204030204" pitchFamily="34" charset="0"/>
                <a:cs typeface="Calibri Light" panose="020F0302020204030204" pitchFamily="34" charset="0"/>
              </a:rPr>
              <a:t>(</a:t>
            </a:r>
            <a:r>
              <a:rPr lang="fr-FR" sz="1200" b="1" dirty="0" err="1">
                <a:latin typeface="Calibri Light" panose="020F0302020204030204" pitchFamily="34" charset="0"/>
                <a:ea typeface="Calibri Light" panose="020F0302020204030204" pitchFamily="34" charset="0"/>
                <a:cs typeface="Calibri Light" panose="020F0302020204030204" pitchFamily="34" charset="0"/>
              </a:rPr>
              <a:t>GetAccountRequest</a:t>
            </a:r>
            <a:r>
              <a:rPr lang="fr-FR" sz="1200" b="1" dirty="0">
                <a:latin typeface="Calibri Light" panose="020F0302020204030204" pitchFamily="34" charset="0"/>
                <a:ea typeface="Calibri Light" panose="020F0302020204030204" pitchFamily="34" charset="0"/>
                <a:cs typeface="Calibri Light" panose="020F0302020204030204" pitchFamily="34" charset="0"/>
              </a:rPr>
              <a:t>) </a:t>
            </a:r>
            <a:r>
              <a:rPr lang="fr-FR" sz="1200" b="1" dirty="0" err="1">
                <a:latin typeface="Calibri Light" panose="020F0302020204030204" pitchFamily="34" charset="0"/>
                <a:ea typeface="Calibri Light" panose="020F0302020204030204" pitchFamily="34" charset="0"/>
                <a:cs typeface="Calibri Light" panose="020F0302020204030204" pitchFamily="34" charset="0"/>
              </a:rPr>
              <a:t>returns</a:t>
            </a:r>
            <a:r>
              <a:rPr lang="fr-FR" sz="1200" b="1" dirty="0">
                <a:latin typeface="Calibri Light" panose="020F0302020204030204" pitchFamily="34" charset="0"/>
                <a:ea typeface="Calibri Light" panose="020F0302020204030204" pitchFamily="34" charset="0"/>
                <a:cs typeface="Calibri Light" panose="020F0302020204030204" pitchFamily="34" charset="0"/>
              </a:rPr>
              <a:t> (</a:t>
            </a:r>
            <a:r>
              <a:rPr lang="fr-FR" sz="1200" b="1" dirty="0" err="1">
                <a:latin typeface="Calibri Light" panose="020F0302020204030204" pitchFamily="34" charset="0"/>
                <a:ea typeface="Calibri Light" panose="020F0302020204030204" pitchFamily="34" charset="0"/>
                <a:cs typeface="Calibri Light" panose="020F0302020204030204" pitchFamily="34" charset="0"/>
              </a:rPr>
              <a:t>GetAccountResponse</a:t>
            </a:r>
            <a:r>
              <a:rPr lang="fr-FR" sz="1200" b="1" dirty="0">
                <a:latin typeface="Calibri Light" panose="020F0302020204030204" pitchFamily="34" charset="0"/>
                <a:ea typeface="Calibri Light" panose="020F0302020204030204" pitchFamily="34" charset="0"/>
                <a:cs typeface="Calibri Light" panose="020F0302020204030204" pitchFamily="34" charset="0"/>
              </a:rPr>
              <a:t>);</a:t>
            </a:r>
          </a:p>
          <a:p>
            <a:r>
              <a:rPr lang="fr-FR" sz="1200" b="1" dirty="0">
                <a:latin typeface="Calibri Light" panose="020F0302020204030204" pitchFamily="34" charset="0"/>
                <a:ea typeface="Calibri Light" panose="020F0302020204030204" pitchFamily="34" charset="0"/>
                <a:cs typeface="Calibri Light" panose="020F0302020204030204" pitchFamily="34" charset="0"/>
              </a:rPr>
              <a:t>...</a:t>
            </a:r>
          </a:p>
          <a:p>
            <a:r>
              <a:rPr lang="fr-FR" sz="1200" b="1" dirty="0">
                <a:latin typeface="Calibri Light" panose="020F0302020204030204" pitchFamily="34" charset="0"/>
                <a:ea typeface="Calibri Light" panose="020F0302020204030204" pitchFamily="34" charset="0"/>
                <a:cs typeface="Calibri Light" panose="020F0302020204030204" pitchFamily="34" charset="0"/>
              </a:rPr>
              <a:t>}</a:t>
            </a:r>
            <a:br>
              <a:rPr lang="fr-FR" sz="1200" dirty="0">
                <a:latin typeface="Calibri Light" panose="020F0302020204030204" pitchFamily="34" charset="0"/>
                <a:ea typeface="Calibri Light" panose="020F0302020204030204" pitchFamily="34" charset="0"/>
                <a:cs typeface="Calibri Light" panose="020F0302020204030204" pitchFamily="34" charset="0"/>
              </a:rPr>
            </a:br>
            <a:endParaRPr lang="fr-FR" sz="1200" dirty="0">
              <a:latin typeface="Calibri Light" panose="020F0302020204030204" pitchFamily="34" charset="0"/>
              <a:ea typeface="Calibri Light" panose="020F0302020204030204" pitchFamily="34" charset="0"/>
              <a:cs typeface="Calibri Light" panose="020F0302020204030204" pitchFamily="34" charset="0"/>
            </a:endParaRPr>
          </a:p>
          <a:p>
            <a:r>
              <a:rPr lang="fr-FR" sz="1200" dirty="0">
                <a:latin typeface="Calibri Light" panose="020F0302020204030204" pitchFamily="34" charset="0"/>
                <a:ea typeface="Calibri Light" panose="020F0302020204030204" pitchFamily="34" charset="0"/>
                <a:cs typeface="Calibri Light" panose="020F0302020204030204" pitchFamily="34" charset="0"/>
              </a:rPr>
              <a:t>Der protoc-Compiler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generiert</a:t>
            </a:r>
            <a:r>
              <a:rPr lang="fr-FR" sz="1200" dirty="0">
                <a:latin typeface="Calibri Light" panose="020F0302020204030204" pitchFamily="34" charset="0"/>
                <a:ea typeface="Calibri Light" panose="020F0302020204030204" pitchFamily="34" charset="0"/>
                <a:cs typeface="Calibri Light" panose="020F0302020204030204" pitchFamily="34" charset="0"/>
              </a:rPr>
              <a:t>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daraus</a:t>
            </a:r>
            <a:r>
              <a:rPr lang="fr-FR" sz="1200" dirty="0">
                <a:latin typeface="Calibri Light" panose="020F0302020204030204" pitchFamily="34" charset="0"/>
                <a:ea typeface="Calibri Light" panose="020F0302020204030204" pitchFamily="34" charset="0"/>
                <a:cs typeface="Calibri Light" panose="020F0302020204030204" pitchFamily="34" charset="0"/>
              </a:rPr>
              <a:t>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automatisch</a:t>
            </a:r>
            <a:r>
              <a:rPr lang="fr-FR" sz="1200" dirty="0">
                <a:latin typeface="Calibri Light" panose="020F0302020204030204" pitchFamily="34" charset="0"/>
                <a:ea typeface="Calibri Light" panose="020F0302020204030204" pitchFamily="34" charset="0"/>
                <a:cs typeface="Calibri Light" panose="020F0302020204030204" pitchFamily="34" charset="0"/>
              </a:rPr>
              <a:t> die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Datei</a:t>
            </a:r>
            <a:r>
              <a:rPr lang="fr-FR" sz="1200" dirty="0">
                <a:latin typeface="Calibri Light" panose="020F0302020204030204" pitchFamily="34" charset="0"/>
                <a:ea typeface="Calibri Light" panose="020F0302020204030204" pitchFamily="34" charset="0"/>
                <a:cs typeface="Calibri Light" panose="020F0302020204030204" pitchFamily="34" charset="0"/>
              </a:rPr>
              <a:t> </a:t>
            </a:r>
            <a:r>
              <a:rPr lang="fr-FR" sz="1200" b="1" dirty="0">
                <a:latin typeface="Calibri Light" panose="020F0302020204030204" pitchFamily="34" charset="0"/>
                <a:ea typeface="Calibri Light" panose="020F0302020204030204" pitchFamily="34" charset="0"/>
                <a:cs typeface="Calibri Light" panose="020F0302020204030204" pitchFamily="34" charset="0"/>
              </a:rPr>
              <a:t>BankServiceGrpc.java</a:t>
            </a:r>
            <a:r>
              <a:rPr lang="fr-FR" sz="1200" dirty="0">
                <a:latin typeface="Calibri Light" panose="020F0302020204030204" pitchFamily="34" charset="0"/>
                <a:ea typeface="Calibri Light" panose="020F0302020204030204" pitchFamily="34" charset="0"/>
                <a:cs typeface="Calibri Light" panose="020F0302020204030204" pitchFamily="34" charset="0"/>
              </a:rPr>
              <a:t>, welche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alle</a:t>
            </a:r>
            <a:r>
              <a:rPr lang="fr-FR" sz="1200" dirty="0">
                <a:latin typeface="Calibri Light" panose="020F0302020204030204" pitchFamily="34" charset="0"/>
                <a:ea typeface="Calibri Light" panose="020F0302020204030204" pitchFamily="34" charset="0"/>
                <a:cs typeface="Calibri Light" panose="020F0302020204030204" pitchFamily="34" charset="0"/>
              </a:rPr>
              <a:t>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Klassen</a:t>
            </a:r>
            <a:r>
              <a:rPr lang="fr-FR" sz="1200" dirty="0">
                <a:latin typeface="Calibri Light" panose="020F0302020204030204" pitchFamily="34" charset="0"/>
                <a:ea typeface="Calibri Light" panose="020F0302020204030204" pitchFamily="34" charset="0"/>
                <a:cs typeface="Calibri Light" panose="020F0302020204030204" pitchFamily="34" charset="0"/>
              </a:rPr>
              <a:t>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enthält</a:t>
            </a:r>
            <a:r>
              <a:rPr lang="fr-FR" sz="1200" dirty="0">
                <a:latin typeface="Calibri Light" panose="020F0302020204030204" pitchFamily="34" charset="0"/>
                <a:ea typeface="Calibri Light" panose="020F0302020204030204" pitchFamily="34" charset="0"/>
                <a:cs typeface="Calibri Light" panose="020F0302020204030204" pitchFamily="34" charset="0"/>
              </a:rPr>
              <a:t>, die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notwendig</a:t>
            </a:r>
            <a:r>
              <a:rPr lang="fr-FR" sz="1200" dirty="0">
                <a:latin typeface="Calibri Light" panose="020F0302020204030204" pitchFamily="34" charset="0"/>
                <a:ea typeface="Calibri Light" panose="020F0302020204030204" pitchFamily="34" charset="0"/>
                <a:cs typeface="Calibri Light" panose="020F0302020204030204" pitchFamily="34" charset="0"/>
              </a:rPr>
              <a:t>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sind</a:t>
            </a:r>
            <a:r>
              <a:rPr lang="fr-FR" sz="1200" dirty="0">
                <a:latin typeface="Calibri Light" panose="020F0302020204030204" pitchFamily="34" charset="0"/>
                <a:ea typeface="Calibri Light" panose="020F0302020204030204" pitchFamily="34" charset="0"/>
                <a:cs typeface="Calibri Light" panose="020F0302020204030204" pitchFamily="34" charset="0"/>
              </a:rPr>
              <a:t>, um:</a:t>
            </a:r>
            <a:br>
              <a:rPr lang="fr-FR" sz="1200" dirty="0">
                <a:latin typeface="Calibri Light" panose="020F0302020204030204" pitchFamily="34" charset="0"/>
                <a:ea typeface="Calibri Light" panose="020F0302020204030204" pitchFamily="34" charset="0"/>
                <a:cs typeface="Calibri Light" panose="020F0302020204030204" pitchFamily="34" charset="0"/>
              </a:rPr>
            </a:br>
            <a:endParaRPr lang="fr-FR" sz="1200" dirty="0">
              <a:latin typeface="Calibri Light" panose="020F0302020204030204" pitchFamily="34" charset="0"/>
              <a:ea typeface="Calibri Light" panose="020F0302020204030204" pitchFamily="34" charset="0"/>
              <a:cs typeface="Calibri Light" panose="020F0302020204030204" pitchFamily="34" charset="0"/>
            </a:endParaRPr>
          </a:p>
          <a:p>
            <a:r>
              <a:rPr lang="fr-FR" sz="1200" dirty="0">
                <a:latin typeface="Calibri Light" panose="020F0302020204030204" pitchFamily="34" charset="0"/>
                <a:ea typeface="Calibri Light" panose="020F0302020204030204" pitchFamily="34" charset="0"/>
                <a:cs typeface="Calibri Light" panose="020F0302020204030204" pitchFamily="34" charset="0"/>
              </a:rPr>
              <a:t>- den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Dienst</a:t>
            </a:r>
            <a:r>
              <a:rPr lang="fr-FR" sz="1200" dirty="0">
                <a:latin typeface="Calibri Light" panose="020F0302020204030204" pitchFamily="34" charset="0"/>
                <a:ea typeface="Calibri Light" panose="020F0302020204030204" pitchFamily="34" charset="0"/>
                <a:cs typeface="Calibri Light" panose="020F0302020204030204" pitchFamily="34" charset="0"/>
              </a:rPr>
              <a:t>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als</a:t>
            </a:r>
            <a:r>
              <a:rPr lang="fr-FR" sz="1200" dirty="0">
                <a:latin typeface="Calibri Light" panose="020F0302020204030204" pitchFamily="34" charset="0"/>
                <a:ea typeface="Calibri Light" panose="020F0302020204030204" pitchFamily="34" charset="0"/>
                <a:cs typeface="Calibri Light" panose="020F0302020204030204" pitchFamily="34" charset="0"/>
              </a:rPr>
              <a:t> </a:t>
            </a:r>
            <a:r>
              <a:rPr lang="fr-FR" sz="1200" b="1" dirty="0">
                <a:latin typeface="Calibri Light" panose="020F0302020204030204" pitchFamily="34" charset="0"/>
                <a:ea typeface="Calibri Light" panose="020F0302020204030204" pitchFamily="34" charset="0"/>
                <a:cs typeface="Calibri Light" panose="020F0302020204030204" pitchFamily="34" charset="0"/>
              </a:rPr>
              <a:t>Client</a:t>
            </a:r>
            <a:r>
              <a:rPr lang="fr-FR" sz="1200" dirty="0">
                <a:latin typeface="Calibri Light" panose="020F0302020204030204" pitchFamily="34" charset="0"/>
                <a:ea typeface="Calibri Light" panose="020F0302020204030204" pitchFamily="34" charset="0"/>
                <a:cs typeface="Calibri Light" panose="020F0302020204030204" pitchFamily="34" charset="0"/>
              </a:rPr>
              <a:t>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aufzurufen</a:t>
            </a:r>
            <a:r>
              <a:rPr lang="fr-FR" sz="1200" dirty="0">
                <a:latin typeface="Calibri Light" panose="020F0302020204030204" pitchFamily="34" charset="0"/>
                <a:ea typeface="Calibri Light" panose="020F0302020204030204" pitchFamily="34" charset="0"/>
                <a:cs typeface="Calibri Light" panose="020F0302020204030204" pitchFamily="34" charset="0"/>
              </a:rPr>
              <a:t> (Stub-</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Klassen</a:t>
            </a:r>
            <a:r>
              <a:rPr lang="fr-FR" sz="1200" dirty="0">
                <a:latin typeface="Calibri Light" panose="020F0302020204030204" pitchFamily="34" charset="0"/>
                <a:ea typeface="Calibri Light" panose="020F0302020204030204" pitchFamily="34" charset="0"/>
                <a:cs typeface="Calibri Light" panose="020F0302020204030204" pitchFamily="34" charset="0"/>
              </a:rPr>
              <a:t>),</a:t>
            </a:r>
          </a:p>
          <a:p>
            <a:r>
              <a:rPr lang="fr-FR" sz="1200" dirty="0">
                <a:latin typeface="Calibri Light" panose="020F0302020204030204" pitchFamily="34" charset="0"/>
                <a:ea typeface="Calibri Light" panose="020F0302020204030204" pitchFamily="34" charset="0"/>
                <a:cs typeface="Calibri Light" panose="020F0302020204030204" pitchFamily="34" charset="0"/>
              </a:rPr>
              <a:t>-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oder</a:t>
            </a:r>
            <a:r>
              <a:rPr lang="fr-FR" sz="1200" dirty="0">
                <a:latin typeface="Calibri Light" panose="020F0302020204030204" pitchFamily="34" charset="0"/>
                <a:ea typeface="Calibri Light" panose="020F0302020204030204" pitchFamily="34" charset="0"/>
                <a:cs typeface="Calibri Light" panose="020F0302020204030204" pitchFamily="34" charset="0"/>
              </a:rPr>
              <a:t> den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Dienst</a:t>
            </a:r>
            <a:r>
              <a:rPr lang="fr-FR" sz="1200" dirty="0">
                <a:latin typeface="Calibri Light" panose="020F0302020204030204" pitchFamily="34" charset="0"/>
                <a:ea typeface="Calibri Light" panose="020F0302020204030204" pitchFamily="34" charset="0"/>
                <a:cs typeface="Calibri Light" panose="020F0302020204030204" pitchFamily="34" charset="0"/>
              </a:rPr>
              <a:t>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auf</a:t>
            </a:r>
            <a:r>
              <a:rPr lang="fr-FR" sz="1200" dirty="0">
                <a:latin typeface="Calibri Light" panose="020F0302020204030204" pitchFamily="34" charset="0"/>
                <a:ea typeface="Calibri Light" panose="020F0302020204030204" pitchFamily="34" charset="0"/>
                <a:cs typeface="Calibri Light" panose="020F0302020204030204" pitchFamily="34" charset="0"/>
              </a:rPr>
              <a:t> der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Serverseite</a:t>
            </a:r>
            <a:r>
              <a:rPr lang="fr-FR" sz="1200" dirty="0">
                <a:latin typeface="Calibri Light" panose="020F0302020204030204" pitchFamily="34" charset="0"/>
                <a:ea typeface="Calibri Light" panose="020F0302020204030204" pitchFamily="34" charset="0"/>
                <a:cs typeface="Calibri Light" panose="020F0302020204030204" pitchFamily="34" charset="0"/>
              </a:rPr>
              <a:t>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bereitzustellen</a:t>
            </a:r>
            <a:r>
              <a:rPr lang="fr-FR" sz="1200" dirty="0">
                <a:latin typeface="Calibri Light" panose="020F0302020204030204" pitchFamily="34" charset="0"/>
                <a:ea typeface="Calibri Light" panose="020F0302020204030204" pitchFamily="34" charset="0"/>
                <a:cs typeface="Calibri Light" panose="020F0302020204030204" pitchFamily="34" charset="0"/>
              </a:rPr>
              <a:t> (Abstract-Base-</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Implementierung</a:t>
            </a:r>
            <a:r>
              <a:rPr lang="fr-FR" sz="1200" dirty="0">
                <a:latin typeface="Calibri Light" panose="020F0302020204030204" pitchFamily="34" charset="0"/>
                <a:ea typeface="Calibri Light" panose="020F0302020204030204" pitchFamily="34" charset="0"/>
                <a:cs typeface="Calibri Light" panose="020F0302020204030204" pitchFamily="34" charset="0"/>
              </a:rPr>
              <a:t>).</a:t>
            </a:r>
          </a:p>
          <a:p>
            <a:endParaRPr lang="fr-FR" sz="1200" dirty="0">
              <a:latin typeface="Calibri Light" panose="020F0302020204030204" pitchFamily="34" charset="0"/>
              <a:ea typeface="Calibri Light" panose="020F0302020204030204" pitchFamily="34" charset="0"/>
              <a:cs typeface="Calibri Light" panose="020F0302020204030204" pitchFamily="34" charset="0"/>
            </a:endParaRPr>
          </a:p>
          <a:p>
            <a:endParaRPr lang="fr-FR" dirty="0"/>
          </a:p>
        </p:txBody>
      </p:sp>
    </p:spTree>
    <p:extLst>
      <p:ext uri="{BB962C8B-B14F-4D97-AF65-F5344CB8AC3E}">
        <p14:creationId xmlns:p14="http://schemas.microsoft.com/office/powerpoint/2010/main" val="22567574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22">
          <a:extLst>
            <a:ext uri="{FF2B5EF4-FFF2-40B4-BE49-F238E27FC236}">
              <a16:creationId xmlns:a16="http://schemas.microsoft.com/office/drawing/2014/main" id="{69D371C1-6442-C054-16BA-45F2D107B29A}"/>
            </a:ext>
          </a:extLst>
        </p:cNvPr>
        <p:cNvGrpSpPr/>
        <p:nvPr/>
      </p:nvGrpSpPr>
      <p:grpSpPr>
        <a:xfrm>
          <a:off x="0" y="0"/>
          <a:ext cx="0" cy="0"/>
          <a:chOff x="0" y="0"/>
          <a:chExt cx="0" cy="0"/>
        </a:xfrm>
      </p:grpSpPr>
      <p:sp>
        <p:nvSpPr>
          <p:cNvPr id="2" name="Google Shape;523;p54">
            <a:extLst>
              <a:ext uri="{FF2B5EF4-FFF2-40B4-BE49-F238E27FC236}">
                <a16:creationId xmlns:a16="http://schemas.microsoft.com/office/drawing/2014/main" id="{BC553913-2B13-4626-F357-1A1AB44B2C1C}"/>
              </a:ext>
            </a:extLst>
          </p:cNvPr>
          <p:cNvSpPr txBox="1">
            <a:spLocks/>
          </p:cNvSpPr>
          <p:nvPr/>
        </p:nvSpPr>
        <p:spPr>
          <a:xfrm>
            <a:off x="668739" y="200684"/>
            <a:ext cx="8250072" cy="47641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1pPr>
            <a:lvl2pPr marR="0" lvl="1" algn="ctr"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2pPr>
            <a:lvl3pPr marR="0" lvl="2" algn="ctr"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3pPr>
            <a:lvl4pPr marR="0" lvl="3" algn="ctr"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4pPr>
            <a:lvl5pPr marR="0" lvl="4" algn="ctr"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5pPr>
            <a:lvl6pPr marR="0" lvl="5" algn="ctr"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6pPr>
            <a:lvl7pPr marR="0" lvl="6" algn="ctr"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7pPr>
            <a:lvl8pPr marR="0" lvl="7" algn="ctr"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8pPr>
            <a:lvl9pPr marR="0" lvl="8" algn="ctr"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9pPr>
          </a:lstStyle>
          <a:p>
            <a:r>
              <a:rPr lang="fr-FR" sz="1800" dirty="0" err="1"/>
              <a:t>Vorbereitung</a:t>
            </a:r>
            <a:r>
              <a:rPr lang="fr-FR" sz="1800" dirty="0"/>
              <a:t> der </a:t>
            </a:r>
            <a:r>
              <a:rPr lang="fr-FR" sz="1800" dirty="0" err="1"/>
              <a:t>Demo</a:t>
            </a:r>
            <a:endParaRPr lang="fr-FR" sz="1800" dirty="0"/>
          </a:p>
        </p:txBody>
      </p:sp>
      <p:sp>
        <p:nvSpPr>
          <p:cNvPr id="39" name="ZoneTexte 38">
            <a:extLst>
              <a:ext uri="{FF2B5EF4-FFF2-40B4-BE49-F238E27FC236}">
                <a16:creationId xmlns:a16="http://schemas.microsoft.com/office/drawing/2014/main" id="{8DF81132-68E6-A3BB-D792-F780674DCCDF}"/>
              </a:ext>
            </a:extLst>
          </p:cNvPr>
          <p:cNvSpPr txBox="1"/>
          <p:nvPr/>
        </p:nvSpPr>
        <p:spPr>
          <a:xfrm>
            <a:off x="668739" y="677094"/>
            <a:ext cx="7806522" cy="4001095"/>
          </a:xfrm>
          <a:prstGeom prst="rect">
            <a:avLst/>
          </a:prstGeom>
          <a:noFill/>
        </p:spPr>
        <p:txBody>
          <a:bodyPr wrap="square" rtlCol="0">
            <a:spAutoFit/>
          </a:bodyPr>
          <a:lstStyle/>
          <a:p>
            <a:r>
              <a:rPr lang="de-DE" sz="1200" dirty="0">
                <a:latin typeface="Calibri Light" panose="020F0302020204030204" pitchFamily="34" charset="0"/>
                <a:ea typeface="Calibri Light" panose="020F0302020204030204" pitchFamily="34" charset="0"/>
                <a:cs typeface="Calibri Light" panose="020F0302020204030204" pitchFamily="34" charset="0"/>
              </a:rPr>
              <a:t>Wir möchten eine </a:t>
            </a:r>
            <a:r>
              <a:rPr lang="de-DE" sz="1200" b="1" dirty="0">
                <a:latin typeface="Calibri Light" panose="020F0302020204030204" pitchFamily="34" charset="0"/>
                <a:ea typeface="Calibri Light" panose="020F0302020204030204" pitchFamily="34" charset="0"/>
                <a:cs typeface="Calibri Light" panose="020F0302020204030204" pitchFamily="34" charset="0"/>
              </a:rPr>
              <a:t>Client-Server-Anwendung</a:t>
            </a:r>
            <a:r>
              <a:rPr lang="de-DE" sz="1200" dirty="0">
                <a:latin typeface="Calibri Light" panose="020F0302020204030204" pitchFamily="34" charset="0"/>
                <a:ea typeface="Calibri Light" panose="020F0302020204030204" pitchFamily="34" charset="0"/>
                <a:cs typeface="Calibri Light" panose="020F0302020204030204" pitchFamily="34" charset="0"/>
              </a:rPr>
              <a:t> auf Basis von </a:t>
            </a:r>
            <a:r>
              <a:rPr lang="de-DE" sz="1200" b="1" dirty="0">
                <a:latin typeface="Calibri Light" panose="020F0302020204030204" pitchFamily="34" charset="0"/>
                <a:ea typeface="Calibri Light" panose="020F0302020204030204" pitchFamily="34" charset="0"/>
                <a:cs typeface="Calibri Light" panose="020F0302020204030204" pitchFamily="34" charset="0"/>
              </a:rPr>
              <a:t>gRPC und </a:t>
            </a:r>
            <a:r>
              <a:rPr lang="de-DE" sz="1200" b="1" dirty="0" err="1">
                <a:latin typeface="Calibri Light" panose="020F0302020204030204" pitchFamily="34" charset="0"/>
                <a:ea typeface="Calibri Light" panose="020F0302020204030204" pitchFamily="34" charset="0"/>
                <a:cs typeface="Calibri Light" panose="020F0302020204030204" pitchFamily="34" charset="0"/>
              </a:rPr>
              <a:t>GraphQL</a:t>
            </a:r>
            <a:r>
              <a:rPr lang="de-DE" sz="1200" dirty="0">
                <a:latin typeface="Calibri Light" panose="020F0302020204030204" pitchFamily="34" charset="0"/>
                <a:ea typeface="Calibri Light" panose="020F0302020204030204" pitchFamily="34" charset="0"/>
                <a:cs typeface="Calibri Light" panose="020F0302020204030204" pitchFamily="34" charset="0"/>
              </a:rPr>
              <a:t> erstellen, die einen Dienst bereitstellt, mit dem man Bankkonten abfragen kann.</a:t>
            </a:r>
            <a:br>
              <a:rPr lang="de-DE" sz="1200" dirty="0">
                <a:latin typeface="Calibri Light" panose="020F0302020204030204" pitchFamily="34" charset="0"/>
                <a:ea typeface="Calibri Light" panose="020F0302020204030204" pitchFamily="34" charset="0"/>
                <a:cs typeface="Calibri Light" panose="020F0302020204030204" pitchFamily="34" charset="0"/>
              </a:rPr>
            </a:br>
            <a:endParaRPr lang="de-DE" sz="1200" dirty="0">
              <a:latin typeface="Calibri Light" panose="020F0302020204030204" pitchFamily="34" charset="0"/>
              <a:ea typeface="Calibri Light" panose="020F0302020204030204" pitchFamily="34" charset="0"/>
              <a:cs typeface="Calibri Light" panose="020F0302020204030204" pitchFamily="34" charset="0"/>
            </a:endParaRPr>
          </a:p>
          <a:p>
            <a:r>
              <a:rPr lang="de-DE" sz="1200" dirty="0">
                <a:latin typeface="Calibri Light" panose="020F0302020204030204" pitchFamily="34" charset="0"/>
                <a:ea typeface="Calibri Light" panose="020F0302020204030204" pitchFamily="34" charset="0"/>
                <a:cs typeface="Calibri Light" panose="020F0302020204030204" pitchFamily="34" charset="0"/>
              </a:rPr>
              <a:t>Der Dienst bietet folgende Funktionalitäten:</a:t>
            </a:r>
          </a:p>
          <a:p>
            <a:r>
              <a:rPr lang="de-DE" sz="1200" dirty="0">
                <a:latin typeface="Calibri Light" panose="020F0302020204030204" pitchFamily="34" charset="0"/>
                <a:ea typeface="Calibri Light" panose="020F0302020204030204" pitchFamily="34" charset="0"/>
                <a:cs typeface="Calibri Light" panose="020F0302020204030204" pitchFamily="34" charset="0"/>
              </a:rPr>
              <a:t>Eine Währung von einer Devise in eine andere umrechnen</a:t>
            </a:r>
          </a:p>
          <a:p>
            <a:r>
              <a:rPr lang="de-DE" sz="1200" dirty="0">
                <a:latin typeface="Calibri Light" panose="020F0302020204030204" pitchFamily="34" charset="0"/>
                <a:ea typeface="Calibri Light" panose="020F0302020204030204" pitchFamily="34" charset="0"/>
                <a:cs typeface="Calibri Light" panose="020F0302020204030204" pitchFamily="34" charset="0"/>
              </a:rPr>
              <a:t>Ein Konto anhand seiner ID abrufen(</a:t>
            </a:r>
            <a:r>
              <a:rPr lang="de-DE" sz="1200" dirty="0" err="1">
                <a:latin typeface="Calibri Light" panose="020F0302020204030204" pitchFamily="34" charset="0"/>
                <a:ea typeface="Calibri Light" panose="020F0302020204030204" pitchFamily="34" charset="0"/>
                <a:cs typeface="Calibri Light" panose="020F0302020204030204" pitchFamily="34" charset="0"/>
              </a:rPr>
              <a:t>Unary</a:t>
            </a:r>
            <a:r>
              <a:rPr lang="de-DE" sz="1200" dirty="0">
                <a:latin typeface="Calibri Light" panose="020F0302020204030204" pitchFamily="34" charset="0"/>
                <a:ea typeface="Calibri Light" panose="020F0302020204030204" pitchFamily="34" charset="0"/>
                <a:cs typeface="Calibri Light" panose="020F0302020204030204" pitchFamily="34" charset="0"/>
              </a:rPr>
              <a:t> </a:t>
            </a:r>
            <a:r>
              <a:rPr lang="de-DE" sz="1200" dirty="0" err="1">
                <a:latin typeface="Calibri Light" panose="020F0302020204030204" pitchFamily="34" charset="0"/>
                <a:ea typeface="Calibri Light" panose="020F0302020204030204" pitchFamily="34" charset="0"/>
                <a:cs typeface="Calibri Light" panose="020F0302020204030204" pitchFamily="34" charset="0"/>
              </a:rPr>
              <a:t>model</a:t>
            </a:r>
            <a:r>
              <a:rPr lang="de-DE" sz="1200" dirty="0">
                <a:latin typeface="Calibri Light" panose="020F0302020204030204" pitchFamily="34" charset="0"/>
                <a:ea typeface="Calibri Light" panose="020F0302020204030204" pitchFamily="34" charset="0"/>
                <a:cs typeface="Calibri Light" panose="020F0302020204030204" pitchFamily="34" charset="0"/>
              </a:rPr>
              <a:t> für </a:t>
            </a:r>
            <a:r>
              <a:rPr lang="de-DE" sz="1200" dirty="0" err="1">
                <a:latin typeface="Calibri Light" panose="020F0302020204030204" pitchFamily="34" charset="0"/>
                <a:ea typeface="Calibri Light" panose="020F0302020204030204" pitchFamily="34" charset="0"/>
                <a:cs typeface="Calibri Light" panose="020F0302020204030204" pitchFamily="34" charset="0"/>
              </a:rPr>
              <a:t>grpc</a:t>
            </a:r>
            <a:r>
              <a:rPr lang="de-DE" sz="1200" dirty="0">
                <a:latin typeface="Calibri Light" panose="020F0302020204030204" pitchFamily="34" charset="0"/>
                <a:ea typeface="Calibri Light" panose="020F0302020204030204" pitchFamily="34" charset="0"/>
                <a:cs typeface="Calibri Light" panose="020F0302020204030204" pitchFamily="34" charset="0"/>
              </a:rPr>
              <a:t>)</a:t>
            </a:r>
          </a:p>
          <a:p>
            <a:r>
              <a:rPr lang="de-DE" sz="1200" dirty="0">
                <a:latin typeface="Calibri Light" panose="020F0302020204030204" pitchFamily="34" charset="0"/>
                <a:ea typeface="Calibri Light" panose="020F0302020204030204" pitchFamily="34" charset="0"/>
                <a:cs typeface="Calibri Light" panose="020F0302020204030204" pitchFamily="34" charset="0"/>
              </a:rPr>
              <a:t>Eine Liste von Konten abrufen </a:t>
            </a:r>
          </a:p>
          <a:p>
            <a:r>
              <a:rPr lang="de-DE" sz="1200" dirty="0">
                <a:latin typeface="Calibri Light" panose="020F0302020204030204" pitchFamily="34" charset="0"/>
                <a:ea typeface="Calibri Light" panose="020F0302020204030204" pitchFamily="34" charset="0"/>
                <a:cs typeface="Calibri Light" panose="020F0302020204030204" pitchFamily="34" charset="0"/>
              </a:rPr>
              <a:t>Einen Transaktionsfluss abrufen (</a:t>
            </a:r>
            <a:r>
              <a:rPr lang="de-DE" sz="1200" dirty="0" err="1">
                <a:latin typeface="Calibri Light" panose="020F0302020204030204" pitchFamily="34" charset="0"/>
                <a:ea typeface="Calibri Light" panose="020F0302020204030204" pitchFamily="34" charset="0"/>
                <a:cs typeface="Calibri Light" panose="020F0302020204030204" pitchFamily="34" charset="0"/>
              </a:rPr>
              <a:t>Serveur</a:t>
            </a:r>
            <a:r>
              <a:rPr lang="de-DE" sz="1200" dirty="0">
                <a:latin typeface="Calibri Light" panose="020F0302020204030204" pitchFamily="34" charset="0"/>
                <a:ea typeface="Calibri Light" panose="020F0302020204030204" pitchFamily="34" charset="0"/>
                <a:cs typeface="Calibri Light" panose="020F0302020204030204" pitchFamily="34" charset="0"/>
              </a:rPr>
              <a:t> </a:t>
            </a:r>
            <a:r>
              <a:rPr lang="de-DE" sz="1200" dirty="0" err="1">
                <a:latin typeface="Calibri Light" panose="020F0302020204030204" pitchFamily="34" charset="0"/>
                <a:ea typeface="Calibri Light" panose="020F0302020204030204" pitchFamily="34" charset="0"/>
                <a:cs typeface="Calibri Light" panose="020F0302020204030204" pitchFamily="34" charset="0"/>
              </a:rPr>
              <a:t>streaming</a:t>
            </a:r>
            <a:r>
              <a:rPr lang="de-DE" sz="1200" dirty="0">
                <a:latin typeface="Calibri Light" panose="020F0302020204030204" pitchFamily="34" charset="0"/>
                <a:ea typeface="Calibri Light" panose="020F0302020204030204" pitchFamily="34" charset="0"/>
                <a:cs typeface="Calibri Light" panose="020F0302020204030204" pitchFamily="34" charset="0"/>
              </a:rPr>
              <a:t> für </a:t>
            </a:r>
            <a:r>
              <a:rPr lang="de-DE" sz="1200" dirty="0" err="1">
                <a:latin typeface="Calibri Light" panose="020F0302020204030204" pitchFamily="34" charset="0"/>
                <a:ea typeface="Calibri Light" panose="020F0302020204030204" pitchFamily="34" charset="0"/>
                <a:cs typeface="Calibri Light" panose="020F0302020204030204" pitchFamily="34" charset="0"/>
              </a:rPr>
              <a:t>grpc</a:t>
            </a:r>
            <a:r>
              <a:rPr lang="de-DE" sz="1200" dirty="0">
                <a:latin typeface="Calibri Light" panose="020F0302020204030204" pitchFamily="34" charset="0"/>
                <a:ea typeface="Calibri Light" panose="020F0302020204030204" pitchFamily="34" charset="0"/>
                <a:cs typeface="Calibri Light" panose="020F0302020204030204" pitchFamily="34" charset="0"/>
              </a:rPr>
              <a:t>)</a:t>
            </a:r>
          </a:p>
          <a:p>
            <a:r>
              <a:rPr lang="de-DE" sz="1200" dirty="0">
                <a:latin typeface="Calibri Light" panose="020F0302020204030204" pitchFamily="34" charset="0"/>
                <a:ea typeface="Calibri Light" panose="020F0302020204030204" pitchFamily="34" charset="0"/>
                <a:cs typeface="Calibri Light" panose="020F0302020204030204" pitchFamily="34" charset="0"/>
              </a:rPr>
              <a:t>Einen Transaktionsfluss senden (Client </a:t>
            </a:r>
            <a:r>
              <a:rPr lang="de-DE" sz="1200" dirty="0" err="1">
                <a:latin typeface="Calibri Light" panose="020F0302020204030204" pitchFamily="34" charset="0"/>
                <a:ea typeface="Calibri Light" panose="020F0302020204030204" pitchFamily="34" charset="0"/>
                <a:cs typeface="Calibri Light" panose="020F0302020204030204" pitchFamily="34" charset="0"/>
              </a:rPr>
              <a:t>streaming</a:t>
            </a:r>
            <a:r>
              <a:rPr lang="de-DE" sz="1200" dirty="0">
                <a:latin typeface="Calibri Light" panose="020F0302020204030204" pitchFamily="34" charset="0"/>
                <a:ea typeface="Calibri Light" panose="020F0302020204030204" pitchFamily="34" charset="0"/>
                <a:cs typeface="Calibri Light" panose="020F0302020204030204" pitchFamily="34" charset="0"/>
              </a:rPr>
              <a:t> für </a:t>
            </a:r>
            <a:r>
              <a:rPr lang="de-DE" sz="1200" dirty="0" err="1">
                <a:latin typeface="Calibri Light" panose="020F0302020204030204" pitchFamily="34" charset="0"/>
                <a:ea typeface="Calibri Light" panose="020F0302020204030204" pitchFamily="34" charset="0"/>
                <a:cs typeface="Calibri Light" panose="020F0302020204030204" pitchFamily="34" charset="0"/>
              </a:rPr>
              <a:t>grpc</a:t>
            </a:r>
            <a:r>
              <a:rPr lang="de-DE" sz="1200" dirty="0">
                <a:latin typeface="Calibri Light" panose="020F0302020204030204" pitchFamily="34" charset="0"/>
                <a:ea typeface="Calibri Light" panose="020F0302020204030204" pitchFamily="34" charset="0"/>
                <a:cs typeface="Calibri Light" panose="020F0302020204030204" pitchFamily="34" charset="0"/>
              </a:rPr>
              <a:t>)</a:t>
            </a:r>
          </a:p>
          <a:p>
            <a:r>
              <a:rPr lang="de-DE" sz="1200" dirty="0">
                <a:latin typeface="Calibri Light" panose="020F0302020204030204" pitchFamily="34" charset="0"/>
                <a:ea typeface="Calibri Light" panose="020F0302020204030204" pitchFamily="34" charset="0"/>
                <a:cs typeface="Calibri Light" panose="020F0302020204030204" pitchFamily="34" charset="0"/>
              </a:rPr>
              <a:t>Einen Transaktionsfluss ausführen (</a:t>
            </a:r>
            <a:r>
              <a:rPr lang="de-DE" sz="1200" dirty="0" err="1">
                <a:latin typeface="Calibri Light" panose="020F0302020204030204" pitchFamily="34" charset="0"/>
                <a:ea typeface="Calibri Light" panose="020F0302020204030204" pitchFamily="34" charset="0"/>
                <a:cs typeface="Calibri Light" panose="020F0302020204030204" pitchFamily="34" charset="0"/>
              </a:rPr>
              <a:t>bidirectional</a:t>
            </a:r>
            <a:r>
              <a:rPr lang="de-DE" sz="1200" dirty="0">
                <a:latin typeface="Calibri Light" panose="020F0302020204030204" pitchFamily="34" charset="0"/>
                <a:ea typeface="Calibri Light" panose="020F0302020204030204" pitchFamily="34" charset="0"/>
                <a:cs typeface="Calibri Light" panose="020F0302020204030204" pitchFamily="34" charset="0"/>
              </a:rPr>
              <a:t>)</a:t>
            </a:r>
          </a:p>
          <a:p>
            <a:br>
              <a:rPr lang="de-DE" sz="1200" dirty="0">
                <a:latin typeface="Calibri Light" panose="020F0302020204030204" pitchFamily="34" charset="0"/>
                <a:ea typeface="Calibri Light" panose="020F0302020204030204" pitchFamily="34" charset="0"/>
                <a:cs typeface="Calibri Light" panose="020F0302020204030204" pitchFamily="34" charset="0"/>
              </a:rPr>
            </a:br>
            <a:endParaRPr lang="de-DE" sz="1200" dirty="0">
              <a:latin typeface="Calibri Light" panose="020F0302020204030204" pitchFamily="34" charset="0"/>
              <a:ea typeface="Calibri Light" panose="020F0302020204030204" pitchFamily="34" charset="0"/>
              <a:cs typeface="Calibri Light" panose="020F0302020204030204" pitchFamily="34" charset="0"/>
            </a:endParaRPr>
          </a:p>
          <a:p>
            <a:r>
              <a:rPr lang="de-DE" sz="1200" dirty="0">
                <a:latin typeface="Calibri Light" panose="020F0302020204030204" pitchFamily="34" charset="0"/>
                <a:ea typeface="Calibri Light" panose="020F0302020204030204" pitchFamily="34" charset="0"/>
                <a:cs typeface="Calibri Light" panose="020F0302020204030204" pitchFamily="34" charset="0"/>
              </a:rPr>
              <a:t>Ein </a:t>
            </a:r>
            <a:r>
              <a:rPr lang="de-DE" sz="1200" b="1" dirty="0">
                <a:latin typeface="Calibri Light" panose="020F0302020204030204" pitchFamily="34" charset="0"/>
                <a:ea typeface="Calibri Light" panose="020F0302020204030204" pitchFamily="34" charset="0"/>
                <a:cs typeface="Calibri Light" panose="020F0302020204030204" pitchFamily="34" charset="0"/>
              </a:rPr>
              <a:t>Konto</a:t>
            </a:r>
            <a:r>
              <a:rPr lang="de-DE" sz="1200" dirty="0">
                <a:latin typeface="Calibri Light" panose="020F0302020204030204" pitchFamily="34" charset="0"/>
                <a:ea typeface="Calibri Light" panose="020F0302020204030204" pitchFamily="34" charset="0"/>
                <a:cs typeface="Calibri Light" panose="020F0302020204030204" pitchFamily="34" charset="0"/>
              </a:rPr>
              <a:t> ist definiert durch:</a:t>
            </a:r>
            <a:br>
              <a:rPr lang="de-DE" sz="1200" dirty="0">
                <a:latin typeface="Calibri Light" panose="020F0302020204030204" pitchFamily="34" charset="0"/>
                <a:ea typeface="Calibri Light" panose="020F0302020204030204" pitchFamily="34" charset="0"/>
                <a:cs typeface="Calibri Light" panose="020F0302020204030204" pitchFamily="34" charset="0"/>
              </a:rPr>
            </a:br>
            <a:r>
              <a:rPr lang="de-DE" sz="1200" dirty="0">
                <a:latin typeface="Calibri Light" panose="020F0302020204030204" pitchFamily="34" charset="0"/>
                <a:ea typeface="Calibri Light" panose="020F0302020204030204" pitchFamily="34" charset="0"/>
                <a:cs typeface="Calibri Light" panose="020F0302020204030204" pitchFamily="34" charset="0"/>
              </a:rPr>
              <a:t>seine </a:t>
            </a:r>
            <a:r>
              <a:rPr lang="de-DE" sz="1200" b="1" dirty="0">
                <a:latin typeface="Calibri Light" panose="020F0302020204030204" pitchFamily="34" charset="0"/>
                <a:ea typeface="Calibri Light" panose="020F0302020204030204" pitchFamily="34" charset="0"/>
                <a:cs typeface="Calibri Light" panose="020F0302020204030204" pitchFamily="34" charset="0"/>
              </a:rPr>
              <a:t>ID</a:t>
            </a:r>
            <a:r>
              <a:rPr lang="de-DE" sz="1200" dirty="0">
                <a:latin typeface="Calibri Light" panose="020F0302020204030204" pitchFamily="34" charset="0"/>
                <a:ea typeface="Calibri Light" panose="020F0302020204030204" pitchFamily="34" charset="0"/>
                <a:cs typeface="Calibri Light" panose="020F0302020204030204" pitchFamily="34" charset="0"/>
              </a:rPr>
              <a:t>, sein </a:t>
            </a:r>
            <a:r>
              <a:rPr lang="de-DE" sz="1200" b="1" dirty="0">
                <a:latin typeface="Calibri Light" panose="020F0302020204030204" pitchFamily="34" charset="0"/>
                <a:ea typeface="Calibri Light" panose="020F0302020204030204" pitchFamily="34" charset="0"/>
                <a:cs typeface="Calibri Light" panose="020F0302020204030204" pitchFamily="34" charset="0"/>
              </a:rPr>
              <a:t>Erstellungsdatum</a:t>
            </a:r>
            <a:r>
              <a:rPr lang="de-DE" sz="1200" dirty="0">
                <a:latin typeface="Calibri Light" panose="020F0302020204030204" pitchFamily="34" charset="0"/>
                <a:ea typeface="Calibri Light" panose="020F0302020204030204" pitchFamily="34" charset="0"/>
                <a:cs typeface="Calibri Light" panose="020F0302020204030204" pitchFamily="34" charset="0"/>
              </a:rPr>
              <a:t>, sein </a:t>
            </a:r>
            <a:r>
              <a:rPr lang="de-DE" sz="1200" b="1" dirty="0">
                <a:latin typeface="Calibri Light" panose="020F0302020204030204" pitchFamily="34" charset="0"/>
                <a:ea typeface="Calibri Light" panose="020F0302020204030204" pitchFamily="34" charset="0"/>
                <a:cs typeface="Calibri Light" panose="020F0302020204030204" pitchFamily="34" charset="0"/>
              </a:rPr>
              <a:t>Kontostand</a:t>
            </a:r>
            <a:r>
              <a:rPr lang="de-DE" sz="1200" dirty="0">
                <a:latin typeface="Calibri Light" panose="020F0302020204030204" pitchFamily="34" charset="0"/>
                <a:ea typeface="Calibri Light" panose="020F0302020204030204" pitchFamily="34" charset="0"/>
                <a:cs typeface="Calibri Light" panose="020F0302020204030204" pitchFamily="34" charset="0"/>
              </a:rPr>
              <a:t>, seine </a:t>
            </a:r>
            <a:r>
              <a:rPr lang="de-DE" sz="1200" b="1" dirty="0">
                <a:latin typeface="Calibri Light" panose="020F0302020204030204" pitchFamily="34" charset="0"/>
                <a:ea typeface="Calibri Light" panose="020F0302020204030204" pitchFamily="34" charset="0"/>
                <a:cs typeface="Calibri Light" panose="020F0302020204030204" pitchFamily="34" charset="0"/>
              </a:rPr>
              <a:t>Währung</a:t>
            </a:r>
            <a:r>
              <a:rPr lang="de-DE" sz="1200" dirty="0">
                <a:latin typeface="Calibri Light" panose="020F0302020204030204" pitchFamily="34" charset="0"/>
                <a:ea typeface="Calibri Light" panose="020F0302020204030204" pitchFamily="34" charset="0"/>
                <a:cs typeface="Calibri Light" panose="020F0302020204030204" pitchFamily="34" charset="0"/>
              </a:rPr>
              <a:t>, seinen </a:t>
            </a:r>
            <a:r>
              <a:rPr lang="de-DE" sz="1200" b="1" dirty="0">
                <a:latin typeface="Calibri Light" panose="020F0302020204030204" pitchFamily="34" charset="0"/>
                <a:ea typeface="Calibri Light" panose="020F0302020204030204" pitchFamily="34" charset="0"/>
                <a:cs typeface="Calibri Light" panose="020F0302020204030204" pitchFamily="34" charset="0"/>
              </a:rPr>
              <a:t>Typ</a:t>
            </a:r>
            <a:r>
              <a:rPr lang="de-DE" sz="1200" dirty="0">
                <a:latin typeface="Calibri Light" panose="020F0302020204030204" pitchFamily="34" charset="0"/>
                <a:ea typeface="Calibri Light" panose="020F0302020204030204" pitchFamily="34" charset="0"/>
                <a:cs typeface="Calibri Light" panose="020F0302020204030204" pitchFamily="34" charset="0"/>
              </a:rPr>
              <a:t> (</a:t>
            </a:r>
            <a:r>
              <a:rPr lang="de-DE" sz="1200" i="1" dirty="0">
                <a:latin typeface="Calibri Light" panose="020F0302020204030204" pitchFamily="34" charset="0"/>
                <a:ea typeface="Calibri Light" panose="020F0302020204030204" pitchFamily="34" charset="0"/>
                <a:cs typeface="Calibri Light" panose="020F0302020204030204" pitchFamily="34" charset="0"/>
              </a:rPr>
              <a:t>Girokonto</a:t>
            </a:r>
            <a:r>
              <a:rPr lang="de-DE" sz="1200" dirty="0">
                <a:latin typeface="Calibri Light" panose="020F0302020204030204" pitchFamily="34" charset="0"/>
                <a:ea typeface="Calibri Light" panose="020F0302020204030204" pitchFamily="34" charset="0"/>
                <a:cs typeface="Calibri Light" panose="020F0302020204030204" pitchFamily="34" charset="0"/>
              </a:rPr>
              <a:t>, </a:t>
            </a:r>
            <a:r>
              <a:rPr lang="de-DE" sz="1200" i="1" dirty="0">
                <a:latin typeface="Calibri Light" panose="020F0302020204030204" pitchFamily="34" charset="0"/>
                <a:ea typeface="Calibri Light" panose="020F0302020204030204" pitchFamily="34" charset="0"/>
                <a:cs typeface="Calibri Light" panose="020F0302020204030204" pitchFamily="34" charset="0"/>
              </a:rPr>
              <a:t>Sparkonto</a:t>
            </a:r>
            <a:r>
              <a:rPr lang="de-DE" sz="1200" dirty="0">
                <a:latin typeface="Calibri Light" panose="020F0302020204030204" pitchFamily="34" charset="0"/>
                <a:ea typeface="Calibri Light" panose="020F0302020204030204" pitchFamily="34" charset="0"/>
                <a:cs typeface="Calibri Light" panose="020F0302020204030204" pitchFamily="34" charset="0"/>
              </a:rPr>
              <a:t>) und seinen </a:t>
            </a:r>
            <a:r>
              <a:rPr lang="de-DE" sz="1200" b="1" dirty="0">
                <a:latin typeface="Calibri Light" panose="020F0302020204030204" pitchFamily="34" charset="0"/>
                <a:ea typeface="Calibri Light" panose="020F0302020204030204" pitchFamily="34" charset="0"/>
                <a:cs typeface="Calibri Light" panose="020F0302020204030204" pitchFamily="34" charset="0"/>
              </a:rPr>
              <a:t>Status</a:t>
            </a:r>
            <a:r>
              <a:rPr lang="de-DE" sz="1200" dirty="0">
                <a:latin typeface="Calibri Light" panose="020F0302020204030204" pitchFamily="34" charset="0"/>
                <a:ea typeface="Calibri Light" panose="020F0302020204030204" pitchFamily="34" charset="0"/>
                <a:cs typeface="Calibri Light" panose="020F0302020204030204" pitchFamily="34" charset="0"/>
              </a:rPr>
              <a:t> (</a:t>
            </a:r>
            <a:r>
              <a:rPr lang="de-DE" sz="1200" i="1" dirty="0">
                <a:latin typeface="Calibri Light" panose="020F0302020204030204" pitchFamily="34" charset="0"/>
                <a:ea typeface="Calibri Light" panose="020F0302020204030204" pitchFamily="34" charset="0"/>
                <a:cs typeface="Calibri Light" panose="020F0302020204030204" pitchFamily="34" charset="0"/>
              </a:rPr>
              <a:t>aktiviert</a:t>
            </a:r>
            <a:r>
              <a:rPr lang="de-DE" sz="1200" dirty="0">
                <a:latin typeface="Calibri Light" panose="020F0302020204030204" pitchFamily="34" charset="0"/>
                <a:ea typeface="Calibri Light" panose="020F0302020204030204" pitchFamily="34" charset="0"/>
                <a:cs typeface="Calibri Light" panose="020F0302020204030204" pitchFamily="34" charset="0"/>
              </a:rPr>
              <a:t>, </a:t>
            </a:r>
            <a:r>
              <a:rPr lang="de-DE" sz="1200" i="1" dirty="0">
                <a:latin typeface="Calibri Light" panose="020F0302020204030204" pitchFamily="34" charset="0"/>
                <a:ea typeface="Calibri Light" panose="020F0302020204030204" pitchFamily="34" charset="0"/>
                <a:cs typeface="Calibri Light" panose="020F0302020204030204" pitchFamily="34" charset="0"/>
              </a:rPr>
              <a:t>suspendiert</a:t>
            </a:r>
            <a:r>
              <a:rPr lang="de-DE" sz="1200" dirty="0">
                <a:latin typeface="Calibri Light" panose="020F0302020204030204" pitchFamily="34" charset="0"/>
                <a:ea typeface="Calibri Light" panose="020F0302020204030204" pitchFamily="34" charset="0"/>
                <a:cs typeface="Calibri Light" panose="020F0302020204030204" pitchFamily="34" charset="0"/>
              </a:rPr>
              <a:t>, </a:t>
            </a:r>
            <a:r>
              <a:rPr lang="de-DE" sz="1200" i="1" dirty="0">
                <a:latin typeface="Calibri Light" panose="020F0302020204030204" pitchFamily="34" charset="0"/>
                <a:ea typeface="Calibri Light" panose="020F0302020204030204" pitchFamily="34" charset="0"/>
                <a:cs typeface="Calibri Light" panose="020F0302020204030204" pitchFamily="34" charset="0"/>
              </a:rPr>
              <a:t>ausstehend</a:t>
            </a:r>
            <a:r>
              <a:rPr lang="de-DE" sz="1200" dirty="0">
                <a:latin typeface="Calibri Light" panose="020F0302020204030204" pitchFamily="34" charset="0"/>
                <a:ea typeface="Calibri Light" panose="020F0302020204030204" pitchFamily="34" charset="0"/>
                <a:cs typeface="Calibri Light" panose="020F0302020204030204" pitchFamily="34" charset="0"/>
              </a:rPr>
              <a:t>, </a:t>
            </a:r>
            <a:r>
              <a:rPr lang="de-DE" sz="1200" i="1" dirty="0">
                <a:latin typeface="Calibri Light" panose="020F0302020204030204" pitchFamily="34" charset="0"/>
                <a:ea typeface="Calibri Light" panose="020F0302020204030204" pitchFamily="34" charset="0"/>
                <a:cs typeface="Calibri Light" panose="020F0302020204030204" pitchFamily="34" charset="0"/>
              </a:rPr>
              <a:t>geschlossen</a:t>
            </a:r>
            <a:r>
              <a:rPr lang="de-DE" sz="1200" dirty="0">
                <a:latin typeface="Calibri Light" panose="020F0302020204030204" pitchFamily="34" charset="0"/>
                <a:ea typeface="Calibri Light" panose="020F0302020204030204" pitchFamily="34" charset="0"/>
                <a:cs typeface="Calibri Light" panose="020F0302020204030204" pitchFamily="34" charset="0"/>
              </a:rPr>
              <a:t>).</a:t>
            </a:r>
            <a:br>
              <a:rPr lang="de-DE" sz="1200" dirty="0">
                <a:latin typeface="Calibri Light" panose="020F0302020204030204" pitchFamily="34" charset="0"/>
                <a:ea typeface="Calibri Light" panose="020F0302020204030204" pitchFamily="34" charset="0"/>
                <a:cs typeface="Calibri Light" panose="020F0302020204030204" pitchFamily="34" charset="0"/>
              </a:rPr>
            </a:br>
            <a:endParaRPr lang="de-DE" sz="1200" dirty="0">
              <a:latin typeface="Calibri Light" panose="020F0302020204030204" pitchFamily="34" charset="0"/>
              <a:ea typeface="Calibri Light" panose="020F0302020204030204" pitchFamily="34" charset="0"/>
              <a:cs typeface="Calibri Light" panose="020F0302020204030204" pitchFamily="34" charset="0"/>
            </a:endParaRPr>
          </a:p>
          <a:p>
            <a:r>
              <a:rPr lang="de-DE" sz="1200" dirty="0">
                <a:latin typeface="Calibri Light" panose="020F0302020204030204" pitchFamily="34" charset="0"/>
                <a:ea typeface="Calibri Light" panose="020F0302020204030204" pitchFamily="34" charset="0"/>
                <a:cs typeface="Calibri Light" panose="020F0302020204030204" pitchFamily="34" charset="0"/>
              </a:rPr>
              <a:t>Eine </a:t>
            </a:r>
            <a:r>
              <a:rPr lang="de-DE" sz="1200" b="1" dirty="0">
                <a:latin typeface="Calibri Light" panose="020F0302020204030204" pitchFamily="34" charset="0"/>
                <a:ea typeface="Calibri Light" panose="020F0302020204030204" pitchFamily="34" charset="0"/>
                <a:cs typeface="Calibri Light" panose="020F0302020204030204" pitchFamily="34" charset="0"/>
              </a:rPr>
              <a:t>Transaktion</a:t>
            </a:r>
            <a:r>
              <a:rPr lang="de-DE" sz="1200" dirty="0">
                <a:latin typeface="Calibri Light" panose="020F0302020204030204" pitchFamily="34" charset="0"/>
                <a:ea typeface="Calibri Light" panose="020F0302020204030204" pitchFamily="34" charset="0"/>
                <a:cs typeface="Calibri Light" panose="020F0302020204030204" pitchFamily="34" charset="0"/>
              </a:rPr>
              <a:t> ist definiert durch:</a:t>
            </a:r>
            <a:br>
              <a:rPr lang="de-DE" sz="1200" dirty="0">
                <a:latin typeface="Calibri Light" panose="020F0302020204030204" pitchFamily="34" charset="0"/>
                <a:ea typeface="Calibri Light" panose="020F0302020204030204" pitchFamily="34" charset="0"/>
                <a:cs typeface="Calibri Light" panose="020F0302020204030204" pitchFamily="34" charset="0"/>
              </a:rPr>
            </a:br>
            <a:r>
              <a:rPr lang="de-DE" sz="1200" dirty="0">
                <a:latin typeface="Calibri Light" panose="020F0302020204030204" pitchFamily="34" charset="0"/>
                <a:ea typeface="Calibri Light" panose="020F0302020204030204" pitchFamily="34" charset="0"/>
                <a:cs typeface="Calibri Light" panose="020F0302020204030204" pitchFamily="34" charset="0"/>
              </a:rPr>
              <a:t>ihre </a:t>
            </a:r>
            <a:r>
              <a:rPr lang="de-DE" sz="1200" b="1" dirty="0">
                <a:latin typeface="Calibri Light" panose="020F0302020204030204" pitchFamily="34" charset="0"/>
                <a:ea typeface="Calibri Light" panose="020F0302020204030204" pitchFamily="34" charset="0"/>
                <a:cs typeface="Calibri Light" panose="020F0302020204030204" pitchFamily="34" charset="0"/>
              </a:rPr>
              <a:t>ID</a:t>
            </a:r>
            <a:r>
              <a:rPr lang="de-DE" sz="1200" dirty="0">
                <a:latin typeface="Calibri Light" panose="020F0302020204030204" pitchFamily="34" charset="0"/>
                <a:ea typeface="Calibri Light" panose="020F0302020204030204" pitchFamily="34" charset="0"/>
                <a:cs typeface="Calibri Light" panose="020F0302020204030204" pitchFamily="34" charset="0"/>
              </a:rPr>
              <a:t>, das </a:t>
            </a:r>
            <a:r>
              <a:rPr lang="de-DE" sz="1200" b="1" dirty="0">
                <a:latin typeface="Calibri Light" panose="020F0302020204030204" pitchFamily="34" charset="0"/>
                <a:ea typeface="Calibri Light" panose="020F0302020204030204" pitchFamily="34" charset="0"/>
                <a:cs typeface="Calibri Light" panose="020F0302020204030204" pitchFamily="34" charset="0"/>
              </a:rPr>
              <a:t>Datum</a:t>
            </a:r>
            <a:r>
              <a:rPr lang="de-DE" sz="1200" dirty="0">
                <a:latin typeface="Calibri Light" panose="020F0302020204030204" pitchFamily="34" charset="0"/>
                <a:ea typeface="Calibri Light" panose="020F0302020204030204" pitchFamily="34" charset="0"/>
                <a:cs typeface="Calibri Light" panose="020F0302020204030204" pitchFamily="34" charset="0"/>
              </a:rPr>
              <a:t>, den </a:t>
            </a:r>
            <a:r>
              <a:rPr lang="de-DE" sz="1200" b="1" dirty="0">
                <a:latin typeface="Calibri Light" panose="020F0302020204030204" pitchFamily="34" charset="0"/>
                <a:ea typeface="Calibri Light" panose="020F0302020204030204" pitchFamily="34" charset="0"/>
                <a:cs typeface="Calibri Light" panose="020F0302020204030204" pitchFamily="34" charset="0"/>
              </a:rPr>
              <a:t>Betrag</a:t>
            </a:r>
            <a:r>
              <a:rPr lang="de-DE" sz="1200" dirty="0">
                <a:latin typeface="Calibri Light" panose="020F0302020204030204" pitchFamily="34" charset="0"/>
                <a:ea typeface="Calibri Light" panose="020F0302020204030204" pitchFamily="34" charset="0"/>
                <a:cs typeface="Calibri Light" panose="020F0302020204030204" pitchFamily="34" charset="0"/>
              </a:rPr>
              <a:t>, den </a:t>
            </a:r>
            <a:r>
              <a:rPr lang="de-DE" sz="1200" b="1" dirty="0">
                <a:latin typeface="Calibri Light" panose="020F0302020204030204" pitchFamily="34" charset="0"/>
                <a:ea typeface="Calibri Light" panose="020F0302020204030204" pitchFamily="34" charset="0"/>
                <a:cs typeface="Calibri Light" panose="020F0302020204030204" pitchFamily="34" charset="0"/>
              </a:rPr>
              <a:t>Typ</a:t>
            </a:r>
            <a:r>
              <a:rPr lang="de-DE" sz="1200" dirty="0">
                <a:latin typeface="Calibri Light" panose="020F0302020204030204" pitchFamily="34" charset="0"/>
                <a:ea typeface="Calibri Light" panose="020F0302020204030204" pitchFamily="34" charset="0"/>
                <a:cs typeface="Calibri Light" panose="020F0302020204030204" pitchFamily="34" charset="0"/>
              </a:rPr>
              <a:t> (</a:t>
            </a:r>
            <a:r>
              <a:rPr lang="de-DE" sz="1200" i="1" dirty="0">
                <a:latin typeface="Calibri Light" panose="020F0302020204030204" pitchFamily="34" charset="0"/>
                <a:ea typeface="Calibri Light" panose="020F0302020204030204" pitchFamily="34" charset="0"/>
                <a:cs typeface="Calibri Light" panose="020F0302020204030204" pitchFamily="34" charset="0"/>
              </a:rPr>
              <a:t>Lastschrift</a:t>
            </a:r>
            <a:r>
              <a:rPr lang="de-DE" sz="1200" dirty="0">
                <a:latin typeface="Calibri Light" panose="020F0302020204030204" pitchFamily="34" charset="0"/>
                <a:ea typeface="Calibri Light" panose="020F0302020204030204" pitchFamily="34" charset="0"/>
                <a:cs typeface="Calibri Light" panose="020F0302020204030204" pitchFamily="34" charset="0"/>
              </a:rPr>
              <a:t>, </a:t>
            </a:r>
            <a:r>
              <a:rPr lang="de-DE" sz="1200" i="1" dirty="0">
                <a:latin typeface="Calibri Light" panose="020F0302020204030204" pitchFamily="34" charset="0"/>
                <a:ea typeface="Calibri Light" panose="020F0302020204030204" pitchFamily="34" charset="0"/>
                <a:cs typeface="Calibri Light" panose="020F0302020204030204" pitchFamily="34" charset="0"/>
              </a:rPr>
              <a:t>Gutschrift</a:t>
            </a:r>
            <a:r>
              <a:rPr lang="de-DE" sz="1200" dirty="0">
                <a:latin typeface="Calibri Light" panose="020F0302020204030204" pitchFamily="34" charset="0"/>
                <a:ea typeface="Calibri Light" panose="020F0302020204030204" pitchFamily="34" charset="0"/>
                <a:cs typeface="Calibri Light" panose="020F0302020204030204" pitchFamily="34" charset="0"/>
              </a:rPr>
              <a:t>) und den </a:t>
            </a:r>
            <a:r>
              <a:rPr lang="de-DE" sz="1200" b="1" dirty="0">
                <a:latin typeface="Calibri Light" panose="020F0302020204030204" pitchFamily="34" charset="0"/>
                <a:ea typeface="Calibri Light" panose="020F0302020204030204" pitchFamily="34" charset="0"/>
                <a:cs typeface="Calibri Light" panose="020F0302020204030204" pitchFamily="34" charset="0"/>
              </a:rPr>
              <a:t>Status</a:t>
            </a:r>
            <a:r>
              <a:rPr lang="de-DE" sz="1200" dirty="0">
                <a:latin typeface="Calibri Light" panose="020F0302020204030204" pitchFamily="34" charset="0"/>
                <a:ea typeface="Calibri Light" panose="020F0302020204030204" pitchFamily="34" charset="0"/>
                <a:cs typeface="Calibri Light" panose="020F0302020204030204" pitchFamily="34" charset="0"/>
              </a:rPr>
              <a:t> (</a:t>
            </a:r>
            <a:r>
              <a:rPr lang="de-DE" sz="1200" i="1" dirty="0">
                <a:latin typeface="Calibri Light" panose="020F0302020204030204" pitchFamily="34" charset="0"/>
                <a:ea typeface="Calibri Light" panose="020F0302020204030204" pitchFamily="34" charset="0"/>
                <a:cs typeface="Calibri Light" panose="020F0302020204030204" pitchFamily="34" charset="0"/>
              </a:rPr>
              <a:t>ausstehend</a:t>
            </a:r>
            <a:r>
              <a:rPr lang="de-DE" sz="1200" dirty="0">
                <a:latin typeface="Calibri Light" panose="020F0302020204030204" pitchFamily="34" charset="0"/>
                <a:ea typeface="Calibri Light" panose="020F0302020204030204" pitchFamily="34" charset="0"/>
                <a:cs typeface="Calibri Light" panose="020F0302020204030204" pitchFamily="34" charset="0"/>
              </a:rPr>
              <a:t>, </a:t>
            </a:r>
            <a:r>
              <a:rPr lang="de-DE" sz="1200" i="1" dirty="0">
                <a:latin typeface="Calibri Light" panose="020F0302020204030204" pitchFamily="34" charset="0"/>
                <a:ea typeface="Calibri Light" panose="020F0302020204030204" pitchFamily="34" charset="0"/>
                <a:cs typeface="Calibri Light" panose="020F0302020204030204" pitchFamily="34" charset="0"/>
              </a:rPr>
              <a:t>ausgeführt</a:t>
            </a:r>
            <a:r>
              <a:rPr lang="de-DE" sz="1200" dirty="0">
                <a:latin typeface="Calibri Light" panose="020F0302020204030204" pitchFamily="34" charset="0"/>
                <a:ea typeface="Calibri Light" panose="020F0302020204030204" pitchFamily="34" charset="0"/>
                <a:cs typeface="Calibri Light" panose="020F0302020204030204" pitchFamily="34" charset="0"/>
              </a:rPr>
              <a:t>, </a:t>
            </a:r>
            <a:r>
              <a:rPr lang="de-DE" sz="1200" i="1" dirty="0">
                <a:latin typeface="Calibri Light" panose="020F0302020204030204" pitchFamily="34" charset="0"/>
                <a:ea typeface="Calibri Light" panose="020F0302020204030204" pitchFamily="34" charset="0"/>
                <a:cs typeface="Calibri Light" panose="020F0302020204030204" pitchFamily="34" charset="0"/>
              </a:rPr>
              <a:t>abgelehnt</a:t>
            </a:r>
            <a:r>
              <a:rPr lang="de-DE" sz="1200" dirty="0">
                <a:latin typeface="Calibri Light" panose="020F0302020204030204" pitchFamily="34" charset="0"/>
                <a:ea typeface="Calibri Light" panose="020F0302020204030204" pitchFamily="34" charset="0"/>
                <a:cs typeface="Calibri Light" panose="020F0302020204030204" pitchFamily="34" charset="0"/>
              </a:rPr>
              <a:t>).</a:t>
            </a:r>
            <a:br>
              <a:rPr lang="de-DE" sz="1200" dirty="0">
                <a:latin typeface="Calibri Light" panose="020F0302020204030204" pitchFamily="34" charset="0"/>
                <a:ea typeface="Calibri Light" panose="020F0302020204030204" pitchFamily="34" charset="0"/>
                <a:cs typeface="Calibri Light" panose="020F0302020204030204" pitchFamily="34" charset="0"/>
              </a:rPr>
            </a:br>
            <a:endParaRPr lang="de-DE" sz="1200" dirty="0">
              <a:latin typeface="Calibri Light" panose="020F0302020204030204" pitchFamily="34" charset="0"/>
              <a:ea typeface="Calibri Light" panose="020F0302020204030204" pitchFamily="34" charset="0"/>
              <a:cs typeface="Calibri Light" panose="020F0302020204030204" pitchFamily="34" charset="0"/>
            </a:endParaRPr>
          </a:p>
          <a:p>
            <a:r>
              <a:rPr lang="de-DE" sz="1200" dirty="0">
                <a:latin typeface="Calibri Light" panose="020F0302020204030204" pitchFamily="34" charset="0"/>
                <a:ea typeface="Calibri Light" panose="020F0302020204030204" pitchFamily="34" charset="0"/>
                <a:cs typeface="Calibri Light" panose="020F0302020204030204" pitchFamily="34" charset="0"/>
              </a:rPr>
              <a:t>Eine </a:t>
            </a:r>
            <a:r>
              <a:rPr lang="de-DE" sz="1200" b="1" dirty="0">
                <a:latin typeface="Calibri Light" panose="020F0302020204030204" pitchFamily="34" charset="0"/>
                <a:ea typeface="Calibri Light" panose="020F0302020204030204" pitchFamily="34" charset="0"/>
                <a:cs typeface="Calibri Light" panose="020F0302020204030204" pitchFamily="34" charset="0"/>
              </a:rPr>
              <a:t>Währungsumrechnungsanfrage</a:t>
            </a:r>
            <a:r>
              <a:rPr lang="de-DE" sz="1200" dirty="0">
                <a:latin typeface="Calibri Light" panose="020F0302020204030204" pitchFamily="34" charset="0"/>
                <a:ea typeface="Calibri Light" panose="020F0302020204030204" pitchFamily="34" charset="0"/>
                <a:cs typeface="Calibri Light" panose="020F0302020204030204" pitchFamily="34" charset="0"/>
              </a:rPr>
              <a:t> ist definiert durch den </a:t>
            </a:r>
            <a:r>
              <a:rPr lang="de-DE" sz="1200" b="1" dirty="0">
                <a:latin typeface="Calibri Light" panose="020F0302020204030204" pitchFamily="34" charset="0"/>
                <a:ea typeface="Calibri Light" panose="020F0302020204030204" pitchFamily="34" charset="0"/>
                <a:cs typeface="Calibri Light" panose="020F0302020204030204" pitchFamily="34" charset="0"/>
              </a:rPr>
              <a:t>Betrag</a:t>
            </a:r>
            <a:r>
              <a:rPr lang="de-DE" sz="1200" dirty="0">
                <a:latin typeface="Calibri Light" panose="020F0302020204030204" pitchFamily="34" charset="0"/>
                <a:ea typeface="Calibri Light" panose="020F0302020204030204" pitchFamily="34" charset="0"/>
                <a:cs typeface="Calibri Light" panose="020F0302020204030204" pitchFamily="34" charset="0"/>
              </a:rPr>
              <a:t>, die Ausgangswährung (</a:t>
            </a:r>
            <a:r>
              <a:rPr lang="de-DE" sz="1200" b="1" dirty="0" err="1">
                <a:latin typeface="Calibri Light" panose="020F0302020204030204" pitchFamily="34" charset="0"/>
                <a:ea typeface="Calibri Light" panose="020F0302020204030204" pitchFamily="34" charset="0"/>
                <a:cs typeface="Calibri Light" panose="020F0302020204030204" pitchFamily="34" charset="0"/>
              </a:rPr>
              <a:t>from</a:t>
            </a:r>
            <a:r>
              <a:rPr lang="de-DE" sz="1200" dirty="0">
                <a:latin typeface="Calibri Light" panose="020F0302020204030204" pitchFamily="34" charset="0"/>
                <a:ea typeface="Calibri Light" panose="020F0302020204030204" pitchFamily="34" charset="0"/>
                <a:cs typeface="Calibri Light" panose="020F0302020204030204" pitchFamily="34" charset="0"/>
              </a:rPr>
              <a:t>) und die Zielwährung (</a:t>
            </a:r>
            <a:r>
              <a:rPr lang="de-DE" sz="1200" b="1" dirty="0" err="1">
                <a:latin typeface="Calibri Light" panose="020F0302020204030204" pitchFamily="34" charset="0"/>
                <a:ea typeface="Calibri Light" panose="020F0302020204030204" pitchFamily="34" charset="0"/>
                <a:cs typeface="Calibri Light" panose="020F0302020204030204" pitchFamily="34" charset="0"/>
              </a:rPr>
              <a:t>to</a:t>
            </a:r>
            <a:r>
              <a:rPr lang="de-DE" sz="1200" dirty="0">
                <a:latin typeface="Calibri Light" panose="020F0302020204030204" pitchFamily="34" charset="0"/>
                <a:ea typeface="Calibri Light" panose="020F0302020204030204" pitchFamily="34" charset="0"/>
                <a:cs typeface="Calibri Light" panose="020F0302020204030204" pitchFamily="34" charset="0"/>
              </a:rPr>
              <a:t>)</a:t>
            </a:r>
          </a:p>
          <a:p>
            <a:endParaRPr lang="fr-FR" dirty="0"/>
          </a:p>
        </p:txBody>
      </p:sp>
    </p:spTree>
    <p:extLst>
      <p:ext uri="{BB962C8B-B14F-4D97-AF65-F5344CB8AC3E}">
        <p14:creationId xmlns:p14="http://schemas.microsoft.com/office/powerpoint/2010/main" val="23565213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22">
          <a:extLst>
            <a:ext uri="{FF2B5EF4-FFF2-40B4-BE49-F238E27FC236}">
              <a16:creationId xmlns:a16="http://schemas.microsoft.com/office/drawing/2014/main" id="{EE45F054-6B6B-672A-A6F7-053DD8F7CCCA}"/>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C9BA7192-0943-8565-D144-EB5FBF178306}"/>
              </a:ext>
            </a:extLst>
          </p:cNvPr>
          <p:cNvSpPr/>
          <p:nvPr/>
        </p:nvSpPr>
        <p:spPr>
          <a:xfrm>
            <a:off x="1207824" y="721680"/>
            <a:ext cx="2138031" cy="3169945"/>
          </a:xfrm>
          <a:prstGeom prst="rect">
            <a:avLst/>
          </a:prstGeom>
          <a:ln>
            <a:solidFill>
              <a:schemeClr val="bg1"/>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fr-FR" sz="1100" dirty="0">
              <a:solidFill>
                <a:schemeClr val="bg1">
                  <a:lumMod val="10000"/>
                </a:schemeClr>
              </a:solidFill>
            </a:endParaRPr>
          </a:p>
        </p:txBody>
      </p:sp>
      <p:sp>
        <p:nvSpPr>
          <p:cNvPr id="7" name="Rectangle 6">
            <a:extLst>
              <a:ext uri="{FF2B5EF4-FFF2-40B4-BE49-F238E27FC236}">
                <a16:creationId xmlns:a16="http://schemas.microsoft.com/office/drawing/2014/main" id="{C0E7A438-3A02-EF9A-AF2A-F9D3E1AFC731}"/>
              </a:ext>
            </a:extLst>
          </p:cNvPr>
          <p:cNvSpPr/>
          <p:nvPr/>
        </p:nvSpPr>
        <p:spPr>
          <a:xfrm>
            <a:off x="1190490" y="479455"/>
            <a:ext cx="2155366" cy="319910"/>
          </a:xfrm>
          <a:prstGeom prst="rect">
            <a:avLst/>
          </a:prstGeom>
          <a:solidFill>
            <a:srgbClr val="00B0F0"/>
          </a:solidFill>
          <a:ln>
            <a:solidFill>
              <a:schemeClr val="bg1"/>
            </a:solidFill>
          </a:ln>
        </p:spPr>
        <p:style>
          <a:lnRef idx="1">
            <a:schemeClr val="dk1"/>
          </a:lnRef>
          <a:fillRef idx="2">
            <a:schemeClr val="dk1"/>
          </a:fillRef>
          <a:effectRef idx="1">
            <a:schemeClr val="dk1"/>
          </a:effectRef>
          <a:fontRef idx="minor">
            <a:schemeClr val="dk1"/>
          </a:fontRef>
        </p:style>
        <p:txBody>
          <a:bodyPr rtlCol="0" anchor="ctr"/>
          <a:lstStyle/>
          <a:p>
            <a:pPr algn="ctr"/>
            <a:r>
              <a:rPr lang="fr-FR" sz="1100" dirty="0">
                <a:solidFill>
                  <a:srgbClr val="000000"/>
                </a:solidFill>
              </a:rPr>
              <a:t>Java Client</a:t>
            </a:r>
            <a:endParaRPr lang="fr-FR" dirty="0">
              <a:solidFill>
                <a:srgbClr val="000000"/>
              </a:solidFill>
            </a:endParaRPr>
          </a:p>
        </p:txBody>
      </p:sp>
      <p:sp>
        <p:nvSpPr>
          <p:cNvPr id="8" name="Rectangle 7">
            <a:extLst>
              <a:ext uri="{FF2B5EF4-FFF2-40B4-BE49-F238E27FC236}">
                <a16:creationId xmlns:a16="http://schemas.microsoft.com/office/drawing/2014/main" id="{72F1623E-29AC-76A8-C42C-BF8785C86DA4}"/>
              </a:ext>
            </a:extLst>
          </p:cNvPr>
          <p:cNvSpPr/>
          <p:nvPr/>
        </p:nvSpPr>
        <p:spPr>
          <a:xfrm>
            <a:off x="4472400" y="629914"/>
            <a:ext cx="3121989" cy="3261711"/>
          </a:xfrm>
          <a:prstGeom prst="rect">
            <a:avLst/>
          </a:prstGeom>
          <a:ln/>
        </p:spPr>
        <p:style>
          <a:lnRef idx="1">
            <a:schemeClr val="dk1"/>
          </a:lnRef>
          <a:fillRef idx="2">
            <a:schemeClr val="dk1"/>
          </a:fillRef>
          <a:effectRef idx="1">
            <a:schemeClr val="dk1"/>
          </a:effectRef>
          <a:fontRef idx="minor">
            <a:schemeClr val="dk1"/>
          </a:fontRef>
        </p:style>
        <p:txBody>
          <a:bodyPr rtlCol="0" anchor="ctr"/>
          <a:lstStyle/>
          <a:p>
            <a:pPr algn="ctr"/>
            <a:endParaRPr lang="fr-FR" sz="1100" dirty="0">
              <a:solidFill>
                <a:schemeClr val="bg1">
                  <a:lumMod val="10000"/>
                </a:schemeClr>
              </a:solidFill>
            </a:endParaRPr>
          </a:p>
        </p:txBody>
      </p:sp>
      <p:sp>
        <p:nvSpPr>
          <p:cNvPr id="9" name="Rectangle 8">
            <a:extLst>
              <a:ext uri="{FF2B5EF4-FFF2-40B4-BE49-F238E27FC236}">
                <a16:creationId xmlns:a16="http://schemas.microsoft.com/office/drawing/2014/main" id="{C851926D-7391-57E9-9B2A-ADE88CA86223}"/>
              </a:ext>
            </a:extLst>
          </p:cNvPr>
          <p:cNvSpPr/>
          <p:nvPr/>
        </p:nvSpPr>
        <p:spPr>
          <a:xfrm>
            <a:off x="4464632" y="387689"/>
            <a:ext cx="3135813" cy="242225"/>
          </a:xfrm>
          <a:prstGeom prst="rect">
            <a:avLst/>
          </a:prstGeom>
          <a:solidFill>
            <a:srgbClr val="00B0F0"/>
          </a:solidFill>
          <a:ln>
            <a:solidFill>
              <a:schemeClr val="bg1">
                <a:lumMod val="25000"/>
              </a:schemeClr>
            </a:solidFill>
          </a:ln>
        </p:spPr>
        <p:style>
          <a:lnRef idx="1">
            <a:schemeClr val="dk1"/>
          </a:lnRef>
          <a:fillRef idx="2">
            <a:schemeClr val="dk1"/>
          </a:fillRef>
          <a:effectRef idx="1">
            <a:schemeClr val="dk1"/>
          </a:effectRef>
          <a:fontRef idx="minor">
            <a:schemeClr val="dk1"/>
          </a:fontRef>
        </p:style>
        <p:txBody>
          <a:bodyPr rtlCol="0" anchor="ctr"/>
          <a:lstStyle/>
          <a:p>
            <a:pPr algn="ctr"/>
            <a:r>
              <a:rPr lang="fr-FR" sz="1100" dirty="0">
                <a:solidFill>
                  <a:srgbClr val="000000"/>
                </a:solidFill>
              </a:rPr>
              <a:t>Tomcat + Spring IOC</a:t>
            </a:r>
            <a:endParaRPr lang="fr-FR" dirty="0">
              <a:solidFill>
                <a:srgbClr val="000000"/>
              </a:solidFill>
            </a:endParaRPr>
          </a:p>
        </p:txBody>
      </p:sp>
      <p:sp>
        <p:nvSpPr>
          <p:cNvPr id="16" name="Rectangle 15">
            <a:extLst>
              <a:ext uri="{FF2B5EF4-FFF2-40B4-BE49-F238E27FC236}">
                <a16:creationId xmlns:a16="http://schemas.microsoft.com/office/drawing/2014/main" id="{4348AD5F-7433-BE84-EDAB-498D6185AF0D}"/>
              </a:ext>
            </a:extLst>
          </p:cNvPr>
          <p:cNvSpPr/>
          <p:nvPr/>
        </p:nvSpPr>
        <p:spPr>
          <a:xfrm>
            <a:off x="6438036" y="2219873"/>
            <a:ext cx="1090475" cy="1490083"/>
          </a:xfrm>
          <a:prstGeom prst="rect">
            <a:avLst/>
          </a:prstGeom>
          <a:ln>
            <a:solidFill>
              <a:schemeClr val="bg1"/>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fr-FR" sz="1100" dirty="0">
              <a:solidFill>
                <a:schemeClr val="bg1">
                  <a:lumMod val="10000"/>
                </a:schemeClr>
              </a:solidFill>
            </a:endParaRPr>
          </a:p>
        </p:txBody>
      </p:sp>
      <p:sp>
        <p:nvSpPr>
          <p:cNvPr id="17" name="Rectangle 16">
            <a:extLst>
              <a:ext uri="{FF2B5EF4-FFF2-40B4-BE49-F238E27FC236}">
                <a16:creationId xmlns:a16="http://schemas.microsoft.com/office/drawing/2014/main" id="{99075A4E-7C7F-F9A5-A601-6E282AEADA73}"/>
              </a:ext>
            </a:extLst>
          </p:cNvPr>
          <p:cNvSpPr/>
          <p:nvPr/>
        </p:nvSpPr>
        <p:spPr>
          <a:xfrm>
            <a:off x="6428715" y="1977648"/>
            <a:ext cx="1099796" cy="242225"/>
          </a:xfrm>
          <a:prstGeom prst="rect">
            <a:avLst/>
          </a:prstGeom>
          <a:solidFill>
            <a:srgbClr val="65E3AA"/>
          </a:solidFill>
          <a:ln>
            <a:solidFill>
              <a:schemeClr val="bg1"/>
            </a:solidFill>
          </a:ln>
        </p:spPr>
        <p:style>
          <a:lnRef idx="1">
            <a:schemeClr val="dk1"/>
          </a:lnRef>
          <a:fillRef idx="2">
            <a:schemeClr val="dk1"/>
          </a:fillRef>
          <a:effectRef idx="1">
            <a:schemeClr val="dk1"/>
          </a:effectRef>
          <a:fontRef idx="minor">
            <a:schemeClr val="dk1"/>
          </a:fontRef>
        </p:style>
        <p:txBody>
          <a:bodyPr rtlCol="0" anchor="ctr"/>
          <a:lstStyle/>
          <a:p>
            <a:pPr algn="ctr"/>
            <a:r>
              <a:rPr lang="fr-FR" sz="1100" dirty="0">
                <a:solidFill>
                  <a:srgbClr val="000000"/>
                </a:solidFill>
              </a:rPr>
              <a:t>DAO Layer</a:t>
            </a:r>
            <a:endParaRPr lang="fr-FR" dirty="0">
              <a:solidFill>
                <a:srgbClr val="000000"/>
              </a:solidFill>
            </a:endParaRPr>
          </a:p>
        </p:txBody>
      </p:sp>
      <p:sp>
        <p:nvSpPr>
          <p:cNvPr id="18" name="Organigramme : Disque magnétique 17">
            <a:extLst>
              <a:ext uri="{FF2B5EF4-FFF2-40B4-BE49-F238E27FC236}">
                <a16:creationId xmlns:a16="http://schemas.microsoft.com/office/drawing/2014/main" id="{6841FC3F-90B8-E283-E67C-905F66ED0D6D}"/>
              </a:ext>
            </a:extLst>
          </p:cNvPr>
          <p:cNvSpPr/>
          <p:nvPr/>
        </p:nvSpPr>
        <p:spPr>
          <a:xfrm>
            <a:off x="7930253" y="2439058"/>
            <a:ext cx="890179" cy="691056"/>
          </a:xfrm>
          <a:prstGeom prst="flowChartMagneticDisk">
            <a:avLst/>
          </a:prstGeom>
          <a:solidFill>
            <a:srgbClr val="0074B2"/>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200" dirty="0">
                <a:ln w="3175">
                  <a:solidFill>
                    <a:schemeClr val="tx1"/>
                  </a:solidFill>
                </a:ln>
              </a:rPr>
              <a:t>MongoDB</a:t>
            </a:r>
          </a:p>
        </p:txBody>
      </p:sp>
      <p:sp>
        <p:nvSpPr>
          <p:cNvPr id="19" name="Rectangle 18">
            <a:extLst>
              <a:ext uri="{FF2B5EF4-FFF2-40B4-BE49-F238E27FC236}">
                <a16:creationId xmlns:a16="http://schemas.microsoft.com/office/drawing/2014/main" id="{81ACD0A4-724D-B90B-88F7-6455B362D960}"/>
              </a:ext>
            </a:extLst>
          </p:cNvPr>
          <p:cNvSpPr/>
          <p:nvPr/>
        </p:nvSpPr>
        <p:spPr>
          <a:xfrm>
            <a:off x="4687609" y="991536"/>
            <a:ext cx="1532130" cy="1171298"/>
          </a:xfrm>
          <a:prstGeom prst="rect">
            <a:avLst/>
          </a:prstGeom>
          <a:ln>
            <a:solidFill>
              <a:schemeClr val="bg1"/>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fr-FR" sz="1100" dirty="0">
              <a:solidFill>
                <a:schemeClr val="bg1">
                  <a:lumMod val="10000"/>
                </a:schemeClr>
              </a:solidFill>
            </a:endParaRPr>
          </a:p>
        </p:txBody>
      </p:sp>
      <p:sp>
        <p:nvSpPr>
          <p:cNvPr id="20" name="Rectangle 19">
            <a:extLst>
              <a:ext uri="{FF2B5EF4-FFF2-40B4-BE49-F238E27FC236}">
                <a16:creationId xmlns:a16="http://schemas.microsoft.com/office/drawing/2014/main" id="{824F315A-95BF-C13E-0D4D-948F4575F104}"/>
              </a:ext>
            </a:extLst>
          </p:cNvPr>
          <p:cNvSpPr/>
          <p:nvPr/>
        </p:nvSpPr>
        <p:spPr>
          <a:xfrm>
            <a:off x="4677568" y="743665"/>
            <a:ext cx="1560339" cy="242225"/>
          </a:xfrm>
          <a:prstGeom prst="rect">
            <a:avLst/>
          </a:prstGeom>
          <a:solidFill>
            <a:srgbClr val="00B0F0"/>
          </a:solidFill>
          <a:ln>
            <a:solidFill>
              <a:schemeClr val="bg1"/>
            </a:solidFill>
          </a:ln>
        </p:spPr>
        <p:style>
          <a:lnRef idx="1">
            <a:schemeClr val="dk1"/>
          </a:lnRef>
          <a:fillRef idx="2">
            <a:schemeClr val="dk1"/>
          </a:fillRef>
          <a:effectRef idx="1">
            <a:schemeClr val="dk1"/>
          </a:effectRef>
          <a:fontRef idx="minor">
            <a:schemeClr val="dk1"/>
          </a:fontRef>
        </p:style>
        <p:txBody>
          <a:bodyPr rtlCol="0" anchor="ctr"/>
          <a:lstStyle/>
          <a:p>
            <a:pPr algn="ctr"/>
            <a:r>
              <a:rPr lang="fr-FR" sz="1100" dirty="0">
                <a:solidFill>
                  <a:srgbClr val="000000"/>
                </a:solidFill>
              </a:rPr>
              <a:t>GraphQL Layer</a:t>
            </a:r>
            <a:endParaRPr lang="fr-FR" dirty="0">
              <a:solidFill>
                <a:srgbClr val="000000"/>
              </a:solidFill>
            </a:endParaRPr>
          </a:p>
        </p:txBody>
      </p:sp>
      <p:sp>
        <p:nvSpPr>
          <p:cNvPr id="21" name="Rectangle 20">
            <a:extLst>
              <a:ext uri="{FF2B5EF4-FFF2-40B4-BE49-F238E27FC236}">
                <a16:creationId xmlns:a16="http://schemas.microsoft.com/office/drawing/2014/main" id="{0A26FC12-D16F-3943-0BEB-E2D8090134E7}"/>
              </a:ext>
            </a:extLst>
          </p:cNvPr>
          <p:cNvSpPr/>
          <p:nvPr/>
        </p:nvSpPr>
        <p:spPr>
          <a:xfrm>
            <a:off x="5019777" y="1039989"/>
            <a:ext cx="849430" cy="242225"/>
          </a:xfrm>
          <a:prstGeom prst="rect">
            <a:avLst/>
          </a:prstGeom>
          <a:solidFill>
            <a:srgbClr val="D1FFA1"/>
          </a:solidFill>
          <a:ln/>
        </p:spPr>
        <p:style>
          <a:lnRef idx="0">
            <a:schemeClr val="dk1"/>
          </a:lnRef>
          <a:fillRef idx="3">
            <a:schemeClr val="dk1"/>
          </a:fillRef>
          <a:effectRef idx="3">
            <a:schemeClr val="dk1"/>
          </a:effectRef>
          <a:fontRef idx="minor">
            <a:schemeClr val="lt1"/>
          </a:fontRef>
        </p:style>
        <p:txBody>
          <a:bodyPr rtlCol="0" anchor="ctr"/>
          <a:lstStyle/>
          <a:p>
            <a:pPr algn="ctr"/>
            <a:r>
              <a:rPr lang="fr-FR" sz="1100" dirty="0">
                <a:solidFill>
                  <a:schemeClr val="bg1">
                    <a:lumMod val="10000"/>
                  </a:schemeClr>
                </a:solidFill>
              </a:rPr>
              <a:t>Parsing</a:t>
            </a:r>
          </a:p>
        </p:txBody>
      </p:sp>
      <p:cxnSp>
        <p:nvCxnSpPr>
          <p:cNvPr id="22" name="Connecteur droit avec flèche 21">
            <a:extLst>
              <a:ext uri="{FF2B5EF4-FFF2-40B4-BE49-F238E27FC236}">
                <a16:creationId xmlns:a16="http://schemas.microsoft.com/office/drawing/2014/main" id="{2F73BA55-4746-F38D-F16D-1E81840B1CDE}"/>
              </a:ext>
            </a:extLst>
          </p:cNvPr>
          <p:cNvCxnSpPr>
            <a:cxnSpLocks/>
          </p:cNvCxnSpPr>
          <p:nvPr/>
        </p:nvCxnSpPr>
        <p:spPr>
          <a:xfrm>
            <a:off x="5444492" y="1284164"/>
            <a:ext cx="0" cy="180732"/>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23" name="Rectangle 22">
            <a:extLst>
              <a:ext uri="{FF2B5EF4-FFF2-40B4-BE49-F238E27FC236}">
                <a16:creationId xmlns:a16="http://schemas.microsoft.com/office/drawing/2014/main" id="{6CF23FE5-5CA7-0522-17E3-4CD2442DD51F}"/>
              </a:ext>
            </a:extLst>
          </p:cNvPr>
          <p:cNvSpPr/>
          <p:nvPr/>
        </p:nvSpPr>
        <p:spPr>
          <a:xfrm>
            <a:off x="5038945" y="1464894"/>
            <a:ext cx="849430" cy="242225"/>
          </a:xfrm>
          <a:prstGeom prst="rect">
            <a:avLst/>
          </a:prstGeom>
          <a:solidFill>
            <a:srgbClr val="D1FFA1"/>
          </a:solidFill>
          <a:ln/>
        </p:spPr>
        <p:style>
          <a:lnRef idx="0">
            <a:schemeClr val="dk1"/>
          </a:lnRef>
          <a:fillRef idx="3">
            <a:schemeClr val="dk1"/>
          </a:fillRef>
          <a:effectRef idx="3">
            <a:schemeClr val="dk1"/>
          </a:effectRef>
          <a:fontRef idx="minor">
            <a:schemeClr val="lt1"/>
          </a:fontRef>
        </p:style>
        <p:txBody>
          <a:bodyPr rtlCol="0" anchor="ctr"/>
          <a:lstStyle/>
          <a:p>
            <a:pPr algn="ctr"/>
            <a:r>
              <a:rPr lang="fr-FR" sz="1100" dirty="0">
                <a:solidFill>
                  <a:schemeClr val="bg1">
                    <a:lumMod val="10000"/>
                  </a:schemeClr>
                </a:solidFill>
              </a:rPr>
              <a:t>Validation</a:t>
            </a:r>
          </a:p>
        </p:txBody>
      </p:sp>
      <p:sp>
        <p:nvSpPr>
          <p:cNvPr id="24" name="Rectangle 23">
            <a:extLst>
              <a:ext uri="{FF2B5EF4-FFF2-40B4-BE49-F238E27FC236}">
                <a16:creationId xmlns:a16="http://schemas.microsoft.com/office/drawing/2014/main" id="{2F0623DF-91AC-1EC1-98F1-658D7A733244}"/>
              </a:ext>
            </a:extLst>
          </p:cNvPr>
          <p:cNvSpPr/>
          <p:nvPr/>
        </p:nvSpPr>
        <p:spPr>
          <a:xfrm>
            <a:off x="5033895" y="1877686"/>
            <a:ext cx="849430" cy="242225"/>
          </a:xfrm>
          <a:prstGeom prst="rect">
            <a:avLst/>
          </a:prstGeom>
          <a:solidFill>
            <a:srgbClr val="D1FFA1"/>
          </a:solidFill>
          <a:ln/>
        </p:spPr>
        <p:style>
          <a:lnRef idx="0">
            <a:schemeClr val="dk1"/>
          </a:lnRef>
          <a:fillRef idx="3">
            <a:schemeClr val="dk1"/>
          </a:fillRef>
          <a:effectRef idx="3">
            <a:schemeClr val="dk1"/>
          </a:effectRef>
          <a:fontRef idx="minor">
            <a:schemeClr val="lt1"/>
          </a:fontRef>
        </p:style>
        <p:txBody>
          <a:bodyPr rtlCol="0" anchor="ctr"/>
          <a:lstStyle/>
          <a:p>
            <a:pPr algn="ctr"/>
            <a:r>
              <a:rPr lang="fr-FR" sz="1100" dirty="0">
                <a:solidFill>
                  <a:schemeClr val="bg1">
                    <a:lumMod val="10000"/>
                  </a:schemeClr>
                </a:solidFill>
              </a:rPr>
              <a:t>Execution</a:t>
            </a:r>
          </a:p>
        </p:txBody>
      </p:sp>
      <p:cxnSp>
        <p:nvCxnSpPr>
          <p:cNvPr id="25" name="Connecteur droit avec flèche 24">
            <a:extLst>
              <a:ext uri="{FF2B5EF4-FFF2-40B4-BE49-F238E27FC236}">
                <a16:creationId xmlns:a16="http://schemas.microsoft.com/office/drawing/2014/main" id="{4CB975A8-D392-8C19-9AA6-CC8A22DD2C30}"/>
              </a:ext>
            </a:extLst>
          </p:cNvPr>
          <p:cNvCxnSpPr>
            <a:cxnSpLocks/>
          </p:cNvCxnSpPr>
          <p:nvPr/>
        </p:nvCxnSpPr>
        <p:spPr>
          <a:xfrm>
            <a:off x="5444492" y="1688954"/>
            <a:ext cx="0" cy="200848"/>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27" name="Rectangle 26">
            <a:extLst>
              <a:ext uri="{FF2B5EF4-FFF2-40B4-BE49-F238E27FC236}">
                <a16:creationId xmlns:a16="http://schemas.microsoft.com/office/drawing/2014/main" id="{983C5701-C757-0890-8B4A-23825AE0F5B2}"/>
              </a:ext>
            </a:extLst>
          </p:cNvPr>
          <p:cNvSpPr/>
          <p:nvPr/>
        </p:nvSpPr>
        <p:spPr>
          <a:xfrm rot="16504090">
            <a:off x="6185235" y="2838425"/>
            <a:ext cx="981388" cy="242225"/>
          </a:xfrm>
          <a:prstGeom prst="rect">
            <a:avLst/>
          </a:prstGeom>
          <a:solidFill>
            <a:srgbClr val="B9EFFF"/>
          </a:solidFill>
          <a:ln/>
        </p:spPr>
        <p:style>
          <a:lnRef idx="0">
            <a:schemeClr val="dk1"/>
          </a:lnRef>
          <a:fillRef idx="3">
            <a:schemeClr val="dk1"/>
          </a:fillRef>
          <a:effectRef idx="3">
            <a:schemeClr val="dk1"/>
          </a:effectRef>
          <a:fontRef idx="minor">
            <a:schemeClr val="lt1"/>
          </a:fontRef>
        </p:style>
        <p:txBody>
          <a:bodyPr rtlCol="0" anchor="ctr"/>
          <a:lstStyle/>
          <a:p>
            <a:pPr algn="ctr"/>
            <a:r>
              <a:rPr lang="fr-FR" sz="700" dirty="0">
                <a:solidFill>
                  <a:schemeClr val="bg1">
                    <a:lumMod val="10000"/>
                  </a:schemeClr>
                </a:solidFill>
              </a:rPr>
              <a:t>CurrencyReopsitory</a:t>
            </a:r>
            <a:endParaRPr lang="fr-FR" sz="1100" dirty="0">
              <a:solidFill>
                <a:schemeClr val="bg1">
                  <a:lumMod val="10000"/>
                </a:schemeClr>
              </a:solidFill>
            </a:endParaRPr>
          </a:p>
        </p:txBody>
      </p:sp>
      <p:sp>
        <p:nvSpPr>
          <p:cNvPr id="36" name="ZoneTexte 35">
            <a:extLst>
              <a:ext uri="{FF2B5EF4-FFF2-40B4-BE49-F238E27FC236}">
                <a16:creationId xmlns:a16="http://schemas.microsoft.com/office/drawing/2014/main" id="{2C3441D6-BDCA-0184-4DA8-6598FE51CC36}"/>
              </a:ext>
            </a:extLst>
          </p:cNvPr>
          <p:cNvSpPr txBox="1"/>
          <p:nvPr/>
        </p:nvSpPr>
        <p:spPr>
          <a:xfrm>
            <a:off x="7977308" y="3230544"/>
            <a:ext cx="1040677" cy="187725"/>
          </a:xfrm>
          <a:prstGeom prst="rect">
            <a:avLst/>
          </a:prstGeom>
          <a:noFill/>
        </p:spPr>
        <p:txBody>
          <a:bodyPr wrap="square" rtlCol="0">
            <a:spAutoFit/>
          </a:bodyPr>
          <a:lstStyle/>
          <a:p>
            <a:r>
              <a:rPr lang="fr-FR" sz="600" dirty="0"/>
              <a:t>Spring Data MongoDB</a:t>
            </a:r>
          </a:p>
        </p:txBody>
      </p:sp>
      <p:sp>
        <p:nvSpPr>
          <p:cNvPr id="44" name="Rectangle 43">
            <a:extLst>
              <a:ext uri="{FF2B5EF4-FFF2-40B4-BE49-F238E27FC236}">
                <a16:creationId xmlns:a16="http://schemas.microsoft.com/office/drawing/2014/main" id="{E9332083-08CF-F0DA-2FF0-33011CC193C0}"/>
              </a:ext>
            </a:extLst>
          </p:cNvPr>
          <p:cNvSpPr/>
          <p:nvPr/>
        </p:nvSpPr>
        <p:spPr>
          <a:xfrm>
            <a:off x="4987123" y="2615154"/>
            <a:ext cx="1278391" cy="1015151"/>
          </a:xfrm>
          <a:prstGeom prst="rect">
            <a:avLst/>
          </a:prstGeom>
          <a:ln>
            <a:solidFill>
              <a:schemeClr val="bg1"/>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fr-FR" sz="1100" dirty="0">
              <a:solidFill>
                <a:schemeClr val="bg1">
                  <a:lumMod val="10000"/>
                </a:schemeClr>
              </a:solidFill>
            </a:endParaRPr>
          </a:p>
        </p:txBody>
      </p:sp>
      <p:sp>
        <p:nvSpPr>
          <p:cNvPr id="45" name="Rectangle 44">
            <a:extLst>
              <a:ext uri="{FF2B5EF4-FFF2-40B4-BE49-F238E27FC236}">
                <a16:creationId xmlns:a16="http://schemas.microsoft.com/office/drawing/2014/main" id="{FFDA324C-844A-414F-D139-F30BC90D70A8}"/>
              </a:ext>
            </a:extLst>
          </p:cNvPr>
          <p:cNvSpPr/>
          <p:nvPr/>
        </p:nvSpPr>
        <p:spPr>
          <a:xfrm>
            <a:off x="4973300" y="2385998"/>
            <a:ext cx="1288756" cy="242225"/>
          </a:xfrm>
          <a:prstGeom prst="rect">
            <a:avLst/>
          </a:prstGeom>
          <a:solidFill>
            <a:srgbClr val="00B0F0"/>
          </a:solidFill>
          <a:ln>
            <a:solidFill>
              <a:schemeClr val="bg1"/>
            </a:solidFill>
          </a:ln>
        </p:spPr>
        <p:style>
          <a:lnRef idx="1">
            <a:schemeClr val="dk1"/>
          </a:lnRef>
          <a:fillRef idx="2">
            <a:schemeClr val="dk1"/>
          </a:fillRef>
          <a:effectRef idx="1">
            <a:schemeClr val="dk1"/>
          </a:effectRef>
          <a:fontRef idx="minor">
            <a:schemeClr val="dk1"/>
          </a:fontRef>
        </p:style>
        <p:txBody>
          <a:bodyPr rtlCol="0" anchor="ctr"/>
          <a:lstStyle/>
          <a:p>
            <a:pPr algn="ctr"/>
            <a:r>
              <a:rPr lang="fr-FR" dirty="0">
                <a:solidFill>
                  <a:srgbClr val="000000"/>
                </a:solidFill>
              </a:rPr>
              <a:t>Grpc Layer</a:t>
            </a:r>
          </a:p>
        </p:txBody>
      </p:sp>
      <p:sp>
        <p:nvSpPr>
          <p:cNvPr id="46" name="Rectangle 45">
            <a:extLst>
              <a:ext uri="{FF2B5EF4-FFF2-40B4-BE49-F238E27FC236}">
                <a16:creationId xmlns:a16="http://schemas.microsoft.com/office/drawing/2014/main" id="{247BDD72-AF92-6019-8A62-93DF485B4C1F}"/>
              </a:ext>
            </a:extLst>
          </p:cNvPr>
          <p:cNvSpPr/>
          <p:nvPr/>
        </p:nvSpPr>
        <p:spPr>
          <a:xfrm rot="16200000">
            <a:off x="4191062" y="2861612"/>
            <a:ext cx="1238257" cy="340073"/>
          </a:xfrm>
          <a:prstGeom prst="rect">
            <a:avLst/>
          </a:prstGeom>
          <a:solidFill>
            <a:srgbClr val="D1FFA1"/>
          </a:solidFill>
          <a:ln/>
        </p:spPr>
        <p:style>
          <a:lnRef idx="0">
            <a:schemeClr val="dk1"/>
          </a:lnRef>
          <a:fillRef idx="3">
            <a:schemeClr val="dk1"/>
          </a:fillRef>
          <a:effectRef idx="3">
            <a:schemeClr val="dk1"/>
          </a:effectRef>
          <a:fontRef idx="minor">
            <a:schemeClr val="lt1"/>
          </a:fontRef>
        </p:style>
        <p:txBody>
          <a:bodyPr rtlCol="0" anchor="ctr"/>
          <a:lstStyle/>
          <a:p>
            <a:pPr algn="ctr"/>
            <a:r>
              <a:rPr lang="fr-FR" sz="1100" dirty="0">
                <a:solidFill>
                  <a:schemeClr val="bg1">
                    <a:lumMod val="10000"/>
                  </a:schemeClr>
                </a:solidFill>
              </a:rPr>
              <a:t>Java Stub Code</a:t>
            </a:r>
            <a:endParaRPr lang="fr-FR" dirty="0">
              <a:solidFill>
                <a:schemeClr val="bg1">
                  <a:lumMod val="10000"/>
                </a:schemeClr>
              </a:solidFill>
            </a:endParaRPr>
          </a:p>
        </p:txBody>
      </p:sp>
      <p:cxnSp>
        <p:nvCxnSpPr>
          <p:cNvPr id="48" name="Connecteur droit avec flèche 47">
            <a:extLst>
              <a:ext uri="{FF2B5EF4-FFF2-40B4-BE49-F238E27FC236}">
                <a16:creationId xmlns:a16="http://schemas.microsoft.com/office/drawing/2014/main" id="{612E4266-8E7D-3CDB-07DE-875A77F410FB}"/>
              </a:ext>
            </a:extLst>
          </p:cNvPr>
          <p:cNvCxnSpPr>
            <a:cxnSpLocks/>
          </p:cNvCxnSpPr>
          <p:nvPr/>
        </p:nvCxnSpPr>
        <p:spPr>
          <a:xfrm>
            <a:off x="7594389" y="2876171"/>
            <a:ext cx="345552"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51" name="Rectangle 50">
            <a:extLst>
              <a:ext uri="{FF2B5EF4-FFF2-40B4-BE49-F238E27FC236}">
                <a16:creationId xmlns:a16="http://schemas.microsoft.com/office/drawing/2014/main" id="{45CF4129-E8C2-4438-0AB4-6E45BADEC25A}"/>
              </a:ext>
            </a:extLst>
          </p:cNvPr>
          <p:cNvSpPr/>
          <p:nvPr/>
        </p:nvSpPr>
        <p:spPr>
          <a:xfrm>
            <a:off x="5120784" y="3176044"/>
            <a:ext cx="981388" cy="242225"/>
          </a:xfrm>
          <a:prstGeom prst="rect">
            <a:avLst/>
          </a:prstGeom>
          <a:solidFill>
            <a:srgbClr val="A369D8"/>
          </a:solidFill>
          <a:ln/>
        </p:spPr>
        <p:style>
          <a:lnRef idx="0">
            <a:schemeClr val="dk1"/>
          </a:lnRef>
          <a:fillRef idx="3">
            <a:schemeClr val="dk1"/>
          </a:fillRef>
          <a:effectRef idx="3">
            <a:schemeClr val="dk1"/>
          </a:effectRef>
          <a:fontRef idx="minor">
            <a:schemeClr val="lt1"/>
          </a:fontRef>
        </p:style>
        <p:txBody>
          <a:bodyPr rtlCol="0" anchor="ctr"/>
          <a:lstStyle/>
          <a:p>
            <a:pPr algn="ctr"/>
            <a:r>
              <a:rPr lang="fr-FR" sz="700" dirty="0">
                <a:solidFill>
                  <a:schemeClr val="bg1">
                    <a:lumMod val="10000"/>
                  </a:schemeClr>
                </a:solidFill>
              </a:rPr>
              <a:t>Grpc Server</a:t>
            </a:r>
            <a:endParaRPr lang="fr-FR" sz="1100" dirty="0">
              <a:solidFill>
                <a:schemeClr val="bg1">
                  <a:lumMod val="10000"/>
                </a:schemeClr>
              </a:solidFill>
            </a:endParaRPr>
          </a:p>
        </p:txBody>
      </p:sp>
      <p:cxnSp>
        <p:nvCxnSpPr>
          <p:cNvPr id="53" name="Connecteur droit avec flèche 52">
            <a:extLst>
              <a:ext uri="{FF2B5EF4-FFF2-40B4-BE49-F238E27FC236}">
                <a16:creationId xmlns:a16="http://schemas.microsoft.com/office/drawing/2014/main" id="{F0B978C8-D5EC-C5AE-B61A-F5E04428E0E2}"/>
              </a:ext>
            </a:extLst>
          </p:cNvPr>
          <p:cNvCxnSpPr>
            <a:cxnSpLocks/>
            <a:stCxn id="19" idx="3"/>
          </p:cNvCxnSpPr>
          <p:nvPr/>
        </p:nvCxnSpPr>
        <p:spPr>
          <a:xfrm>
            <a:off x="6219739" y="1577185"/>
            <a:ext cx="241688" cy="29319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4" name="Connecteur droit avec flèche 53">
            <a:extLst>
              <a:ext uri="{FF2B5EF4-FFF2-40B4-BE49-F238E27FC236}">
                <a16:creationId xmlns:a16="http://schemas.microsoft.com/office/drawing/2014/main" id="{62DE9C1C-EF17-122C-BC97-C658432BD4D0}"/>
              </a:ext>
            </a:extLst>
          </p:cNvPr>
          <p:cNvCxnSpPr>
            <a:cxnSpLocks/>
          </p:cNvCxnSpPr>
          <p:nvPr/>
        </p:nvCxnSpPr>
        <p:spPr>
          <a:xfrm>
            <a:off x="6272593" y="3028571"/>
            <a:ext cx="188834"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56" name="Rectangle 55">
            <a:extLst>
              <a:ext uri="{FF2B5EF4-FFF2-40B4-BE49-F238E27FC236}">
                <a16:creationId xmlns:a16="http://schemas.microsoft.com/office/drawing/2014/main" id="{E3F2AF12-C57E-F8EB-7993-DCFB57F5B35B}"/>
              </a:ext>
            </a:extLst>
          </p:cNvPr>
          <p:cNvSpPr/>
          <p:nvPr/>
        </p:nvSpPr>
        <p:spPr>
          <a:xfrm>
            <a:off x="1351128" y="1577185"/>
            <a:ext cx="1519818" cy="1451386"/>
          </a:xfrm>
          <a:prstGeom prst="rect">
            <a:avLst/>
          </a:prstGeom>
          <a:ln w="3175"/>
        </p:spPr>
        <p:style>
          <a:lnRef idx="2">
            <a:schemeClr val="dk1"/>
          </a:lnRef>
          <a:fillRef idx="1">
            <a:schemeClr val="lt1"/>
          </a:fillRef>
          <a:effectRef idx="0">
            <a:schemeClr val="dk1"/>
          </a:effectRef>
          <a:fontRef idx="minor">
            <a:schemeClr val="dk1"/>
          </a:fontRef>
        </p:style>
        <p:txBody>
          <a:bodyPr rtlCol="0" anchor="ctr"/>
          <a:lstStyle/>
          <a:p>
            <a:pPr algn="ctr"/>
            <a:r>
              <a:rPr lang="fr-FR" dirty="0" err="1"/>
              <a:t>BankServiceClientController</a:t>
            </a:r>
            <a:endParaRPr lang="fr-FR" dirty="0"/>
          </a:p>
        </p:txBody>
      </p:sp>
      <p:sp>
        <p:nvSpPr>
          <p:cNvPr id="58" name="Rectangle 57">
            <a:extLst>
              <a:ext uri="{FF2B5EF4-FFF2-40B4-BE49-F238E27FC236}">
                <a16:creationId xmlns:a16="http://schemas.microsoft.com/office/drawing/2014/main" id="{3BBD58FA-B76A-DB21-B6AD-D174D533F4A5}"/>
              </a:ext>
            </a:extLst>
          </p:cNvPr>
          <p:cNvSpPr/>
          <p:nvPr/>
        </p:nvSpPr>
        <p:spPr>
          <a:xfrm rot="16200000">
            <a:off x="3214102" y="908235"/>
            <a:ext cx="965338" cy="408695"/>
          </a:xfrm>
          <a:prstGeom prst="rect">
            <a:avLst/>
          </a:prstGeom>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err="1"/>
              <a:t>Graphql</a:t>
            </a:r>
            <a:r>
              <a:rPr lang="fr-FR" dirty="0"/>
              <a:t> client</a:t>
            </a:r>
          </a:p>
        </p:txBody>
      </p:sp>
      <p:sp>
        <p:nvSpPr>
          <p:cNvPr id="60" name="Rectangle 59">
            <a:extLst>
              <a:ext uri="{FF2B5EF4-FFF2-40B4-BE49-F238E27FC236}">
                <a16:creationId xmlns:a16="http://schemas.microsoft.com/office/drawing/2014/main" id="{A6B46A60-F6AC-C913-08A6-33D498EEA888}"/>
              </a:ext>
            </a:extLst>
          </p:cNvPr>
          <p:cNvSpPr/>
          <p:nvPr/>
        </p:nvSpPr>
        <p:spPr>
          <a:xfrm rot="16200000">
            <a:off x="3154699" y="2698625"/>
            <a:ext cx="1033949" cy="408695"/>
          </a:xfrm>
          <a:prstGeom prst="rect">
            <a:avLst/>
          </a:prstGeom>
          <a:solidFill>
            <a:srgbClr val="E30000"/>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err="1"/>
              <a:t>gRPC</a:t>
            </a:r>
            <a:r>
              <a:rPr lang="fr-FR" dirty="0"/>
              <a:t> client</a:t>
            </a:r>
          </a:p>
        </p:txBody>
      </p:sp>
      <p:cxnSp>
        <p:nvCxnSpPr>
          <p:cNvPr id="62" name="Connecteur droit avec flèche 61">
            <a:extLst>
              <a:ext uri="{FF2B5EF4-FFF2-40B4-BE49-F238E27FC236}">
                <a16:creationId xmlns:a16="http://schemas.microsoft.com/office/drawing/2014/main" id="{3F846F1C-16BF-21FF-9085-6E1A5E031D81}"/>
              </a:ext>
            </a:extLst>
          </p:cNvPr>
          <p:cNvCxnSpPr/>
          <p:nvPr/>
        </p:nvCxnSpPr>
        <p:spPr>
          <a:xfrm flipV="1">
            <a:off x="2870946" y="1282214"/>
            <a:ext cx="596379" cy="69671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4" name="Connecteur droit avec flèche 63">
            <a:extLst>
              <a:ext uri="{FF2B5EF4-FFF2-40B4-BE49-F238E27FC236}">
                <a16:creationId xmlns:a16="http://schemas.microsoft.com/office/drawing/2014/main" id="{D22AFC76-2D50-38D7-1FB0-6D6CB48008A2}"/>
              </a:ext>
            </a:extLst>
          </p:cNvPr>
          <p:cNvCxnSpPr>
            <a:stCxn id="56" idx="3"/>
            <a:endCxn id="60" idx="0"/>
          </p:cNvCxnSpPr>
          <p:nvPr/>
        </p:nvCxnSpPr>
        <p:spPr>
          <a:xfrm>
            <a:off x="2870946" y="2302878"/>
            <a:ext cx="596380" cy="60009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6" name="Connecteur droit avec flèche 65">
            <a:extLst>
              <a:ext uri="{FF2B5EF4-FFF2-40B4-BE49-F238E27FC236}">
                <a16:creationId xmlns:a16="http://schemas.microsoft.com/office/drawing/2014/main" id="{1F8D4541-DD68-CDBF-CB7E-689EF6368311}"/>
              </a:ext>
            </a:extLst>
          </p:cNvPr>
          <p:cNvCxnSpPr>
            <a:endCxn id="46" idx="0"/>
          </p:cNvCxnSpPr>
          <p:nvPr/>
        </p:nvCxnSpPr>
        <p:spPr>
          <a:xfrm>
            <a:off x="3901119" y="2975215"/>
            <a:ext cx="739035" cy="5643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7" name="Connecteur droit avec flèche 66">
            <a:extLst>
              <a:ext uri="{FF2B5EF4-FFF2-40B4-BE49-F238E27FC236}">
                <a16:creationId xmlns:a16="http://schemas.microsoft.com/office/drawing/2014/main" id="{451979A1-F0E2-91C8-B9A4-84E62789A1E2}"/>
              </a:ext>
            </a:extLst>
          </p:cNvPr>
          <p:cNvCxnSpPr>
            <a:cxnSpLocks/>
          </p:cNvCxnSpPr>
          <p:nvPr/>
        </p:nvCxnSpPr>
        <p:spPr>
          <a:xfrm>
            <a:off x="3942234" y="1112582"/>
            <a:ext cx="677095" cy="2821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pic>
        <p:nvPicPr>
          <p:cNvPr id="8198" name="Picture 6" descr="npm:bloomrpc-mock | Skypack">
            <a:extLst>
              <a:ext uri="{FF2B5EF4-FFF2-40B4-BE49-F238E27FC236}">
                <a16:creationId xmlns:a16="http://schemas.microsoft.com/office/drawing/2014/main" id="{69424542-1456-07FF-FDD8-100927DBB7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59334" y="4178126"/>
            <a:ext cx="943508" cy="943508"/>
          </a:xfrm>
          <a:prstGeom prst="rect">
            <a:avLst/>
          </a:prstGeom>
          <a:noFill/>
          <a:extLst>
            <a:ext uri="{909E8E84-426E-40DD-AFC4-6F175D3DCCD1}">
              <a14:hiddenFill xmlns:a14="http://schemas.microsoft.com/office/drawing/2010/main">
                <a:solidFill>
                  <a:srgbClr val="FFFFFF"/>
                </a:solidFill>
              </a14:hiddenFill>
            </a:ext>
          </a:extLst>
        </p:spPr>
      </p:pic>
      <p:sp>
        <p:nvSpPr>
          <p:cNvPr id="69" name="ZoneTexte 68">
            <a:extLst>
              <a:ext uri="{FF2B5EF4-FFF2-40B4-BE49-F238E27FC236}">
                <a16:creationId xmlns:a16="http://schemas.microsoft.com/office/drawing/2014/main" id="{CA4C97DB-8BA3-4893-D73E-720598EE5C9F}"/>
              </a:ext>
            </a:extLst>
          </p:cNvPr>
          <p:cNvSpPr txBox="1"/>
          <p:nvPr/>
        </p:nvSpPr>
        <p:spPr>
          <a:xfrm>
            <a:off x="5952334" y="4728193"/>
            <a:ext cx="1227379" cy="307777"/>
          </a:xfrm>
          <a:prstGeom prst="rect">
            <a:avLst/>
          </a:prstGeom>
          <a:noFill/>
        </p:spPr>
        <p:txBody>
          <a:bodyPr wrap="square" rtlCol="0">
            <a:spAutoFit/>
          </a:bodyPr>
          <a:lstStyle/>
          <a:p>
            <a:r>
              <a:rPr lang="fr-FR" dirty="0" err="1"/>
              <a:t>BloomRPC</a:t>
            </a:r>
            <a:endParaRPr lang="fr-FR" dirty="0"/>
          </a:p>
        </p:txBody>
      </p:sp>
      <p:cxnSp>
        <p:nvCxnSpPr>
          <p:cNvPr id="71" name="Connecteur droit avec flèche 70">
            <a:extLst>
              <a:ext uri="{FF2B5EF4-FFF2-40B4-BE49-F238E27FC236}">
                <a16:creationId xmlns:a16="http://schemas.microsoft.com/office/drawing/2014/main" id="{B7BE6960-C58D-545F-01EE-FD97C4691442}"/>
              </a:ext>
            </a:extLst>
          </p:cNvPr>
          <p:cNvCxnSpPr>
            <a:stCxn id="8198" idx="0"/>
            <a:endCxn id="44" idx="2"/>
          </p:cNvCxnSpPr>
          <p:nvPr/>
        </p:nvCxnSpPr>
        <p:spPr>
          <a:xfrm flipH="1" flipV="1">
            <a:off x="5626319" y="3630305"/>
            <a:ext cx="4769" cy="54782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pic>
        <p:nvPicPr>
          <p:cNvPr id="8202" name="Picture 10" descr="Altair graphql client - Social media &amp; Logos Icons">
            <a:extLst>
              <a:ext uri="{FF2B5EF4-FFF2-40B4-BE49-F238E27FC236}">
                <a16:creationId xmlns:a16="http://schemas.microsoft.com/office/drawing/2014/main" id="{736E370E-FB4B-5E7C-71DC-48AE15186D5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67273" y="4310799"/>
            <a:ext cx="834788" cy="834788"/>
          </a:xfrm>
          <a:prstGeom prst="rect">
            <a:avLst/>
          </a:prstGeom>
          <a:noFill/>
          <a:extLst>
            <a:ext uri="{909E8E84-426E-40DD-AFC4-6F175D3DCCD1}">
              <a14:hiddenFill xmlns:a14="http://schemas.microsoft.com/office/drawing/2010/main">
                <a:solidFill>
                  <a:srgbClr val="FFFFFF"/>
                </a:solidFill>
              </a14:hiddenFill>
            </a:ext>
          </a:extLst>
        </p:spPr>
      </p:pic>
      <p:cxnSp>
        <p:nvCxnSpPr>
          <p:cNvPr id="73" name="Connecteur droit avec flèche 72">
            <a:extLst>
              <a:ext uri="{FF2B5EF4-FFF2-40B4-BE49-F238E27FC236}">
                <a16:creationId xmlns:a16="http://schemas.microsoft.com/office/drawing/2014/main" id="{AAEF79D1-1D8A-DE22-A03F-785D6763A2E1}"/>
              </a:ext>
            </a:extLst>
          </p:cNvPr>
          <p:cNvCxnSpPr>
            <a:stCxn id="8202" idx="0"/>
            <a:endCxn id="19" idx="1"/>
          </p:cNvCxnSpPr>
          <p:nvPr/>
        </p:nvCxnSpPr>
        <p:spPr>
          <a:xfrm flipV="1">
            <a:off x="3984667" y="1577185"/>
            <a:ext cx="702942" cy="273361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74" name="ZoneTexte 73">
            <a:extLst>
              <a:ext uri="{FF2B5EF4-FFF2-40B4-BE49-F238E27FC236}">
                <a16:creationId xmlns:a16="http://schemas.microsoft.com/office/drawing/2014/main" id="{90A5450B-F29C-7253-4EF4-017CC2D922A3}"/>
              </a:ext>
            </a:extLst>
          </p:cNvPr>
          <p:cNvSpPr txBox="1"/>
          <p:nvPr/>
        </p:nvSpPr>
        <p:spPr>
          <a:xfrm>
            <a:off x="2927893" y="4614488"/>
            <a:ext cx="707664" cy="307777"/>
          </a:xfrm>
          <a:prstGeom prst="rect">
            <a:avLst/>
          </a:prstGeom>
          <a:noFill/>
        </p:spPr>
        <p:txBody>
          <a:bodyPr wrap="square" rtlCol="0">
            <a:spAutoFit/>
          </a:bodyPr>
          <a:lstStyle/>
          <a:p>
            <a:r>
              <a:rPr lang="fr-FR" dirty="0"/>
              <a:t>Altair</a:t>
            </a:r>
          </a:p>
        </p:txBody>
      </p:sp>
      <p:sp>
        <p:nvSpPr>
          <p:cNvPr id="75" name="Rectangle 74">
            <a:extLst>
              <a:ext uri="{FF2B5EF4-FFF2-40B4-BE49-F238E27FC236}">
                <a16:creationId xmlns:a16="http://schemas.microsoft.com/office/drawing/2014/main" id="{9DAFEFA4-C6F8-D2BD-5989-1314F8C6402E}"/>
              </a:ext>
            </a:extLst>
          </p:cNvPr>
          <p:cNvSpPr/>
          <p:nvPr/>
        </p:nvSpPr>
        <p:spPr>
          <a:xfrm rot="16200000">
            <a:off x="-72747" y="1988686"/>
            <a:ext cx="965338" cy="408695"/>
          </a:xfrm>
          <a:prstGeom prst="rect">
            <a:avLst/>
          </a:prstGeom>
          <a:solidFill>
            <a:schemeClr val="tx1">
              <a:lumMod val="75000"/>
              <a:lumOff val="25000"/>
            </a:schemeClr>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REST Client</a:t>
            </a:r>
          </a:p>
        </p:txBody>
      </p:sp>
      <p:cxnSp>
        <p:nvCxnSpPr>
          <p:cNvPr id="77" name="Connecteur droit avec flèche 76">
            <a:extLst>
              <a:ext uri="{FF2B5EF4-FFF2-40B4-BE49-F238E27FC236}">
                <a16:creationId xmlns:a16="http://schemas.microsoft.com/office/drawing/2014/main" id="{008B3DAC-2A20-9EFA-4C90-A7843CE1E7A4}"/>
              </a:ext>
            </a:extLst>
          </p:cNvPr>
          <p:cNvCxnSpPr/>
          <p:nvPr/>
        </p:nvCxnSpPr>
        <p:spPr>
          <a:xfrm>
            <a:off x="634621" y="1932803"/>
            <a:ext cx="71650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79" name="Connecteur droit avec flèche 78">
            <a:extLst>
              <a:ext uri="{FF2B5EF4-FFF2-40B4-BE49-F238E27FC236}">
                <a16:creationId xmlns:a16="http://schemas.microsoft.com/office/drawing/2014/main" id="{8C7CCA98-566E-538F-AFEE-116380A9830B}"/>
              </a:ext>
            </a:extLst>
          </p:cNvPr>
          <p:cNvCxnSpPr/>
          <p:nvPr/>
        </p:nvCxnSpPr>
        <p:spPr>
          <a:xfrm flipH="1">
            <a:off x="600622" y="2439058"/>
            <a:ext cx="750506"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80" name="ZoneTexte 79">
            <a:extLst>
              <a:ext uri="{FF2B5EF4-FFF2-40B4-BE49-F238E27FC236}">
                <a16:creationId xmlns:a16="http://schemas.microsoft.com/office/drawing/2014/main" id="{29A3A44D-9889-288B-C9BF-33B14CDBFD13}"/>
              </a:ext>
            </a:extLst>
          </p:cNvPr>
          <p:cNvSpPr txBox="1"/>
          <p:nvPr/>
        </p:nvSpPr>
        <p:spPr>
          <a:xfrm>
            <a:off x="714110" y="1977393"/>
            <a:ext cx="486818" cy="461665"/>
          </a:xfrm>
          <a:prstGeom prst="rect">
            <a:avLst/>
          </a:prstGeom>
          <a:noFill/>
        </p:spPr>
        <p:txBody>
          <a:bodyPr wrap="square" rtlCol="0">
            <a:spAutoFit/>
          </a:bodyPr>
          <a:lstStyle/>
          <a:p>
            <a:r>
              <a:rPr lang="fr-FR" sz="1200" dirty="0"/>
              <a:t>http </a:t>
            </a:r>
            <a:r>
              <a:rPr lang="fr-FR" sz="1200" dirty="0" err="1"/>
              <a:t>json</a:t>
            </a:r>
            <a:endParaRPr lang="fr-FR" dirty="0"/>
          </a:p>
        </p:txBody>
      </p:sp>
      <p:sp>
        <p:nvSpPr>
          <p:cNvPr id="81" name="Google Shape;523;p54">
            <a:extLst>
              <a:ext uri="{FF2B5EF4-FFF2-40B4-BE49-F238E27FC236}">
                <a16:creationId xmlns:a16="http://schemas.microsoft.com/office/drawing/2014/main" id="{DB8D0ADA-A885-6BC7-D6F1-40286B22594C}"/>
              </a:ext>
            </a:extLst>
          </p:cNvPr>
          <p:cNvSpPr txBox="1">
            <a:spLocks/>
          </p:cNvSpPr>
          <p:nvPr/>
        </p:nvSpPr>
        <p:spPr>
          <a:xfrm>
            <a:off x="1937983" y="-51593"/>
            <a:ext cx="3316406" cy="47641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1pPr>
            <a:lvl2pPr marR="0" lvl="1" algn="ctr"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2pPr>
            <a:lvl3pPr marR="0" lvl="2" algn="ctr"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3pPr>
            <a:lvl4pPr marR="0" lvl="3" algn="ctr"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4pPr>
            <a:lvl5pPr marR="0" lvl="4" algn="ctr"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5pPr>
            <a:lvl6pPr marR="0" lvl="5" algn="ctr"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6pPr>
            <a:lvl7pPr marR="0" lvl="6" algn="ctr"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7pPr>
            <a:lvl8pPr marR="0" lvl="7" algn="ctr"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8pPr>
            <a:lvl9pPr marR="0" lvl="8" algn="ctr"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9pPr>
          </a:lstStyle>
          <a:p>
            <a:r>
              <a:rPr lang="fr-FR" sz="1400" dirty="0"/>
              <a:t>Architecture</a:t>
            </a:r>
          </a:p>
        </p:txBody>
      </p:sp>
      <p:sp>
        <p:nvSpPr>
          <p:cNvPr id="2" name="Rectangle 1">
            <a:extLst>
              <a:ext uri="{FF2B5EF4-FFF2-40B4-BE49-F238E27FC236}">
                <a16:creationId xmlns:a16="http://schemas.microsoft.com/office/drawing/2014/main" id="{E4BEED4B-5E21-2A13-DAB4-64F5DE655C4F}"/>
              </a:ext>
            </a:extLst>
          </p:cNvPr>
          <p:cNvSpPr/>
          <p:nvPr/>
        </p:nvSpPr>
        <p:spPr>
          <a:xfrm rot="16550625">
            <a:off x="6427170" y="2886232"/>
            <a:ext cx="981388" cy="242225"/>
          </a:xfrm>
          <a:prstGeom prst="rect">
            <a:avLst/>
          </a:prstGeom>
          <a:solidFill>
            <a:srgbClr val="B9EFFF"/>
          </a:solidFill>
          <a:ln/>
        </p:spPr>
        <p:style>
          <a:lnRef idx="0">
            <a:schemeClr val="dk1"/>
          </a:lnRef>
          <a:fillRef idx="3">
            <a:schemeClr val="dk1"/>
          </a:fillRef>
          <a:effectRef idx="3">
            <a:schemeClr val="dk1"/>
          </a:effectRef>
          <a:fontRef idx="minor">
            <a:schemeClr val="lt1"/>
          </a:fontRef>
        </p:style>
        <p:txBody>
          <a:bodyPr rtlCol="0" anchor="ctr"/>
          <a:lstStyle/>
          <a:p>
            <a:pPr algn="ctr"/>
            <a:r>
              <a:rPr lang="fr-FR" sz="700" dirty="0" err="1">
                <a:solidFill>
                  <a:schemeClr val="bg1">
                    <a:lumMod val="10000"/>
                  </a:schemeClr>
                </a:solidFill>
              </a:rPr>
              <a:t>AccountReopsitory</a:t>
            </a:r>
            <a:endParaRPr lang="fr-FR" sz="1100" dirty="0">
              <a:solidFill>
                <a:schemeClr val="bg1">
                  <a:lumMod val="10000"/>
                </a:schemeClr>
              </a:solidFill>
            </a:endParaRPr>
          </a:p>
        </p:txBody>
      </p:sp>
      <p:sp>
        <p:nvSpPr>
          <p:cNvPr id="5" name="Rectangle 4">
            <a:extLst>
              <a:ext uri="{FF2B5EF4-FFF2-40B4-BE49-F238E27FC236}">
                <a16:creationId xmlns:a16="http://schemas.microsoft.com/office/drawing/2014/main" id="{E2A95D75-8D54-DB0D-1AD6-982217A0CC2E}"/>
              </a:ext>
            </a:extLst>
          </p:cNvPr>
          <p:cNvSpPr/>
          <p:nvPr/>
        </p:nvSpPr>
        <p:spPr>
          <a:xfrm rot="16550625">
            <a:off x="6592673" y="2841767"/>
            <a:ext cx="1340579" cy="242225"/>
          </a:xfrm>
          <a:prstGeom prst="rect">
            <a:avLst/>
          </a:prstGeom>
          <a:solidFill>
            <a:srgbClr val="B9EFFF"/>
          </a:solidFill>
          <a:ln/>
        </p:spPr>
        <p:style>
          <a:lnRef idx="0">
            <a:schemeClr val="dk1"/>
          </a:lnRef>
          <a:fillRef idx="3">
            <a:schemeClr val="dk1"/>
          </a:fillRef>
          <a:effectRef idx="3">
            <a:schemeClr val="dk1"/>
          </a:effectRef>
          <a:fontRef idx="minor">
            <a:schemeClr val="lt1"/>
          </a:fontRef>
        </p:style>
        <p:txBody>
          <a:bodyPr rtlCol="0" anchor="ctr"/>
          <a:lstStyle/>
          <a:p>
            <a:pPr algn="ctr"/>
            <a:r>
              <a:rPr lang="fr-FR" sz="700" dirty="0" err="1">
                <a:solidFill>
                  <a:schemeClr val="bg1">
                    <a:lumMod val="10000"/>
                  </a:schemeClr>
                </a:solidFill>
              </a:rPr>
              <a:t>TransactionReopsitory</a:t>
            </a:r>
            <a:endParaRPr lang="fr-FR" sz="1100" dirty="0">
              <a:solidFill>
                <a:schemeClr val="bg1">
                  <a:lumMod val="10000"/>
                </a:schemeClr>
              </a:solidFill>
            </a:endParaRPr>
          </a:p>
        </p:txBody>
      </p:sp>
    </p:spTree>
    <p:extLst>
      <p:ext uri="{BB962C8B-B14F-4D97-AF65-F5344CB8AC3E}">
        <p14:creationId xmlns:p14="http://schemas.microsoft.com/office/powerpoint/2010/main" val="28601912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91">
          <a:extLst>
            <a:ext uri="{FF2B5EF4-FFF2-40B4-BE49-F238E27FC236}">
              <a16:creationId xmlns:a16="http://schemas.microsoft.com/office/drawing/2014/main" id="{ED388BE0-BE39-F26C-1464-7EB8BC87784E}"/>
            </a:ext>
          </a:extLst>
        </p:cNvPr>
        <p:cNvGrpSpPr/>
        <p:nvPr/>
      </p:nvGrpSpPr>
      <p:grpSpPr>
        <a:xfrm>
          <a:off x="0" y="0"/>
          <a:ext cx="0" cy="0"/>
          <a:chOff x="0" y="0"/>
          <a:chExt cx="0" cy="0"/>
        </a:xfrm>
      </p:grpSpPr>
      <p:sp>
        <p:nvSpPr>
          <p:cNvPr id="492" name="Google Shape;492;p52">
            <a:extLst>
              <a:ext uri="{FF2B5EF4-FFF2-40B4-BE49-F238E27FC236}">
                <a16:creationId xmlns:a16="http://schemas.microsoft.com/office/drawing/2014/main" id="{2498050D-B75D-8D6B-C221-5511DBC42DFD}"/>
              </a:ext>
            </a:extLst>
          </p:cNvPr>
          <p:cNvSpPr txBox="1">
            <a:spLocks noGrp="1"/>
          </p:cNvSpPr>
          <p:nvPr>
            <p:ph type="title"/>
          </p:nvPr>
        </p:nvSpPr>
        <p:spPr>
          <a:xfrm>
            <a:off x="377965" y="1999050"/>
            <a:ext cx="7704000" cy="572700"/>
          </a:xfrm>
          <a:prstGeom prst="rect">
            <a:avLst/>
          </a:prstGeom>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dirty="0"/>
              <a:t>Live-Demo</a:t>
            </a:r>
            <a:endParaRPr dirty="0"/>
          </a:p>
        </p:txBody>
      </p:sp>
    </p:spTree>
    <p:extLst>
      <p:ext uri="{BB962C8B-B14F-4D97-AF65-F5344CB8AC3E}">
        <p14:creationId xmlns:p14="http://schemas.microsoft.com/office/powerpoint/2010/main" val="22566406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91">
          <a:extLst>
            <a:ext uri="{FF2B5EF4-FFF2-40B4-BE49-F238E27FC236}">
              <a16:creationId xmlns:a16="http://schemas.microsoft.com/office/drawing/2014/main" id="{4C9FB34B-C92D-19AD-D03C-B5EF51DCB95F}"/>
            </a:ext>
          </a:extLst>
        </p:cNvPr>
        <p:cNvGrpSpPr/>
        <p:nvPr/>
      </p:nvGrpSpPr>
      <p:grpSpPr>
        <a:xfrm>
          <a:off x="0" y="0"/>
          <a:ext cx="0" cy="0"/>
          <a:chOff x="0" y="0"/>
          <a:chExt cx="0" cy="0"/>
        </a:xfrm>
      </p:grpSpPr>
      <p:sp>
        <p:nvSpPr>
          <p:cNvPr id="492" name="Google Shape;492;p52">
            <a:extLst>
              <a:ext uri="{FF2B5EF4-FFF2-40B4-BE49-F238E27FC236}">
                <a16:creationId xmlns:a16="http://schemas.microsoft.com/office/drawing/2014/main" id="{4E886446-E869-7136-9EE2-7BB5B4E83D88}"/>
              </a:ext>
            </a:extLst>
          </p:cNvPr>
          <p:cNvSpPr txBox="1">
            <a:spLocks noGrp="1"/>
          </p:cNvSpPr>
          <p:nvPr>
            <p:ph type="title"/>
          </p:nvPr>
        </p:nvSpPr>
        <p:spPr>
          <a:xfrm>
            <a:off x="59128" y="681592"/>
            <a:ext cx="7704000" cy="572700"/>
          </a:xfrm>
          <a:prstGeom prst="rect">
            <a:avLst/>
          </a:prstGeom>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dirty="0"/>
              <a:t>Fazit</a:t>
            </a:r>
            <a:endParaRPr dirty="0"/>
          </a:p>
        </p:txBody>
      </p:sp>
      <p:sp>
        <p:nvSpPr>
          <p:cNvPr id="2" name="Google Shape;493;p32">
            <a:extLst>
              <a:ext uri="{FF2B5EF4-FFF2-40B4-BE49-F238E27FC236}">
                <a16:creationId xmlns:a16="http://schemas.microsoft.com/office/drawing/2014/main" id="{25EA6085-F3C6-DF95-557D-0F6B678C5F80}"/>
              </a:ext>
            </a:extLst>
          </p:cNvPr>
          <p:cNvSpPr txBox="1">
            <a:spLocks/>
          </p:cNvSpPr>
          <p:nvPr/>
        </p:nvSpPr>
        <p:spPr>
          <a:xfrm>
            <a:off x="539705" y="1254292"/>
            <a:ext cx="3766164" cy="3376258"/>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fr-FR" sz="1200" b="1" dirty="0" err="1">
                <a:latin typeface="Calibri Light" panose="020F0302020204030204" pitchFamily="34" charset="0"/>
                <a:ea typeface="Calibri Light" panose="020F0302020204030204" pitchFamily="34" charset="0"/>
                <a:cs typeface="Calibri Light" panose="020F0302020204030204" pitchFamily="34" charset="0"/>
              </a:rPr>
              <a:t>gRPC</a:t>
            </a:r>
            <a:br>
              <a:rPr lang="fr-FR" sz="1200" dirty="0">
                <a:latin typeface="Calibri Light" panose="020F0302020204030204" pitchFamily="34" charset="0"/>
                <a:ea typeface="Calibri Light" panose="020F0302020204030204" pitchFamily="34" charset="0"/>
                <a:cs typeface="Calibri Light" panose="020F0302020204030204" pitchFamily="34" charset="0"/>
              </a:rPr>
            </a:br>
            <a:endParaRPr lang="fr-FR" sz="1200" dirty="0">
              <a:latin typeface="Calibri Light" panose="020F0302020204030204" pitchFamily="34" charset="0"/>
              <a:ea typeface="Calibri Light" panose="020F0302020204030204" pitchFamily="34" charset="0"/>
              <a:cs typeface="Calibri Light" panose="020F0302020204030204" pitchFamily="34" charset="0"/>
            </a:endParaRPr>
          </a:p>
          <a:p>
            <a:r>
              <a:rPr lang="fr-FR" sz="1200" dirty="0" err="1">
                <a:latin typeface="Calibri Light" panose="020F0302020204030204" pitchFamily="34" charset="0"/>
                <a:ea typeface="Calibri Light" panose="020F0302020204030204" pitchFamily="34" charset="0"/>
                <a:cs typeface="Calibri Light" panose="020F0302020204030204" pitchFamily="34" charset="0"/>
              </a:rPr>
              <a:t>Erstellt</a:t>
            </a:r>
            <a:r>
              <a:rPr lang="fr-FR" sz="1200" dirty="0">
                <a:latin typeface="Calibri Light" panose="020F0302020204030204" pitchFamily="34" charset="0"/>
                <a:ea typeface="Calibri Light" panose="020F0302020204030204" pitchFamily="34" charset="0"/>
                <a:cs typeface="Calibri Light" panose="020F0302020204030204" pitchFamily="34" charset="0"/>
              </a:rPr>
              <a:t> von: Google (2015)</a:t>
            </a:r>
          </a:p>
          <a:p>
            <a:r>
              <a:rPr lang="fr-FR" sz="1200" dirty="0" err="1">
                <a:latin typeface="Calibri Light" panose="020F0302020204030204" pitchFamily="34" charset="0"/>
                <a:ea typeface="Calibri Light" panose="020F0302020204030204" pitchFamily="34" charset="0"/>
                <a:cs typeface="Calibri Light" panose="020F0302020204030204" pitchFamily="34" charset="0"/>
              </a:rPr>
              <a:t>Basierend</a:t>
            </a:r>
            <a:r>
              <a:rPr lang="fr-FR" sz="1200" dirty="0">
                <a:latin typeface="Calibri Light" panose="020F0302020204030204" pitchFamily="34" charset="0"/>
                <a:ea typeface="Calibri Light" panose="020F0302020204030204" pitchFamily="34" charset="0"/>
                <a:cs typeface="Calibri Light" panose="020F0302020204030204" pitchFamily="34" charset="0"/>
              </a:rPr>
              <a:t>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auf</a:t>
            </a:r>
            <a:r>
              <a:rPr lang="fr-FR" sz="1200" dirty="0">
                <a:latin typeface="Calibri Light" panose="020F0302020204030204" pitchFamily="34" charset="0"/>
                <a:ea typeface="Calibri Light" panose="020F0302020204030204" pitchFamily="34" charset="0"/>
                <a:cs typeface="Calibri Light" panose="020F0302020204030204" pitchFamily="34" charset="0"/>
              </a:rPr>
              <a:t>: HTTP/2 + Protobuf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binäres</a:t>
            </a:r>
            <a:r>
              <a:rPr lang="fr-FR" sz="1200" dirty="0">
                <a:latin typeface="Calibri Light" panose="020F0302020204030204" pitchFamily="34" charset="0"/>
                <a:ea typeface="Calibri Light" panose="020F0302020204030204" pitchFamily="34" charset="0"/>
                <a:cs typeface="Calibri Light" panose="020F0302020204030204" pitchFamily="34" charset="0"/>
              </a:rPr>
              <a:t> Format)</a:t>
            </a:r>
          </a:p>
          <a:p>
            <a:r>
              <a:rPr lang="fr-FR" sz="1200" dirty="0" err="1">
                <a:latin typeface="Calibri Light" panose="020F0302020204030204" pitchFamily="34" charset="0"/>
                <a:ea typeface="Calibri Light" panose="020F0302020204030204" pitchFamily="34" charset="0"/>
                <a:cs typeface="Calibri Light" panose="020F0302020204030204" pitchFamily="34" charset="0"/>
              </a:rPr>
              <a:t>Kommunikation</a:t>
            </a:r>
            <a:r>
              <a:rPr lang="fr-FR" sz="1200" dirty="0">
                <a:latin typeface="Calibri Light" panose="020F0302020204030204" pitchFamily="34" charset="0"/>
                <a:ea typeface="Calibri Light" panose="020F0302020204030204" pitchFamily="34" charset="0"/>
                <a:cs typeface="Calibri Light" panose="020F0302020204030204" pitchFamily="34" charset="0"/>
              </a:rPr>
              <a:t>: Sehr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schnell</a:t>
            </a:r>
            <a:r>
              <a:rPr lang="fr-FR" sz="1200" dirty="0">
                <a:latin typeface="Calibri Light" panose="020F0302020204030204" pitchFamily="34" charset="0"/>
                <a:ea typeface="Calibri Light" panose="020F0302020204030204" pitchFamily="34" charset="0"/>
                <a:cs typeface="Calibri Light" panose="020F0302020204030204" pitchFamily="34" charset="0"/>
              </a:rPr>
              <a:t>,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effizient</a:t>
            </a:r>
            <a:r>
              <a:rPr lang="fr-FR" sz="1200" dirty="0">
                <a:latin typeface="Calibri Light" panose="020F0302020204030204" pitchFamily="34" charset="0"/>
                <a:ea typeface="Calibri Light" panose="020F0302020204030204" pitchFamily="34" charset="0"/>
                <a:cs typeface="Calibri Light" panose="020F0302020204030204" pitchFamily="34" charset="0"/>
              </a:rPr>
              <a:t>,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unterstützt</a:t>
            </a:r>
            <a:r>
              <a:rPr lang="fr-FR" sz="1200" dirty="0">
                <a:latin typeface="Calibri Light" panose="020F0302020204030204" pitchFamily="34" charset="0"/>
                <a:ea typeface="Calibri Light" panose="020F0302020204030204" pitchFamily="34" charset="0"/>
                <a:cs typeface="Calibri Light" panose="020F0302020204030204" pitchFamily="34" charset="0"/>
              </a:rPr>
              <a:t> Streaming (Client-, Server-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und</a:t>
            </a:r>
            <a:r>
              <a:rPr lang="fr-FR" sz="1200" dirty="0">
                <a:latin typeface="Calibri Light" panose="020F0302020204030204" pitchFamily="34" charset="0"/>
                <a:ea typeface="Calibri Light" panose="020F0302020204030204" pitchFamily="34" charset="0"/>
                <a:cs typeface="Calibri Light" panose="020F0302020204030204" pitchFamily="34" charset="0"/>
              </a:rPr>
              <a:t>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bidirektionales</a:t>
            </a:r>
            <a:r>
              <a:rPr lang="fr-FR" sz="1200" dirty="0">
                <a:latin typeface="Calibri Light" panose="020F0302020204030204" pitchFamily="34" charset="0"/>
                <a:ea typeface="Calibri Light" panose="020F0302020204030204" pitchFamily="34" charset="0"/>
                <a:cs typeface="Calibri Light" panose="020F0302020204030204" pitchFamily="34" charset="0"/>
              </a:rPr>
              <a:t> Streaming)</a:t>
            </a:r>
          </a:p>
          <a:p>
            <a:r>
              <a:rPr lang="fr-FR" sz="1200" dirty="0" err="1">
                <a:latin typeface="Calibri Light" panose="020F0302020204030204" pitchFamily="34" charset="0"/>
                <a:ea typeface="Calibri Light" panose="020F0302020204030204" pitchFamily="34" charset="0"/>
                <a:cs typeface="Calibri Light" panose="020F0302020204030204" pitchFamily="34" charset="0"/>
              </a:rPr>
              <a:t>Verwendet</a:t>
            </a:r>
            <a:r>
              <a:rPr lang="fr-FR" sz="1200" dirty="0">
                <a:latin typeface="Calibri Light" panose="020F0302020204030204" pitchFamily="34" charset="0"/>
                <a:ea typeface="Calibri Light" panose="020F0302020204030204" pitchFamily="34" charset="0"/>
                <a:cs typeface="Calibri Light" panose="020F0302020204030204" pitchFamily="34" charset="0"/>
              </a:rPr>
              <a:t>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für</a:t>
            </a:r>
            <a:r>
              <a:rPr lang="fr-FR" sz="1200" dirty="0">
                <a:latin typeface="Calibri Light" panose="020F0302020204030204" pitchFamily="34" charset="0"/>
                <a:ea typeface="Calibri Light" panose="020F0302020204030204" pitchFamily="34" charset="0"/>
                <a:cs typeface="Calibri Light" panose="020F0302020204030204" pitchFamily="34" charset="0"/>
              </a:rPr>
              <a:t>: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Kommunikation</a:t>
            </a:r>
            <a:r>
              <a:rPr lang="fr-FR" sz="1200" dirty="0">
                <a:latin typeface="Calibri Light" panose="020F0302020204030204" pitchFamily="34" charset="0"/>
                <a:ea typeface="Calibri Light" panose="020F0302020204030204" pitchFamily="34" charset="0"/>
                <a:cs typeface="Calibri Light" panose="020F0302020204030204" pitchFamily="34" charset="0"/>
              </a:rPr>
              <a:t>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zwischen</a:t>
            </a:r>
            <a:r>
              <a:rPr lang="fr-FR" sz="1200" dirty="0">
                <a:latin typeface="Calibri Light" panose="020F0302020204030204" pitchFamily="34" charset="0"/>
                <a:ea typeface="Calibri Light" panose="020F0302020204030204" pitchFamily="34" charset="0"/>
                <a:cs typeface="Calibri Light" panose="020F0302020204030204" pitchFamily="34" charset="0"/>
              </a:rPr>
              <a:t>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Microservices</a:t>
            </a:r>
            <a:r>
              <a:rPr lang="fr-FR" sz="1200" dirty="0">
                <a:latin typeface="Calibri Light" panose="020F0302020204030204" pitchFamily="34" charset="0"/>
                <a:ea typeface="Calibri Light" panose="020F0302020204030204" pitchFamily="34" charset="0"/>
                <a:cs typeface="Calibri Light" panose="020F0302020204030204" pitchFamily="34" charset="0"/>
              </a:rPr>
              <a:t>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oder</a:t>
            </a:r>
            <a:r>
              <a:rPr lang="fr-FR" sz="1200" dirty="0">
                <a:latin typeface="Calibri Light" panose="020F0302020204030204" pitchFamily="34" charset="0"/>
                <a:ea typeface="Calibri Light" panose="020F0302020204030204" pitchFamily="34" charset="0"/>
                <a:cs typeface="Calibri Light" panose="020F0302020204030204" pitchFamily="34" charset="0"/>
              </a:rPr>
              <a:t>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zwischen</a:t>
            </a:r>
            <a:r>
              <a:rPr lang="fr-FR" sz="1200" dirty="0">
                <a:latin typeface="Calibri Light" panose="020F0302020204030204" pitchFamily="34" charset="0"/>
                <a:ea typeface="Calibri Light" panose="020F0302020204030204" pitchFamily="34" charset="0"/>
                <a:cs typeface="Calibri Light" panose="020F0302020204030204" pitchFamily="34" charset="0"/>
              </a:rPr>
              <a:t> Backend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und</a:t>
            </a:r>
            <a:r>
              <a:rPr lang="fr-FR" sz="1200" dirty="0">
                <a:latin typeface="Calibri Light" panose="020F0302020204030204" pitchFamily="34" charset="0"/>
                <a:ea typeface="Calibri Light" panose="020F0302020204030204" pitchFamily="34" charset="0"/>
                <a:cs typeface="Calibri Light" panose="020F0302020204030204" pitchFamily="34" charset="0"/>
              </a:rPr>
              <a:t> Frontend in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leistungsintensiven</a:t>
            </a:r>
            <a:r>
              <a:rPr lang="fr-FR" sz="1200" dirty="0">
                <a:latin typeface="Calibri Light" panose="020F0302020204030204" pitchFamily="34" charset="0"/>
                <a:ea typeface="Calibri Light" panose="020F0302020204030204" pitchFamily="34" charset="0"/>
                <a:cs typeface="Calibri Light" panose="020F0302020204030204" pitchFamily="34" charset="0"/>
              </a:rPr>
              <a:t>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Umgebungen</a:t>
            </a:r>
            <a:br>
              <a:rPr lang="fr-FR" sz="1200" dirty="0">
                <a:latin typeface="Calibri Light" panose="020F0302020204030204" pitchFamily="34" charset="0"/>
                <a:ea typeface="Calibri Light" panose="020F0302020204030204" pitchFamily="34" charset="0"/>
                <a:cs typeface="Calibri Light" panose="020F0302020204030204" pitchFamily="34" charset="0"/>
              </a:rPr>
            </a:br>
            <a:endParaRPr lang="fr-FR" sz="1200" dirty="0">
              <a:latin typeface="Calibri Light" panose="020F0302020204030204" pitchFamily="34" charset="0"/>
              <a:ea typeface="Calibri Light" panose="020F0302020204030204" pitchFamily="34" charset="0"/>
              <a:cs typeface="Calibri Light" panose="020F0302020204030204" pitchFamily="34" charset="0"/>
            </a:endParaRPr>
          </a:p>
          <a:p>
            <a:r>
              <a:rPr lang="fr-FR" sz="1200" b="1" dirty="0" err="1">
                <a:latin typeface="Calibri Light" panose="020F0302020204030204" pitchFamily="34" charset="0"/>
                <a:ea typeface="Calibri Light" panose="020F0302020204030204" pitchFamily="34" charset="0"/>
                <a:cs typeface="Calibri Light" panose="020F0302020204030204" pitchFamily="34" charset="0"/>
              </a:rPr>
              <a:t>Anwendungszenarien</a:t>
            </a:r>
            <a:endParaRPr lang="fr-FR" sz="1200" b="1" dirty="0">
              <a:latin typeface="Calibri Light" panose="020F0302020204030204" pitchFamily="34" charset="0"/>
              <a:ea typeface="Calibri Light" panose="020F0302020204030204" pitchFamily="34" charset="0"/>
              <a:cs typeface="Calibri Light" panose="020F0302020204030204" pitchFamily="34" charset="0"/>
            </a:endParaRPr>
          </a:p>
          <a:p>
            <a:r>
              <a:rPr lang="fr-FR" sz="1200" dirty="0" err="1">
                <a:latin typeface="Calibri Light" panose="020F0302020204030204" pitchFamily="34" charset="0"/>
                <a:ea typeface="Calibri Light" panose="020F0302020204030204" pitchFamily="34" charset="0"/>
                <a:cs typeface="Calibri Light" panose="020F0302020204030204" pitchFamily="34" charset="0"/>
              </a:rPr>
              <a:t>Verteilte</a:t>
            </a:r>
            <a:r>
              <a:rPr lang="fr-FR" sz="1200" dirty="0">
                <a:latin typeface="Calibri Light" panose="020F0302020204030204" pitchFamily="34" charset="0"/>
                <a:ea typeface="Calibri Light" panose="020F0302020204030204" pitchFamily="34" charset="0"/>
                <a:cs typeface="Calibri Light" panose="020F0302020204030204" pitchFamily="34" charset="0"/>
              </a:rPr>
              <a:t>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Systeme</a:t>
            </a:r>
            <a:r>
              <a:rPr lang="fr-FR" sz="1200" dirty="0">
                <a:latin typeface="Calibri Light" panose="020F0302020204030204" pitchFamily="34" charset="0"/>
                <a:ea typeface="Calibri Light" panose="020F0302020204030204" pitchFamily="34" charset="0"/>
                <a:cs typeface="Calibri Light" panose="020F0302020204030204" pitchFamily="34" charset="0"/>
              </a:rPr>
              <a:t>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und</a:t>
            </a:r>
            <a:r>
              <a:rPr lang="fr-FR" sz="1200" dirty="0">
                <a:latin typeface="Calibri Light" panose="020F0302020204030204" pitchFamily="34" charset="0"/>
                <a:ea typeface="Calibri Light" panose="020F0302020204030204" pitchFamily="34" charset="0"/>
                <a:cs typeface="Calibri Light" panose="020F0302020204030204" pitchFamily="34" charset="0"/>
              </a:rPr>
              <a:t>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Microservices</a:t>
            </a:r>
            <a:endParaRPr lang="fr-FR" sz="1200" dirty="0">
              <a:latin typeface="Calibri Light" panose="020F0302020204030204" pitchFamily="34" charset="0"/>
              <a:ea typeface="Calibri Light" panose="020F0302020204030204" pitchFamily="34" charset="0"/>
              <a:cs typeface="Calibri Light" panose="020F0302020204030204" pitchFamily="34" charset="0"/>
            </a:endParaRPr>
          </a:p>
          <a:p>
            <a:r>
              <a:rPr lang="fr-FR" sz="1200" dirty="0" err="1">
                <a:latin typeface="Calibri Light" panose="020F0302020204030204" pitchFamily="34" charset="0"/>
                <a:ea typeface="Calibri Light" panose="020F0302020204030204" pitchFamily="34" charset="0"/>
                <a:cs typeface="Calibri Light" panose="020F0302020204030204" pitchFamily="34" charset="0"/>
              </a:rPr>
              <a:t>Echtzeitanwendungen</a:t>
            </a:r>
            <a:r>
              <a:rPr lang="fr-FR" sz="1200" dirty="0">
                <a:latin typeface="Calibri Light" panose="020F0302020204030204" pitchFamily="34" charset="0"/>
                <a:ea typeface="Calibri Light" panose="020F0302020204030204" pitchFamily="34" charset="0"/>
                <a:cs typeface="Calibri Light" panose="020F0302020204030204" pitchFamily="34" charset="0"/>
              </a:rPr>
              <a:t> (z. B. IoT, Chat, Streaming)</a:t>
            </a:r>
          </a:p>
          <a:p>
            <a:r>
              <a:rPr lang="fr-FR" sz="1200" dirty="0" err="1">
                <a:latin typeface="Calibri Light" panose="020F0302020204030204" pitchFamily="34" charset="0"/>
                <a:ea typeface="Calibri Light" panose="020F0302020204030204" pitchFamily="34" charset="0"/>
                <a:cs typeface="Calibri Light" panose="020F0302020204030204" pitchFamily="34" charset="0"/>
              </a:rPr>
              <a:t>Kommunikation</a:t>
            </a:r>
            <a:r>
              <a:rPr lang="fr-FR" sz="1200" dirty="0">
                <a:latin typeface="Calibri Light" panose="020F0302020204030204" pitchFamily="34" charset="0"/>
                <a:ea typeface="Calibri Light" panose="020F0302020204030204" pitchFamily="34" charset="0"/>
                <a:cs typeface="Calibri Light" panose="020F0302020204030204" pitchFamily="34" charset="0"/>
              </a:rPr>
              <a:t>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zwischen</a:t>
            </a:r>
            <a:r>
              <a:rPr lang="fr-FR" sz="1200" dirty="0">
                <a:latin typeface="Calibri Light" panose="020F0302020204030204" pitchFamily="34" charset="0"/>
                <a:ea typeface="Calibri Light" panose="020F0302020204030204" pitchFamily="34" charset="0"/>
                <a:cs typeface="Calibri Light" panose="020F0302020204030204" pitchFamily="34" charset="0"/>
              </a:rPr>
              <a:t>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Diensten</a:t>
            </a:r>
            <a:r>
              <a:rPr lang="fr-FR" sz="1200" dirty="0">
                <a:latin typeface="Calibri Light" panose="020F0302020204030204" pitchFamily="34" charset="0"/>
                <a:ea typeface="Calibri Light" panose="020F0302020204030204" pitchFamily="34" charset="0"/>
                <a:cs typeface="Calibri Light" panose="020F0302020204030204" pitchFamily="34" charset="0"/>
              </a:rPr>
              <a:t> in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mehrsprachigen</a:t>
            </a:r>
            <a:r>
              <a:rPr lang="fr-FR" sz="1200" dirty="0">
                <a:latin typeface="Calibri Light" panose="020F0302020204030204" pitchFamily="34" charset="0"/>
                <a:ea typeface="Calibri Light" panose="020F0302020204030204" pitchFamily="34" charset="0"/>
                <a:cs typeface="Calibri Light" panose="020F0302020204030204" pitchFamily="34" charset="0"/>
              </a:rPr>
              <a:t>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polyglotten</a:t>
            </a:r>
            <a:r>
              <a:rPr lang="fr-FR" sz="1200" dirty="0">
                <a:latin typeface="Calibri Light" panose="020F0302020204030204" pitchFamily="34" charset="0"/>
                <a:ea typeface="Calibri Light" panose="020F0302020204030204" pitchFamily="34" charset="0"/>
                <a:cs typeface="Calibri Light" panose="020F0302020204030204" pitchFamily="34" charset="0"/>
              </a:rPr>
              <a:t>)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Systemen</a:t>
            </a:r>
            <a:endParaRPr lang="fr-FR" sz="1200" dirty="0">
              <a:latin typeface="Calibri Light" panose="020F0302020204030204" pitchFamily="34" charset="0"/>
              <a:ea typeface="Calibri Light" panose="020F0302020204030204" pitchFamily="34" charset="0"/>
              <a:cs typeface="Calibri Light" panose="020F0302020204030204" pitchFamily="34" charset="0"/>
            </a:endParaRPr>
          </a:p>
          <a:p>
            <a:r>
              <a:rPr lang="fr-FR" sz="1200" dirty="0">
                <a:latin typeface="Calibri Light" panose="020F0302020204030204" pitchFamily="34" charset="0"/>
                <a:ea typeface="Calibri Light" panose="020F0302020204030204" pitchFamily="34" charset="0"/>
                <a:cs typeface="Calibri Light" panose="020F0302020204030204" pitchFamily="34" charset="0"/>
              </a:rPr>
              <a:t>Interne APIs in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großen</a:t>
            </a:r>
            <a:r>
              <a:rPr lang="fr-FR" sz="1200" dirty="0">
                <a:latin typeface="Calibri Light" panose="020F0302020204030204" pitchFamily="34" charset="0"/>
                <a:ea typeface="Calibri Light" panose="020F0302020204030204" pitchFamily="34" charset="0"/>
                <a:cs typeface="Calibri Light" panose="020F0302020204030204" pitchFamily="34" charset="0"/>
              </a:rPr>
              <a:t>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Unternehmen</a:t>
            </a:r>
            <a:endParaRPr lang="fr-FR" sz="1200"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6" name="ZoneTexte 5">
            <a:extLst>
              <a:ext uri="{FF2B5EF4-FFF2-40B4-BE49-F238E27FC236}">
                <a16:creationId xmlns:a16="http://schemas.microsoft.com/office/drawing/2014/main" id="{3E73B653-89FA-9B3E-0596-526C19F5027E}"/>
              </a:ext>
            </a:extLst>
          </p:cNvPr>
          <p:cNvSpPr txBox="1"/>
          <p:nvPr/>
        </p:nvSpPr>
        <p:spPr>
          <a:xfrm>
            <a:off x="4572000" y="1226996"/>
            <a:ext cx="3521123" cy="3785652"/>
          </a:xfrm>
          <a:prstGeom prst="rect">
            <a:avLst/>
          </a:prstGeom>
          <a:noFill/>
        </p:spPr>
        <p:txBody>
          <a:bodyPr wrap="square" rtlCol="0">
            <a:spAutoFit/>
          </a:bodyPr>
          <a:lstStyle/>
          <a:p>
            <a:r>
              <a:rPr lang="fr-FR" sz="1200" b="1" dirty="0">
                <a:latin typeface="Calibri Light" panose="020F0302020204030204" pitchFamily="34" charset="0"/>
                <a:ea typeface="Calibri Light" panose="020F0302020204030204" pitchFamily="34" charset="0"/>
                <a:cs typeface="Calibri Light" panose="020F0302020204030204" pitchFamily="34" charset="0"/>
              </a:rPr>
              <a:t>GraphQL</a:t>
            </a:r>
            <a:br>
              <a:rPr lang="fr-FR" sz="1200" b="1" dirty="0">
                <a:latin typeface="Calibri Light" panose="020F0302020204030204" pitchFamily="34" charset="0"/>
                <a:ea typeface="Calibri Light" panose="020F0302020204030204" pitchFamily="34" charset="0"/>
                <a:cs typeface="Calibri Light" panose="020F0302020204030204" pitchFamily="34" charset="0"/>
              </a:rPr>
            </a:br>
            <a:endParaRPr lang="fr-FR" sz="1200" b="1" dirty="0">
              <a:latin typeface="Calibri Light" panose="020F0302020204030204" pitchFamily="34" charset="0"/>
              <a:ea typeface="Calibri Light" panose="020F0302020204030204" pitchFamily="34" charset="0"/>
              <a:cs typeface="Calibri Light" panose="020F0302020204030204" pitchFamily="34" charset="0"/>
            </a:endParaRPr>
          </a:p>
          <a:p>
            <a:r>
              <a:rPr lang="fr-FR" sz="1200" dirty="0" err="1">
                <a:latin typeface="Calibri Light" panose="020F0302020204030204" pitchFamily="34" charset="0"/>
                <a:ea typeface="Calibri Light" panose="020F0302020204030204" pitchFamily="34" charset="0"/>
                <a:cs typeface="Calibri Light" panose="020F0302020204030204" pitchFamily="34" charset="0"/>
              </a:rPr>
              <a:t>Erstellt</a:t>
            </a:r>
            <a:r>
              <a:rPr lang="fr-FR" sz="1200" dirty="0">
                <a:latin typeface="Calibri Light" panose="020F0302020204030204" pitchFamily="34" charset="0"/>
                <a:ea typeface="Calibri Light" panose="020F0302020204030204" pitchFamily="34" charset="0"/>
                <a:cs typeface="Calibri Light" panose="020F0302020204030204" pitchFamily="34" charset="0"/>
              </a:rPr>
              <a:t> von: Facebook (2012, Open-Source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seit</a:t>
            </a:r>
            <a:r>
              <a:rPr lang="fr-FR" sz="1200" dirty="0">
                <a:latin typeface="Calibri Light" panose="020F0302020204030204" pitchFamily="34" charset="0"/>
                <a:ea typeface="Calibri Light" panose="020F0302020204030204" pitchFamily="34" charset="0"/>
                <a:cs typeface="Calibri Light" panose="020F0302020204030204" pitchFamily="34" charset="0"/>
              </a:rPr>
              <a:t> 2015)</a:t>
            </a:r>
          </a:p>
          <a:p>
            <a:r>
              <a:rPr lang="fr-FR" sz="1200" dirty="0" err="1">
                <a:latin typeface="Calibri Light" panose="020F0302020204030204" pitchFamily="34" charset="0"/>
                <a:ea typeface="Calibri Light" panose="020F0302020204030204" pitchFamily="34" charset="0"/>
                <a:cs typeface="Calibri Light" panose="020F0302020204030204" pitchFamily="34" charset="0"/>
              </a:rPr>
              <a:t>Basierend</a:t>
            </a:r>
            <a:r>
              <a:rPr lang="fr-FR" sz="1200" dirty="0">
                <a:latin typeface="Calibri Light" panose="020F0302020204030204" pitchFamily="34" charset="0"/>
                <a:ea typeface="Calibri Light" panose="020F0302020204030204" pitchFamily="34" charset="0"/>
                <a:cs typeface="Calibri Light" panose="020F0302020204030204" pitchFamily="34" charset="0"/>
              </a:rPr>
              <a:t>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auf</a:t>
            </a:r>
            <a:r>
              <a:rPr lang="fr-FR" sz="1200" dirty="0">
                <a:latin typeface="Calibri Light" panose="020F0302020204030204" pitchFamily="34" charset="0"/>
                <a:ea typeface="Calibri Light" panose="020F0302020204030204" pitchFamily="34" charset="0"/>
                <a:cs typeface="Calibri Light" panose="020F0302020204030204" pitchFamily="34" charset="0"/>
              </a:rPr>
              <a:t>: HTTP + JSON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Textbasiert</a:t>
            </a:r>
            <a:r>
              <a:rPr lang="fr-FR" sz="1200" dirty="0">
                <a:latin typeface="Calibri Light" panose="020F0302020204030204" pitchFamily="34" charset="0"/>
                <a:ea typeface="Calibri Light" panose="020F0302020204030204" pitchFamily="34" charset="0"/>
                <a:cs typeface="Calibri Light" panose="020F0302020204030204" pitchFamily="34" charset="0"/>
              </a:rPr>
              <a:t>)</a:t>
            </a:r>
          </a:p>
          <a:p>
            <a:r>
              <a:rPr lang="fr-FR" sz="1200" dirty="0" err="1">
                <a:latin typeface="Calibri Light" panose="020F0302020204030204" pitchFamily="34" charset="0"/>
                <a:ea typeface="Calibri Light" panose="020F0302020204030204" pitchFamily="34" charset="0"/>
                <a:cs typeface="Calibri Light" panose="020F0302020204030204" pitchFamily="34" charset="0"/>
              </a:rPr>
              <a:t>Kommunikation</a:t>
            </a:r>
            <a:r>
              <a:rPr lang="fr-FR" sz="1200" dirty="0">
                <a:latin typeface="Calibri Light" panose="020F0302020204030204" pitchFamily="34" charset="0"/>
                <a:ea typeface="Calibri Light" panose="020F0302020204030204" pitchFamily="34" charset="0"/>
                <a:cs typeface="Calibri Light" panose="020F0302020204030204" pitchFamily="34" charset="0"/>
              </a:rPr>
              <a:t>: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Flexibel</a:t>
            </a:r>
            <a:r>
              <a:rPr lang="fr-FR" sz="1200" dirty="0">
                <a:latin typeface="Calibri Light" panose="020F0302020204030204" pitchFamily="34" charset="0"/>
                <a:ea typeface="Calibri Light" panose="020F0302020204030204" pitchFamily="34" charset="0"/>
                <a:cs typeface="Calibri Light" panose="020F0302020204030204" pitchFamily="34" charset="0"/>
              </a:rPr>
              <a:t>, der Client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bestimmt</a:t>
            </a:r>
            <a:r>
              <a:rPr lang="fr-FR" sz="1200" dirty="0">
                <a:latin typeface="Calibri Light" panose="020F0302020204030204" pitchFamily="34" charset="0"/>
                <a:ea typeface="Calibri Light" panose="020F0302020204030204" pitchFamily="34" charset="0"/>
                <a:cs typeface="Calibri Light" panose="020F0302020204030204" pitchFamily="34" charset="0"/>
              </a:rPr>
              <a:t>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exakt</a:t>
            </a:r>
            <a:r>
              <a:rPr lang="fr-FR" sz="1200" dirty="0">
                <a:latin typeface="Calibri Light" panose="020F0302020204030204" pitchFamily="34" charset="0"/>
                <a:ea typeface="Calibri Light" panose="020F0302020204030204" pitchFamily="34" charset="0"/>
                <a:cs typeface="Calibri Light" panose="020F0302020204030204" pitchFamily="34" charset="0"/>
              </a:rPr>
              <a:t>, welche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Daten</a:t>
            </a:r>
            <a:r>
              <a:rPr lang="fr-FR" sz="1200" dirty="0">
                <a:latin typeface="Calibri Light" panose="020F0302020204030204" pitchFamily="34" charset="0"/>
                <a:ea typeface="Calibri Light" panose="020F0302020204030204" pitchFamily="34" charset="0"/>
                <a:cs typeface="Calibri Light" panose="020F0302020204030204" pitchFamily="34" charset="0"/>
              </a:rPr>
              <a:t> er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benötigt</a:t>
            </a:r>
            <a:endParaRPr lang="fr-FR" sz="1200" dirty="0">
              <a:latin typeface="Calibri Light" panose="020F0302020204030204" pitchFamily="34" charset="0"/>
              <a:ea typeface="Calibri Light" panose="020F0302020204030204" pitchFamily="34" charset="0"/>
              <a:cs typeface="Calibri Light" panose="020F0302020204030204" pitchFamily="34" charset="0"/>
            </a:endParaRPr>
          </a:p>
          <a:p>
            <a:r>
              <a:rPr lang="fr-FR" sz="1200" dirty="0">
                <a:latin typeface="Calibri Light" panose="020F0302020204030204" pitchFamily="34" charset="0"/>
                <a:ea typeface="Calibri Light" panose="020F0302020204030204" pitchFamily="34" charset="0"/>
                <a:cs typeface="Calibri Light" panose="020F0302020204030204" pitchFamily="34" charset="0"/>
              </a:rPr>
              <a:t>(=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keine</a:t>
            </a:r>
            <a:r>
              <a:rPr lang="fr-FR" sz="1200" dirty="0">
                <a:latin typeface="Calibri Light" panose="020F0302020204030204" pitchFamily="34" charset="0"/>
                <a:ea typeface="Calibri Light" panose="020F0302020204030204" pitchFamily="34" charset="0"/>
                <a:cs typeface="Calibri Light" panose="020F0302020204030204" pitchFamily="34" charset="0"/>
              </a:rPr>
              <a:t>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Über</a:t>
            </a:r>
            <a:r>
              <a:rPr lang="fr-FR" sz="1200" dirty="0">
                <a:latin typeface="Calibri Light" panose="020F0302020204030204" pitchFamily="34" charset="0"/>
                <a:ea typeface="Calibri Light" panose="020F0302020204030204" pitchFamily="34" charset="0"/>
                <a:cs typeface="Calibri Light" panose="020F0302020204030204" pitchFamily="34" charset="0"/>
              </a:rPr>
              <a:t>-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oder</a:t>
            </a:r>
            <a:r>
              <a:rPr lang="fr-FR" sz="1200" dirty="0">
                <a:latin typeface="Calibri Light" panose="020F0302020204030204" pitchFamily="34" charset="0"/>
                <a:ea typeface="Calibri Light" panose="020F0302020204030204" pitchFamily="34" charset="0"/>
                <a:cs typeface="Calibri Light" panose="020F0302020204030204" pitchFamily="34" charset="0"/>
              </a:rPr>
              <a:t>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Unterabfrage</a:t>
            </a:r>
            <a:r>
              <a:rPr lang="fr-FR" sz="1200" dirty="0">
                <a:latin typeface="Calibri Light" panose="020F0302020204030204" pitchFamily="34" charset="0"/>
                <a:ea typeface="Calibri Light" panose="020F0302020204030204" pitchFamily="34" charset="0"/>
                <a:cs typeface="Calibri Light" panose="020F0302020204030204" pitchFamily="34" charset="0"/>
              </a:rPr>
              <a:t>)</a:t>
            </a:r>
          </a:p>
          <a:p>
            <a:r>
              <a:rPr lang="fr-FR" sz="1200" dirty="0" err="1">
                <a:latin typeface="Calibri Light" panose="020F0302020204030204" pitchFamily="34" charset="0"/>
                <a:ea typeface="Calibri Light" panose="020F0302020204030204" pitchFamily="34" charset="0"/>
                <a:cs typeface="Calibri Light" panose="020F0302020204030204" pitchFamily="34" charset="0"/>
              </a:rPr>
              <a:t>Verwendet</a:t>
            </a:r>
            <a:r>
              <a:rPr lang="fr-FR" sz="1200" dirty="0">
                <a:latin typeface="Calibri Light" panose="020F0302020204030204" pitchFamily="34" charset="0"/>
                <a:ea typeface="Calibri Light" panose="020F0302020204030204" pitchFamily="34" charset="0"/>
                <a:cs typeface="Calibri Light" panose="020F0302020204030204" pitchFamily="34" charset="0"/>
              </a:rPr>
              <a:t>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für</a:t>
            </a:r>
            <a:r>
              <a:rPr lang="fr-FR" sz="1200" dirty="0">
                <a:latin typeface="Calibri Light" panose="020F0302020204030204" pitchFamily="34" charset="0"/>
                <a:ea typeface="Calibri Light" panose="020F0302020204030204" pitchFamily="34" charset="0"/>
                <a:cs typeface="Calibri Light" panose="020F0302020204030204" pitchFamily="34" charset="0"/>
              </a:rPr>
              <a:t>: APIs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zwischen</a:t>
            </a:r>
            <a:r>
              <a:rPr lang="fr-FR" sz="1200" dirty="0">
                <a:latin typeface="Calibri Light" panose="020F0302020204030204" pitchFamily="34" charset="0"/>
                <a:ea typeface="Calibri Light" panose="020F0302020204030204" pitchFamily="34" charset="0"/>
                <a:cs typeface="Calibri Light" panose="020F0302020204030204" pitchFamily="34" charset="0"/>
              </a:rPr>
              <a:t> Frontend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und</a:t>
            </a:r>
            <a:r>
              <a:rPr lang="fr-FR" sz="1200" dirty="0">
                <a:latin typeface="Calibri Light" panose="020F0302020204030204" pitchFamily="34" charset="0"/>
                <a:ea typeface="Calibri Light" panose="020F0302020204030204" pitchFamily="34" charset="0"/>
                <a:cs typeface="Calibri Light" panose="020F0302020204030204" pitchFamily="34" charset="0"/>
              </a:rPr>
              <a:t> Backend,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besonders</a:t>
            </a:r>
            <a:r>
              <a:rPr lang="fr-FR" sz="1200" dirty="0">
                <a:latin typeface="Calibri Light" panose="020F0302020204030204" pitchFamily="34" charset="0"/>
                <a:ea typeface="Calibri Light" panose="020F0302020204030204" pitchFamily="34" charset="0"/>
                <a:cs typeface="Calibri Light" panose="020F0302020204030204" pitchFamily="34" charset="0"/>
              </a:rPr>
              <a:t>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bei</a:t>
            </a:r>
            <a:r>
              <a:rPr lang="fr-FR" sz="1200" dirty="0">
                <a:latin typeface="Calibri Light" panose="020F0302020204030204" pitchFamily="34" charset="0"/>
                <a:ea typeface="Calibri Light" panose="020F0302020204030204" pitchFamily="34" charset="0"/>
                <a:cs typeface="Calibri Light" panose="020F0302020204030204" pitchFamily="34" charset="0"/>
              </a:rPr>
              <a:t>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komplexen</a:t>
            </a:r>
            <a:r>
              <a:rPr lang="fr-FR" sz="1200" dirty="0">
                <a:latin typeface="Calibri Light" panose="020F0302020204030204" pitchFamily="34" charset="0"/>
                <a:ea typeface="Calibri Light" panose="020F0302020204030204" pitchFamily="34" charset="0"/>
                <a:cs typeface="Calibri Light" panose="020F0302020204030204" pitchFamily="34" charset="0"/>
              </a:rPr>
              <a:t>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oder</a:t>
            </a:r>
            <a:r>
              <a:rPr lang="fr-FR" sz="1200" dirty="0">
                <a:latin typeface="Calibri Light" panose="020F0302020204030204" pitchFamily="34" charset="0"/>
                <a:ea typeface="Calibri Light" panose="020F0302020204030204" pitchFamily="34" charset="0"/>
                <a:cs typeface="Calibri Light" panose="020F0302020204030204" pitchFamily="34" charset="0"/>
              </a:rPr>
              <a:t>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mobilen</a:t>
            </a:r>
            <a:r>
              <a:rPr lang="fr-FR" sz="1200" dirty="0">
                <a:latin typeface="Calibri Light" panose="020F0302020204030204" pitchFamily="34" charset="0"/>
                <a:ea typeface="Calibri Light" panose="020F0302020204030204" pitchFamily="34" charset="0"/>
                <a:cs typeface="Calibri Light" panose="020F0302020204030204" pitchFamily="34" charset="0"/>
              </a:rPr>
              <a:t>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Benutzeroberflächen</a:t>
            </a:r>
            <a:br>
              <a:rPr lang="fr-FR" sz="1200" dirty="0">
                <a:latin typeface="Calibri Light" panose="020F0302020204030204" pitchFamily="34" charset="0"/>
                <a:ea typeface="Calibri Light" panose="020F0302020204030204" pitchFamily="34" charset="0"/>
                <a:cs typeface="Calibri Light" panose="020F0302020204030204" pitchFamily="34" charset="0"/>
              </a:rPr>
            </a:br>
            <a:endParaRPr lang="fr-FR" sz="1200" dirty="0">
              <a:latin typeface="Calibri Light" panose="020F0302020204030204" pitchFamily="34" charset="0"/>
              <a:ea typeface="Calibri Light" panose="020F0302020204030204" pitchFamily="34" charset="0"/>
              <a:cs typeface="Calibri Light" panose="020F0302020204030204" pitchFamily="34" charset="0"/>
            </a:endParaRPr>
          </a:p>
          <a:p>
            <a:r>
              <a:rPr lang="fr-FR" sz="1200" b="1" dirty="0" err="1">
                <a:latin typeface="Calibri Light" panose="020F0302020204030204" pitchFamily="34" charset="0"/>
                <a:ea typeface="Calibri Light" panose="020F0302020204030204" pitchFamily="34" charset="0"/>
                <a:cs typeface="Calibri Light" panose="020F0302020204030204" pitchFamily="34" charset="0"/>
              </a:rPr>
              <a:t>Anwendungszenarien</a:t>
            </a:r>
            <a:endParaRPr lang="fr-FR" sz="1200" b="1" dirty="0">
              <a:latin typeface="Calibri Light" panose="020F0302020204030204" pitchFamily="34" charset="0"/>
              <a:ea typeface="Calibri Light" panose="020F0302020204030204" pitchFamily="34" charset="0"/>
              <a:cs typeface="Calibri Light" panose="020F0302020204030204" pitchFamily="34" charset="0"/>
            </a:endParaRPr>
          </a:p>
          <a:p>
            <a:r>
              <a:rPr lang="fr-FR" sz="1200" dirty="0">
                <a:latin typeface="Calibri Light" panose="020F0302020204030204" pitchFamily="34" charset="0"/>
                <a:ea typeface="Calibri Light" panose="020F0302020204030204" pitchFamily="34" charset="0"/>
                <a:cs typeface="Calibri Light" panose="020F0302020204030204" pitchFamily="34" charset="0"/>
              </a:rPr>
              <a:t>Moderne Web-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und</a:t>
            </a:r>
            <a:r>
              <a:rPr lang="fr-FR" sz="1200" dirty="0">
                <a:latin typeface="Calibri Light" panose="020F0302020204030204" pitchFamily="34" charset="0"/>
                <a:ea typeface="Calibri Light" panose="020F0302020204030204" pitchFamily="34" charset="0"/>
                <a:cs typeface="Calibri Light" panose="020F0302020204030204" pitchFamily="34" charset="0"/>
              </a:rPr>
              <a:t> Mobile-Apps mit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dynamischen</a:t>
            </a:r>
            <a:r>
              <a:rPr lang="fr-FR" sz="1200" dirty="0">
                <a:latin typeface="Calibri Light" panose="020F0302020204030204" pitchFamily="34" charset="0"/>
                <a:ea typeface="Calibri Light" panose="020F0302020204030204" pitchFamily="34" charset="0"/>
                <a:cs typeface="Calibri Light" panose="020F0302020204030204" pitchFamily="34" charset="0"/>
              </a:rPr>
              <a:t>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und</a:t>
            </a:r>
            <a:r>
              <a:rPr lang="fr-FR" sz="1200" dirty="0">
                <a:latin typeface="Calibri Light" panose="020F0302020204030204" pitchFamily="34" charset="0"/>
                <a:ea typeface="Calibri Light" panose="020F0302020204030204" pitchFamily="34" charset="0"/>
                <a:cs typeface="Calibri Light" panose="020F0302020204030204" pitchFamily="34" charset="0"/>
              </a:rPr>
              <a:t>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flexiblen</a:t>
            </a:r>
            <a:r>
              <a:rPr lang="fr-FR" sz="1200" dirty="0">
                <a:latin typeface="Calibri Light" panose="020F0302020204030204" pitchFamily="34" charset="0"/>
                <a:ea typeface="Calibri Light" panose="020F0302020204030204" pitchFamily="34" charset="0"/>
                <a:cs typeface="Calibri Light" panose="020F0302020204030204" pitchFamily="34" charset="0"/>
              </a:rPr>
              <a:t>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Datenanforderungen</a:t>
            </a:r>
            <a:endParaRPr lang="fr-FR" sz="1200" dirty="0">
              <a:latin typeface="Calibri Light" panose="020F0302020204030204" pitchFamily="34" charset="0"/>
              <a:ea typeface="Calibri Light" panose="020F0302020204030204" pitchFamily="34" charset="0"/>
              <a:cs typeface="Calibri Light" panose="020F0302020204030204" pitchFamily="34" charset="0"/>
            </a:endParaRPr>
          </a:p>
          <a:p>
            <a:r>
              <a:rPr lang="fr-FR" sz="1200" dirty="0" err="1">
                <a:latin typeface="Calibri Light" panose="020F0302020204030204" pitchFamily="34" charset="0"/>
                <a:ea typeface="Calibri Light" panose="020F0302020204030204" pitchFamily="34" charset="0"/>
                <a:cs typeface="Calibri Light" panose="020F0302020204030204" pitchFamily="34" charset="0"/>
              </a:rPr>
              <a:t>Aggregation</a:t>
            </a:r>
            <a:r>
              <a:rPr lang="fr-FR" sz="1200" dirty="0">
                <a:latin typeface="Calibri Light" panose="020F0302020204030204" pitchFamily="34" charset="0"/>
                <a:ea typeface="Calibri Light" panose="020F0302020204030204" pitchFamily="34" charset="0"/>
                <a:cs typeface="Calibri Light" panose="020F0302020204030204" pitchFamily="34" charset="0"/>
              </a:rPr>
              <a:t> von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Daten</a:t>
            </a:r>
            <a:r>
              <a:rPr lang="fr-FR" sz="1200" dirty="0">
                <a:latin typeface="Calibri Light" panose="020F0302020204030204" pitchFamily="34" charset="0"/>
                <a:ea typeface="Calibri Light" panose="020F0302020204030204" pitchFamily="34" charset="0"/>
                <a:cs typeface="Calibri Light" panose="020F0302020204030204" pitchFamily="34" charset="0"/>
              </a:rPr>
              <a:t>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aus</a:t>
            </a:r>
            <a:r>
              <a:rPr lang="fr-FR" sz="1200" dirty="0">
                <a:latin typeface="Calibri Light" panose="020F0302020204030204" pitchFamily="34" charset="0"/>
                <a:ea typeface="Calibri Light" panose="020F0302020204030204" pitchFamily="34" charset="0"/>
                <a:cs typeface="Calibri Light" panose="020F0302020204030204" pitchFamily="34" charset="0"/>
              </a:rPr>
              <a:t>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mehreren</a:t>
            </a:r>
            <a:r>
              <a:rPr lang="fr-FR" sz="1200" dirty="0">
                <a:latin typeface="Calibri Light" panose="020F0302020204030204" pitchFamily="34" charset="0"/>
                <a:ea typeface="Calibri Light" panose="020F0302020204030204" pitchFamily="34" charset="0"/>
                <a:cs typeface="Calibri Light" panose="020F0302020204030204" pitchFamily="34" charset="0"/>
              </a:rPr>
              <a:t>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Quellen</a:t>
            </a:r>
            <a:r>
              <a:rPr lang="fr-FR" sz="1200" dirty="0">
                <a:latin typeface="Calibri Light" panose="020F0302020204030204" pitchFamily="34" charset="0"/>
                <a:ea typeface="Calibri Light" panose="020F0302020204030204" pitchFamily="34" charset="0"/>
                <a:cs typeface="Calibri Light" panose="020F0302020204030204" pitchFamily="34" charset="0"/>
              </a:rPr>
              <a:t> in einer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einzigen</a:t>
            </a:r>
            <a:r>
              <a:rPr lang="fr-FR" sz="1200" dirty="0">
                <a:latin typeface="Calibri Light" panose="020F0302020204030204" pitchFamily="34" charset="0"/>
                <a:ea typeface="Calibri Light" panose="020F0302020204030204" pitchFamily="34" charset="0"/>
                <a:cs typeface="Calibri Light" panose="020F0302020204030204" pitchFamily="34" charset="0"/>
              </a:rPr>
              <a:t>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Anfrage</a:t>
            </a:r>
            <a:endParaRPr lang="fr-FR" sz="1200" dirty="0">
              <a:latin typeface="Calibri Light" panose="020F0302020204030204" pitchFamily="34" charset="0"/>
              <a:ea typeface="Calibri Light" panose="020F0302020204030204" pitchFamily="34" charset="0"/>
              <a:cs typeface="Calibri Light" panose="020F0302020204030204" pitchFamily="34" charset="0"/>
            </a:endParaRPr>
          </a:p>
          <a:p>
            <a:r>
              <a:rPr lang="fr-FR" sz="1200" dirty="0">
                <a:latin typeface="Calibri Light" panose="020F0302020204030204" pitchFamily="34" charset="0"/>
                <a:ea typeface="Calibri Light" panose="020F0302020204030204" pitchFamily="34" charset="0"/>
                <a:cs typeface="Calibri Light" panose="020F0302020204030204" pitchFamily="34" charset="0"/>
              </a:rPr>
              <a:t>API-</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Gateways</a:t>
            </a:r>
            <a:r>
              <a:rPr lang="fr-FR" sz="1200" dirty="0">
                <a:latin typeface="Calibri Light" panose="020F0302020204030204" pitchFamily="34" charset="0"/>
                <a:ea typeface="Calibri Light" panose="020F0302020204030204" pitchFamily="34" charset="0"/>
                <a:cs typeface="Calibri Light" panose="020F0302020204030204" pitchFamily="34" charset="0"/>
              </a:rPr>
              <a:t>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für</a:t>
            </a:r>
            <a:r>
              <a:rPr lang="fr-FR" sz="1200" dirty="0">
                <a:latin typeface="Calibri Light" panose="020F0302020204030204" pitchFamily="34" charset="0"/>
                <a:ea typeface="Calibri Light" panose="020F0302020204030204" pitchFamily="34" charset="0"/>
                <a:cs typeface="Calibri Light" panose="020F0302020204030204" pitchFamily="34" charset="0"/>
              </a:rPr>
              <a:t>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Microservices</a:t>
            </a:r>
            <a:endParaRPr lang="fr-FR" sz="1200" dirty="0">
              <a:latin typeface="Calibri Light" panose="020F0302020204030204" pitchFamily="34" charset="0"/>
              <a:ea typeface="Calibri Light" panose="020F0302020204030204" pitchFamily="34" charset="0"/>
              <a:cs typeface="Calibri Light" panose="020F0302020204030204" pitchFamily="34" charset="0"/>
            </a:endParaRPr>
          </a:p>
          <a:p>
            <a:r>
              <a:rPr lang="fr-FR" sz="1200" dirty="0" err="1">
                <a:latin typeface="Calibri Light" panose="020F0302020204030204" pitchFamily="34" charset="0"/>
                <a:ea typeface="Calibri Light" panose="020F0302020204030204" pitchFamily="34" charset="0"/>
                <a:cs typeface="Calibri Light" panose="020F0302020204030204" pitchFamily="34" charset="0"/>
              </a:rPr>
              <a:t>Developer-freundliche</a:t>
            </a:r>
            <a:r>
              <a:rPr lang="fr-FR" sz="1200" dirty="0">
                <a:latin typeface="Calibri Light" panose="020F0302020204030204" pitchFamily="34" charset="0"/>
                <a:ea typeface="Calibri Light" panose="020F0302020204030204" pitchFamily="34" charset="0"/>
                <a:cs typeface="Calibri Light" panose="020F0302020204030204" pitchFamily="34" charset="0"/>
              </a:rPr>
              <a:t>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öffentliche</a:t>
            </a:r>
            <a:r>
              <a:rPr lang="fr-FR" sz="1200" dirty="0">
                <a:latin typeface="Calibri Light" panose="020F0302020204030204" pitchFamily="34" charset="0"/>
                <a:ea typeface="Calibri Light" panose="020F0302020204030204" pitchFamily="34" charset="0"/>
                <a:cs typeface="Calibri Light" panose="020F0302020204030204" pitchFamily="34" charset="0"/>
              </a:rPr>
              <a:t> APIs (z. B. GitHub, </a:t>
            </a:r>
            <a:r>
              <a:rPr lang="fr-FR" sz="1200" dirty="0" err="1">
                <a:latin typeface="Calibri Light" panose="020F0302020204030204" pitchFamily="34" charset="0"/>
                <a:ea typeface="Calibri Light" panose="020F0302020204030204" pitchFamily="34" charset="0"/>
                <a:cs typeface="Calibri Light" panose="020F0302020204030204" pitchFamily="34" charset="0"/>
              </a:rPr>
              <a:t>Shopify</a:t>
            </a:r>
            <a:r>
              <a:rPr lang="fr-FR" sz="1200" dirty="0">
                <a:latin typeface="Calibri Light" panose="020F0302020204030204" pitchFamily="34" charset="0"/>
                <a:ea typeface="Calibri Light" panose="020F0302020204030204" pitchFamily="34" charset="0"/>
                <a:cs typeface="Calibri Light" panose="020F0302020204030204" pitchFamily="34" charset="0"/>
              </a:rPr>
              <a:t>)</a:t>
            </a:r>
          </a:p>
          <a:p>
            <a:endParaRPr lang="fr-FR" sz="1200" dirty="0">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40193331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22">
          <a:extLst>
            <a:ext uri="{FF2B5EF4-FFF2-40B4-BE49-F238E27FC236}">
              <a16:creationId xmlns:a16="http://schemas.microsoft.com/office/drawing/2014/main" id="{C9E7BDF7-9FCE-D230-20A1-88AD8799C425}"/>
            </a:ext>
          </a:extLst>
        </p:cNvPr>
        <p:cNvGrpSpPr/>
        <p:nvPr/>
      </p:nvGrpSpPr>
      <p:grpSpPr>
        <a:xfrm>
          <a:off x="0" y="0"/>
          <a:ext cx="0" cy="0"/>
          <a:chOff x="0" y="0"/>
          <a:chExt cx="0" cy="0"/>
        </a:xfrm>
      </p:grpSpPr>
      <p:sp>
        <p:nvSpPr>
          <p:cNvPr id="2" name="Google Shape;523;p54">
            <a:extLst>
              <a:ext uri="{FF2B5EF4-FFF2-40B4-BE49-F238E27FC236}">
                <a16:creationId xmlns:a16="http://schemas.microsoft.com/office/drawing/2014/main" id="{7685D69B-521F-F9C3-6FE2-26AF2A88EF76}"/>
              </a:ext>
            </a:extLst>
          </p:cNvPr>
          <p:cNvSpPr txBox="1">
            <a:spLocks/>
          </p:cNvSpPr>
          <p:nvPr/>
        </p:nvSpPr>
        <p:spPr>
          <a:xfrm>
            <a:off x="730154" y="432695"/>
            <a:ext cx="3275464" cy="47641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1pPr>
            <a:lvl2pPr marR="0" lvl="1" algn="ctr"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2pPr>
            <a:lvl3pPr marR="0" lvl="2" algn="ctr"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3pPr>
            <a:lvl4pPr marR="0" lvl="3" algn="ctr"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4pPr>
            <a:lvl5pPr marR="0" lvl="4" algn="ctr"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5pPr>
            <a:lvl6pPr marR="0" lvl="5" algn="ctr"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6pPr>
            <a:lvl7pPr marR="0" lvl="6" algn="ctr"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7pPr>
            <a:lvl8pPr marR="0" lvl="7" algn="ctr"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8pPr>
            <a:lvl9pPr marR="0" lvl="8" algn="ctr"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9pPr>
          </a:lstStyle>
          <a:p>
            <a:r>
              <a:rPr lang="fr-FR" sz="1800" dirty="0"/>
              <a:t>QUELLEN</a:t>
            </a:r>
          </a:p>
        </p:txBody>
      </p:sp>
      <p:sp>
        <p:nvSpPr>
          <p:cNvPr id="3" name="ZoneTexte 2">
            <a:extLst>
              <a:ext uri="{FF2B5EF4-FFF2-40B4-BE49-F238E27FC236}">
                <a16:creationId xmlns:a16="http://schemas.microsoft.com/office/drawing/2014/main" id="{F93782B6-2A25-3B88-1818-75544A4D3292}"/>
              </a:ext>
            </a:extLst>
          </p:cNvPr>
          <p:cNvSpPr txBox="1"/>
          <p:nvPr/>
        </p:nvSpPr>
        <p:spPr>
          <a:xfrm>
            <a:off x="1235122" y="1398896"/>
            <a:ext cx="5677469" cy="2462213"/>
          </a:xfrm>
          <a:prstGeom prst="rect">
            <a:avLst/>
          </a:prstGeom>
          <a:noFill/>
          <a:ln>
            <a:solidFill>
              <a:schemeClr val="bg2">
                <a:lumMod val="50000"/>
              </a:schemeClr>
            </a:solidFill>
          </a:ln>
        </p:spPr>
        <p:txBody>
          <a:bodyPr wrap="square" rtlCol="0">
            <a:spAutoFit/>
          </a:bodyPr>
          <a:lstStyle/>
          <a:p>
            <a:r>
              <a:rPr lang="fr-FR" dirty="0">
                <a:hlinkClick r:id="rId3"/>
              </a:rPr>
              <a:t>https://datascientest.com/apis-graphql-tout-savoir</a:t>
            </a:r>
            <a:r>
              <a:rPr lang="fr-FR" dirty="0"/>
              <a:t>,</a:t>
            </a:r>
          </a:p>
          <a:p>
            <a:r>
              <a:rPr lang="fr-FR" dirty="0"/>
              <a:t>https://blog.x.com/engineering/en_us/topics/infrastructure/2020/rebuild_twitter_public_api_2020</a:t>
            </a:r>
          </a:p>
          <a:p>
            <a:r>
              <a:rPr lang="fr-FR" dirty="0"/>
              <a:t>,</a:t>
            </a:r>
          </a:p>
          <a:p>
            <a:r>
              <a:rPr lang="fr-FR" dirty="0"/>
              <a:t>https://hygraph.com/blog/products-using-graphql</a:t>
            </a:r>
          </a:p>
          <a:p>
            <a:r>
              <a:rPr lang="fr-FR" dirty="0">
                <a:hlinkClick r:id="rId4"/>
              </a:rPr>
              <a:t>https://en.wikipedia.org/wiki/GRPC</a:t>
            </a:r>
            <a:r>
              <a:rPr lang="fr-FR" dirty="0"/>
              <a:t>,</a:t>
            </a:r>
          </a:p>
          <a:p>
            <a:r>
              <a:rPr lang="fr-FR" dirty="0">
                <a:hlinkClick r:id="rId5"/>
              </a:rPr>
              <a:t>https://en.wikipedia.org/wiki/Web_service</a:t>
            </a:r>
            <a:r>
              <a:rPr lang="fr-FR" dirty="0"/>
              <a:t>, https://en.wikipedia.org/wiki/SOAP,</a:t>
            </a:r>
          </a:p>
          <a:p>
            <a:r>
              <a:rPr lang="fr-FR" dirty="0"/>
              <a:t>https://en.wikipedia.org/wiki/Common_Object_Request_Broker_Architecture,</a:t>
            </a:r>
          </a:p>
          <a:p>
            <a:r>
              <a:rPr lang="fr-FR" dirty="0"/>
              <a:t>https://fr.wikipedia.org/wiki/GraphQL</a:t>
            </a:r>
          </a:p>
        </p:txBody>
      </p:sp>
    </p:spTree>
    <p:extLst>
      <p:ext uri="{BB962C8B-B14F-4D97-AF65-F5344CB8AC3E}">
        <p14:creationId xmlns:p14="http://schemas.microsoft.com/office/powerpoint/2010/main" val="41043460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91">
          <a:extLst>
            <a:ext uri="{FF2B5EF4-FFF2-40B4-BE49-F238E27FC236}">
              <a16:creationId xmlns:a16="http://schemas.microsoft.com/office/drawing/2014/main" id="{D4F2DB61-AAEF-A6C5-28BD-6BE70F9866DA}"/>
            </a:ext>
          </a:extLst>
        </p:cNvPr>
        <p:cNvGrpSpPr/>
        <p:nvPr/>
      </p:nvGrpSpPr>
      <p:grpSpPr>
        <a:xfrm>
          <a:off x="0" y="0"/>
          <a:ext cx="0" cy="0"/>
          <a:chOff x="0" y="0"/>
          <a:chExt cx="0" cy="0"/>
        </a:xfrm>
      </p:grpSpPr>
      <p:sp>
        <p:nvSpPr>
          <p:cNvPr id="492" name="Google Shape;492;p52">
            <a:extLst>
              <a:ext uri="{FF2B5EF4-FFF2-40B4-BE49-F238E27FC236}">
                <a16:creationId xmlns:a16="http://schemas.microsoft.com/office/drawing/2014/main" id="{018609AF-0D5A-57BD-CD20-0464AEC72BEB}"/>
              </a:ext>
            </a:extLst>
          </p:cNvPr>
          <p:cNvSpPr txBox="1">
            <a:spLocks noGrp="1"/>
          </p:cNvSpPr>
          <p:nvPr>
            <p:ph type="title"/>
          </p:nvPr>
        </p:nvSpPr>
        <p:spPr>
          <a:xfrm>
            <a:off x="377965" y="1999050"/>
            <a:ext cx="7704000" cy="572700"/>
          </a:xfrm>
          <a:prstGeom prst="rect">
            <a:avLst/>
          </a:prstGeom>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dirty="0"/>
              <a:t>Vielen Dank</a:t>
            </a:r>
            <a:endParaRPr dirty="0"/>
          </a:p>
        </p:txBody>
      </p:sp>
    </p:spTree>
    <p:extLst>
      <p:ext uri="{BB962C8B-B14F-4D97-AF65-F5344CB8AC3E}">
        <p14:creationId xmlns:p14="http://schemas.microsoft.com/office/powerpoint/2010/main" val="3773143406"/>
      </p:ext>
    </p:extLst>
  </p:cSld>
  <p:clrMapOvr>
    <a:masterClrMapping/>
  </p:clrMapOvr>
</p:sld>
</file>

<file path=ppt/theme/theme1.xml><?xml version="1.0" encoding="utf-8"?>
<a:theme xmlns:a="http://schemas.openxmlformats.org/drawingml/2006/main" name="Cellular Respiration and its Impact on Health Research Thesis Defense by Slidesgo">
  <a:themeElements>
    <a:clrScheme name="Simple Light">
      <a:dk1>
        <a:srgbClr val="0B3550"/>
      </a:dk1>
      <a:lt1>
        <a:srgbClr val="F6F6F6"/>
      </a:lt1>
      <a:dk2>
        <a:srgbClr val="0584A4"/>
      </a:dk2>
      <a:lt2>
        <a:srgbClr val="74CEC4"/>
      </a:lt2>
      <a:accent1>
        <a:srgbClr val="F2557A"/>
      </a:accent1>
      <a:accent2>
        <a:srgbClr val="FFFFFF"/>
      </a:accent2>
      <a:accent3>
        <a:srgbClr val="FFFFFF"/>
      </a:accent3>
      <a:accent4>
        <a:srgbClr val="FFFFFF"/>
      </a:accent4>
      <a:accent5>
        <a:srgbClr val="FFFFFF"/>
      </a:accent5>
      <a:accent6>
        <a:srgbClr val="FFFFFF"/>
      </a:accent6>
      <a:hlink>
        <a:srgbClr val="012C4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14718</TotalTime>
  <Words>2842</Words>
  <Application>Microsoft Office PowerPoint</Application>
  <PresentationFormat>Affichage à l'écran (16:9)</PresentationFormat>
  <Paragraphs>339</Paragraphs>
  <Slides>28</Slides>
  <Notes>20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28</vt:i4>
      </vt:variant>
    </vt:vector>
  </HeadingPairs>
  <TitlesOfParts>
    <vt:vector size="33" baseType="lpstr">
      <vt:lpstr>Albert Sans</vt:lpstr>
      <vt:lpstr>Poppins</vt:lpstr>
      <vt:lpstr>Calibri Light</vt:lpstr>
      <vt:lpstr>Arial</vt:lpstr>
      <vt:lpstr>Cellular Respiration and its Impact on Health Research Thesis Defense by Slidesgo</vt:lpstr>
      <vt:lpstr>Présentation PowerPoint</vt:lpstr>
      <vt:lpstr>Agenda</vt:lpstr>
      <vt:lpstr>Motiv: warum wurden GraphQL und gRPC entwickelt</vt:lpstr>
      <vt:lpstr>Présentation PowerPoint</vt:lpstr>
      <vt:lpstr>????</vt:lpstr>
      <vt:lpstr>Présentation PowerPoint</vt:lpstr>
      <vt:lpstr>Présentation PowerPoint</vt:lpstr>
      <vt:lpstr>Présentation PowerPoint</vt:lpstr>
      <vt:lpstr>Présentation PowerPoint</vt:lpstr>
      <vt:lpstr>Vor- und Nachteile</vt:lpstr>
      <vt:lpstr>Fallstudien von GraphQL</vt:lpstr>
      <vt:lpstr>Fallstudien von GraphQL</vt:lpstr>
      <vt:lpstr>????</vt:lpstr>
      <vt:lpstr>Présentation PowerPoint</vt:lpstr>
      <vt:lpstr>Kommunikationsmodelle mit gRPC: 4 Modelle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Live-Demo</vt:lpstr>
      <vt:lpstr>Fazit</vt:lpstr>
      <vt:lpstr>Présentation PowerPoint</vt:lpstr>
      <vt:lpstr>Vielen Dank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Kalil Sacko</cp:lastModifiedBy>
  <cp:revision>151</cp:revision>
  <dcterms:modified xsi:type="dcterms:W3CDTF">2025-06-04T13:56:34Z</dcterms:modified>
</cp:coreProperties>
</file>